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notesMasterIdLst>
    <p:notesMasterId r:id="rId30"/>
  </p:notesMasterIdLst>
  <p:sldIdLst>
    <p:sldId id="256" r:id="rId2"/>
    <p:sldId id="325" r:id="rId3"/>
    <p:sldId id="322" r:id="rId4"/>
    <p:sldId id="293" r:id="rId5"/>
    <p:sldId id="299" r:id="rId6"/>
    <p:sldId id="335" r:id="rId7"/>
    <p:sldId id="301" r:id="rId8"/>
    <p:sldId id="281" r:id="rId9"/>
    <p:sldId id="308" r:id="rId10"/>
    <p:sldId id="286" r:id="rId11"/>
    <p:sldId id="310" r:id="rId12"/>
    <p:sldId id="337" r:id="rId13"/>
    <p:sldId id="294" r:id="rId14"/>
    <p:sldId id="298" r:id="rId15"/>
    <p:sldId id="288" r:id="rId16"/>
    <p:sldId id="300" r:id="rId17"/>
    <p:sldId id="304" r:id="rId18"/>
    <p:sldId id="315" r:id="rId19"/>
    <p:sldId id="331" r:id="rId20"/>
    <p:sldId id="332" r:id="rId21"/>
    <p:sldId id="333" r:id="rId22"/>
    <p:sldId id="334" r:id="rId23"/>
    <p:sldId id="340" r:id="rId24"/>
    <p:sldId id="305" r:id="rId25"/>
    <p:sldId id="311" r:id="rId26"/>
    <p:sldId id="339" r:id="rId27"/>
    <p:sldId id="283" r:id="rId28"/>
    <p:sldId id="321" r:id="rId29"/>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F2CA1DB-6AAF-4A44-8B5B-F4092DE11B67}">
          <p14:sldIdLst>
            <p14:sldId id="256"/>
            <p14:sldId id="325"/>
            <p14:sldId id="322"/>
            <p14:sldId id="293"/>
            <p14:sldId id="299"/>
            <p14:sldId id="335"/>
            <p14:sldId id="301"/>
            <p14:sldId id="281"/>
            <p14:sldId id="308"/>
            <p14:sldId id="286"/>
            <p14:sldId id="310"/>
            <p14:sldId id="337"/>
            <p14:sldId id="294"/>
            <p14:sldId id="298"/>
            <p14:sldId id="288"/>
            <p14:sldId id="300"/>
            <p14:sldId id="304"/>
            <p14:sldId id="315"/>
            <p14:sldId id="331"/>
            <p14:sldId id="332"/>
            <p14:sldId id="333"/>
            <p14:sldId id="334"/>
            <p14:sldId id="340"/>
            <p14:sldId id="305"/>
            <p14:sldId id="311"/>
            <p14:sldId id="339"/>
            <p14:sldId id="283"/>
            <p14:sldId id="321"/>
          </p14:sldIdLst>
        </p14:section>
      </p14:sectionLst>
    </p:ext>
    <p:ext uri="{EFAFB233-063F-42B5-8137-9DF3F51BA10A}">
      <p15:sldGuideLst xmlns:p15="http://schemas.microsoft.com/office/powerpoint/2012/main">
        <p15:guide id="1" orient="horz" pos="2228" userDrawn="1">
          <p15:clr>
            <a:srgbClr val="A4A3A4"/>
          </p15:clr>
        </p15:guide>
        <p15:guide id="2" pos="312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74E3E38-FBD4-F915-2181-C4FA62EDC0B9}" name="Mardiantika Watubun" initials="MW" userId="S::mkw2143@sipa.columbia.edu::4e248698-b514-47c7-9958-317247d3103b" providerId="AD"/>
  <p188:author id="{29F2636F-D97A-3E10-D3EA-475B02403E65}" name="Jamal Washington" initials="JW" userId="S::jnw2140@sipa.columbia.edu::0377d2df-37e8-4f82-a48e-92215e126ff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9B939"/>
    <a:srgbClr val="587C54"/>
    <a:srgbClr val="2D5685"/>
    <a:srgbClr val="20AA39"/>
    <a:srgbClr val="1D9131"/>
    <a:srgbClr val="DAF2D1"/>
    <a:srgbClr val="D9F3D0"/>
    <a:srgbClr val="569056"/>
    <a:srgbClr val="8ED973"/>
    <a:srgbClr val="E0F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31"/>
  </p:normalViewPr>
  <p:slideViewPr>
    <p:cSldViewPr snapToGrid="0" showGuides="1">
      <p:cViewPr>
        <p:scale>
          <a:sx n="135" d="100"/>
          <a:sy n="135" d="100"/>
        </p:scale>
        <p:origin x="664" y="144"/>
      </p:cViewPr>
      <p:guideLst>
        <p:guide orient="horz" pos="2228"/>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8/10/relationships/authors" Targe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15D1C-3BB2-3549-80DD-C1D011D70CF9}" type="datetimeFigureOut">
              <a:rPr lang="en-US" smtClean="0"/>
              <a:t>4/27/26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9F1006-31B3-4149-8F57-6847AF9CD48D}" type="slidenum">
              <a:rPr lang="en-US" smtClean="0"/>
              <a:t>‹#›</a:t>
            </a:fld>
            <a:endParaRPr lang="en-US"/>
          </a:p>
        </p:txBody>
      </p:sp>
    </p:spTree>
    <p:extLst>
      <p:ext uri="{BB962C8B-B14F-4D97-AF65-F5344CB8AC3E}">
        <p14:creationId xmlns:p14="http://schemas.microsoft.com/office/powerpoint/2010/main" val="367612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9F1006-31B3-4149-8F57-6847AF9CD48D}" type="slidenum">
              <a:rPr lang="en-US" smtClean="0"/>
              <a:t>2</a:t>
            </a:fld>
            <a:endParaRPr lang="en-US"/>
          </a:p>
        </p:txBody>
      </p:sp>
    </p:spTree>
    <p:extLst>
      <p:ext uri="{BB962C8B-B14F-4D97-AF65-F5344CB8AC3E}">
        <p14:creationId xmlns:p14="http://schemas.microsoft.com/office/powerpoint/2010/main" val="3734483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79F1006-31B3-4149-8F57-6847AF9CD48D}" type="slidenum">
              <a:rPr lang="en-US" smtClean="0"/>
              <a:t>14</a:t>
            </a:fld>
            <a:endParaRPr lang="en-US"/>
          </a:p>
        </p:txBody>
      </p:sp>
    </p:spTree>
    <p:extLst>
      <p:ext uri="{BB962C8B-B14F-4D97-AF65-F5344CB8AC3E}">
        <p14:creationId xmlns:p14="http://schemas.microsoft.com/office/powerpoint/2010/main" val="561407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7D3CB2C9-56A2-C44F-97D2-8FBC534C75AD}"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AAF812-E17A-9042-8FB8-7491E1988791}" type="slidenum">
              <a:rPr lang="en-US" smtClean="0"/>
              <a:t>‹#›</a:t>
            </a:fld>
            <a:endParaRPr lang="en-US"/>
          </a:p>
        </p:txBody>
      </p:sp>
      <p:grpSp>
        <p:nvGrpSpPr>
          <p:cNvPr id="7" name="Group 6">
            <a:extLst>
              <a:ext uri="{FF2B5EF4-FFF2-40B4-BE49-F238E27FC236}">
                <a16:creationId xmlns:a16="http://schemas.microsoft.com/office/drawing/2014/main" id="{1448E4C2-2D6B-D845-D9A5-F777BE822B33}"/>
              </a:ext>
            </a:extLst>
          </p:cNvPr>
          <p:cNvGrpSpPr>
            <a:grpSpLocks/>
          </p:cNvGrpSpPr>
          <p:nvPr userDrawn="1"/>
        </p:nvGrpSpPr>
        <p:grpSpPr>
          <a:xfrm>
            <a:off x="-13268" y="591096"/>
            <a:ext cx="9945802" cy="72934"/>
            <a:chOff x="-128187" y="259080"/>
            <a:chExt cx="13186161" cy="136800"/>
          </a:xfrm>
        </p:grpSpPr>
        <p:sp>
          <p:nvSpPr>
            <p:cNvPr id="8" name="Rectangle 7">
              <a:extLst>
                <a:ext uri="{FF2B5EF4-FFF2-40B4-BE49-F238E27FC236}">
                  <a16:creationId xmlns:a16="http://schemas.microsoft.com/office/drawing/2014/main" id="{E2DF8DDB-F194-0CF9-1A3F-ABB6060EF420}"/>
                </a:ext>
              </a:extLst>
            </p:cNvPr>
            <p:cNvSpPr/>
            <p:nvPr userDrawn="1"/>
          </p:nvSpPr>
          <p:spPr>
            <a:xfrm>
              <a:off x="-128187" y="259080"/>
              <a:ext cx="4395387" cy="136800"/>
            </a:xfrm>
            <a:prstGeom prst="rect">
              <a:avLst/>
            </a:prstGeom>
            <a:solidFill>
              <a:srgbClr val="587C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9" name="Rectangle 8">
              <a:extLst>
                <a:ext uri="{FF2B5EF4-FFF2-40B4-BE49-F238E27FC236}">
                  <a16:creationId xmlns:a16="http://schemas.microsoft.com/office/drawing/2014/main" id="{6193F0F9-1CCB-704E-0375-EA733ED2286F}"/>
                </a:ext>
              </a:extLst>
            </p:cNvPr>
            <p:cNvSpPr/>
            <p:nvPr userDrawn="1"/>
          </p:nvSpPr>
          <p:spPr>
            <a:xfrm>
              <a:off x="4267200" y="259080"/>
              <a:ext cx="4395387" cy="136800"/>
            </a:xfrm>
            <a:prstGeom prst="rect">
              <a:avLst/>
            </a:prstGeom>
            <a:solidFill>
              <a:srgbClr val="E8B9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10" name="Rectangle 9">
              <a:extLst>
                <a:ext uri="{FF2B5EF4-FFF2-40B4-BE49-F238E27FC236}">
                  <a16:creationId xmlns:a16="http://schemas.microsoft.com/office/drawing/2014/main" id="{2686A76C-1FB3-3F10-8CCD-29925C2AAB61}"/>
                </a:ext>
              </a:extLst>
            </p:cNvPr>
            <p:cNvSpPr/>
            <p:nvPr userDrawn="1"/>
          </p:nvSpPr>
          <p:spPr>
            <a:xfrm>
              <a:off x="8662587" y="259080"/>
              <a:ext cx="4395387" cy="136800"/>
            </a:xfrm>
            <a:prstGeom prst="rect">
              <a:avLst/>
            </a:prstGeom>
            <a:solidFill>
              <a:srgbClr val="2E56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grpSp>
        <p:nvGrpSpPr>
          <p:cNvPr id="11" name="Group 10">
            <a:extLst>
              <a:ext uri="{FF2B5EF4-FFF2-40B4-BE49-F238E27FC236}">
                <a16:creationId xmlns:a16="http://schemas.microsoft.com/office/drawing/2014/main" id="{22E879F7-62EA-E676-200A-06A6BCAABD53}"/>
              </a:ext>
            </a:extLst>
          </p:cNvPr>
          <p:cNvGrpSpPr>
            <a:grpSpLocks/>
          </p:cNvGrpSpPr>
          <p:nvPr userDrawn="1"/>
        </p:nvGrpSpPr>
        <p:grpSpPr>
          <a:xfrm>
            <a:off x="-13267" y="6230437"/>
            <a:ext cx="9945802" cy="72934"/>
            <a:chOff x="-128187" y="259080"/>
            <a:chExt cx="13186161" cy="136800"/>
          </a:xfrm>
        </p:grpSpPr>
        <p:sp>
          <p:nvSpPr>
            <p:cNvPr id="12" name="Rectangle 11">
              <a:extLst>
                <a:ext uri="{FF2B5EF4-FFF2-40B4-BE49-F238E27FC236}">
                  <a16:creationId xmlns:a16="http://schemas.microsoft.com/office/drawing/2014/main" id="{53EF9320-B029-0415-2D4E-A087CCBA82AF}"/>
                </a:ext>
              </a:extLst>
            </p:cNvPr>
            <p:cNvSpPr/>
            <p:nvPr userDrawn="1"/>
          </p:nvSpPr>
          <p:spPr>
            <a:xfrm>
              <a:off x="-128187" y="259080"/>
              <a:ext cx="4395387" cy="136800"/>
            </a:xfrm>
            <a:prstGeom prst="rect">
              <a:avLst/>
            </a:prstGeom>
            <a:solidFill>
              <a:srgbClr val="587C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13" name="Rectangle 12">
              <a:extLst>
                <a:ext uri="{FF2B5EF4-FFF2-40B4-BE49-F238E27FC236}">
                  <a16:creationId xmlns:a16="http://schemas.microsoft.com/office/drawing/2014/main" id="{9C83F0D6-5420-3545-989B-7FA8DCBDFDDA}"/>
                </a:ext>
              </a:extLst>
            </p:cNvPr>
            <p:cNvSpPr/>
            <p:nvPr userDrawn="1"/>
          </p:nvSpPr>
          <p:spPr>
            <a:xfrm>
              <a:off x="4267200" y="259080"/>
              <a:ext cx="4395387" cy="136800"/>
            </a:xfrm>
            <a:prstGeom prst="rect">
              <a:avLst/>
            </a:prstGeom>
            <a:solidFill>
              <a:srgbClr val="E8B9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14" name="Rectangle 13">
              <a:extLst>
                <a:ext uri="{FF2B5EF4-FFF2-40B4-BE49-F238E27FC236}">
                  <a16:creationId xmlns:a16="http://schemas.microsoft.com/office/drawing/2014/main" id="{A102EF91-9068-7F2D-2962-12B9F465D6C4}"/>
                </a:ext>
              </a:extLst>
            </p:cNvPr>
            <p:cNvSpPr/>
            <p:nvPr userDrawn="1"/>
          </p:nvSpPr>
          <p:spPr>
            <a:xfrm>
              <a:off x="8662587" y="259080"/>
              <a:ext cx="4395387" cy="136800"/>
            </a:xfrm>
            <a:prstGeom prst="rect">
              <a:avLst/>
            </a:prstGeom>
            <a:solidFill>
              <a:srgbClr val="2E56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spTree>
    <p:extLst>
      <p:ext uri="{BB962C8B-B14F-4D97-AF65-F5344CB8AC3E}">
        <p14:creationId xmlns:p14="http://schemas.microsoft.com/office/powerpoint/2010/main" val="38074957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53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7D3CB2C9-56A2-C44F-97D2-8FBC534C75AD}"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AAF812-E17A-9042-8FB8-7491E1988791}" type="slidenum">
              <a:rPr lang="en-US" smtClean="0"/>
              <a:t>‹#›</a:t>
            </a:fld>
            <a:endParaRPr lang="en-US"/>
          </a:p>
        </p:txBody>
      </p:sp>
    </p:spTree>
    <p:extLst>
      <p:ext uri="{BB962C8B-B14F-4D97-AF65-F5344CB8AC3E}">
        <p14:creationId xmlns:p14="http://schemas.microsoft.com/office/powerpoint/2010/main" val="203887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D3CB2C9-56A2-C44F-97D2-8FBC534C75AD}"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AAF812-E17A-9042-8FB8-7491E1988791}" type="slidenum">
              <a:rPr lang="en-US" smtClean="0"/>
              <a:t>‹#›</a:t>
            </a:fld>
            <a:endParaRPr lang="en-US"/>
          </a:p>
        </p:txBody>
      </p:sp>
    </p:spTree>
    <p:extLst>
      <p:ext uri="{BB962C8B-B14F-4D97-AF65-F5344CB8AC3E}">
        <p14:creationId xmlns:p14="http://schemas.microsoft.com/office/powerpoint/2010/main" val="2394177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81038"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014913"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7D3CB2C9-56A2-C44F-97D2-8FBC534C75AD}"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AAF812-E17A-9042-8FB8-7491E1988791}" type="slidenum">
              <a:rPr lang="en-US" smtClean="0"/>
              <a:t>‹#›</a:t>
            </a:fld>
            <a:endParaRPr lang="en-US"/>
          </a:p>
        </p:txBody>
      </p:sp>
    </p:spTree>
    <p:extLst>
      <p:ext uri="{BB962C8B-B14F-4D97-AF65-F5344CB8AC3E}">
        <p14:creationId xmlns:p14="http://schemas.microsoft.com/office/powerpoint/2010/main" val="576227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6"/>
            <a:ext cx="8543925"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7D3CB2C9-56A2-C44F-97D2-8FBC534C75AD}" type="datetimeFigureOut">
              <a:rPr lang="en-US" smtClean="0"/>
              <a:t>4/27/26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AAF812-E17A-9042-8FB8-7491E1988791}" type="slidenum">
              <a:rPr lang="en-US" smtClean="0"/>
              <a:t>‹#›</a:t>
            </a:fld>
            <a:endParaRPr lang="en-US"/>
          </a:p>
        </p:txBody>
      </p:sp>
    </p:spTree>
    <p:extLst>
      <p:ext uri="{BB962C8B-B14F-4D97-AF65-F5344CB8AC3E}">
        <p14:creationId xmlns:p14="http://schemas.microsoft.com/office/powerpoint/2010/main" val="714100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D3CB2C9-56A2-C44F-97D2-8FBC534C75AD}" type="datetimeFigureOut">
              <a:rPr lang="en-US" smtClean="0"/>
              <a:t>4/27/26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AAF812-E17A-9042-8FB8-7491E1988791}" type="slidenum">
              <a:rPr lang="en-US" smtClean="0"/>
              <a:t>‹#›</a:t>
            </a:fld>
            <a:endParaRPr lang="en-US"/>
          </a:p>
        </p:txBody>
      </p:sp>
    </p:spTree>
    <p:extLst>
      <p:ext uri="{BB962C8B-B14F-4D97-AF65-F5344CB8AC3E}">
        <p14:creationId xmlns:p14="http://schemas.microsoft.com/office/powerpoint/2010/main" val="3651513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3CB2C9-56A2-C44F-97D2-8FBC534C75AD}" type="datetimeFigureOut">
              <a:rPr lang="en-US" smtClean="0"/>
              <a:t>4/27/26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AAF812-E17A-9042-8FB8-7491E1988791}" type="slidenum">
              <a:rPr lang="en-US" smtClean="0"/>
              <a:t>‹#›</a:t>
            </a:fld>
            <a:endParaRPr lang="en-US"/>
          </a:p>
        </p:txBody>
      </p:sp>
    </p:spTree>
    <p:extLst>
      <p:ext uri="{BB962C8B-B14F-4D97-AF65-F5344CB8AC3E}">
        <p14:creationId xmlns:p14="http://schemas.microsoft.com/office/powerpoint/2010/main" val="2129629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4211340" y="987426"/>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D3CB2C9-56A2-C44F-97D2-8FBC534C75AD}"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AAF812-E17A-9042-8FB8-7491E1988791}" type="slidenum">
              <a:rPr lang="en-US" smtClean="0"/>
              <a:t>‹#›</a:t>
            </a:fld>
            <a:endParaRPr lang="en-US"/>
          </a:p>
        </p:txBody>
      </p:sp>
    </p:spTree>
    <p:extLst>
      <p:ext uri="{BB962C8B-B14F-4D97-AF65-F5344CB8AC3E}">
        <p14:creationId xmlns:p14="http://schemas.microsoft.com/office/powerpoint/2010/main" val="809883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4211340" y="987426"/>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D3CB2C9-56A2-C44F-97D2-8FBC534C75AD}"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AAF812-E17A-9042-8FB8-7491E1988791}" type="slidenum">
              <a:rPr lang="en-US" smtClean="0"/>
              <a:t>‹#›</a:t>
            </a:fld>
            <a:endParaRPr lang="en-US"/>
          </a:p>
        </p:txBody>
      </p:sp>
    </p:spTree>
    <p:extLst>
      <p:ext uri="{BB962C8B-B14F-4D97-AF65-F5344CB8AC3E}">
        <p14:creationId xmlns:p14="http://schemas.microsoft.com/office/powerpoint/2010/main" val="3506138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7D3CB2C9-56A2-C44F-97D2-8FBC534C75AD}"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AAF812-E17A-9042-8FB8-7491E1988791}" type="slidenum">
              <a:rPr lang="en-US" smtClean="0"/>
              <a:t>‹#›</a:t>
            </a:fld>
            <a:endParaRPr lang="en-US"/>
          </a:p>
        </p:txBody>
      </p:sp>
    </p:spTree>
    <p:extLst>
      <p:ext uri="{BB962C8B-B14F-4D97-AF65-F5344CB8AC3E}">
        <p14:creationId xmlns:p14="http://schemas.microsoft.com/office/powerpoint/2010/main" val="1974294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7D3CB2C9-56A2-C44F-97D2-8FBC534C75AD}"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AAF812-E17A-9042-8FB8-7491E1988791}" type="slidenum">
              <a:rPr lang="en-US" smtClean="0"/>
              <a:t>‹#›</a:t>
            </a:fld>
            <a:endParaRPr lang="en-US"/>
          </a:p>
        </p:txBody>
      </p:sp>
    </p:spTree>
    <p:extLst>
      <p:ext uri="{BB962C8B-B14F-4D97-AF65-F5344CB8AC3E}">
        <p14:creationId xmlns:p14="http://schemas.microsoft.com/office/powerpoint/2010/main" val="818822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3CB2C9-56A2-C44F-97D2-8FBC534C75AD}" type="datetimeFigureOut">
              <a:rPr lang="en-US" smtClean="0"/>
              <a:t>4/27/26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AAF812-E17A-9042-8FB8-7491E1988791}" type="slidenum">
              <a:rPr lang="en-US" smtClean="0"/>
              <a:t>‹#›</a:t>
            </a:fld>
            <a:endParaRPr lang="en-US"/>
          </a:p>
        </p:txBody>
      </p:sp>
    </p:spTree>
    <p:extLst>
      <p:ext uri="{BB962C8B-B14F-4D97-AF65-F5344CB8AC3E}">
        <p14:creationId xmlns:p14="http://schemas.microsoft.com/office/powerpoint/2010/main" val="415061599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Layout" Target="../slideLayouts/slideLayout1.xml"/><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1.xml"/><Relationship Id="rId4" Type="http://schemas.openxmlformats.org/officeDocument/2006/relationships/image" Target="../media/image21.svg"/></Relationships>
</file>

<file path=ppt/slides/_rels/slide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slideLayout" Target="../slideLayouts/slideLayout1.xml"/><Relationship Id="rId5" Type="http://schemas.openxmlformats.org/officeDocument/2006/relationships/image" Target="../media/image25.svg"/><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1.xml"/><Relationship Id="rId4" Type="http://schemas.openxmlformats.org/officeDocument/2006/relationships/image" Target="../media/image28.svg"/></Relationships>
</file>

<file path=ppt/slides/_rels/slide1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36.png"/><Relationship Id="rId1" Type="http://schemas.openxmlformats.org/officeDocument/2006/relationships/slideLayout" Target="../slideLayouts/slideLayout1.xml"/><Relationship Id="rId5" Type="http://schemas.openxmlformats.org/officeDocument/2006/relationships/image" Target="../media/image38.sv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30.svg"/><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0.svg"/><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52.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EBBB78-F1E3-1187-486F-53E77527D279}"/>
              </a:ext>
            </a:extLst>
          </p:cNvPr>
          <p:cNvSpPr/>
          <p:nvPr/>
        </p:nvSpPr>
        <p:spPr>
          <a:xfrm>
            <a:off x="0" y="662152"/>
            <a:ext cx="9906000" cy="5559972"/>
          </a:xfrm>
          <a:prstGeom prst="rect">
            <a:avLst/>
          </a:prstGeom>
          <a:blipFill dpi="0" rotWithShape="1">
            <a:blip r:embed="rId2">
              <a:alphaModFix amt="21225"/>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7521CD2-FB49-CFB8-1518-9D6B62549FF0}"/>
              </a:ext>
            </a:extLst>
          </p:cNvPr>
          <p:cNvSpPr txBox="1"/>
          <p:nvPr/>
        </p:nvSpPr>
        <p:spPr>
          <a:xfrm>
            <a:off x="268830" y="1702199"/>
            <a:ext cx="8978244" cy="442429"/>
          </a:xfrm>
          <a:prstGeom prst="rect">
            <a:avLst/>
          </a:prstGeom>
          <a:noFill/>
        </p:spPr>
        <p:txBody>
          <a:bodyPr wrap="square" rtlCol="0">
            <a:spAutoFit/>
          </a:bodyPr>
          <a:lstStyle/>
          <a:p>
            <a:pPr algn="ctr"/>
            <a:r>
              <a:rPr lang="en-US" sz="2275" b="1">
                <a:solidFill>
                  <a:srgbClr val="2E5685"/>
                </a:solidFill>
                <a:latin typeface="Times New Roman" panose="02020603050405020304" pitchFamily="18" charset="0"/>
                <a:cs typeface="Times New Roman" panose="02020603050405020304" pitchFamily="18" charset="0"/>
              </a:rPr>
              <a:t>Advancing Public-Interest AI In Brazil and Latin America</a:t>
            </a:r>
          </a:p>
        </p:txBody>
      </p:sp>
      <p:cxnSp>
        <p:nvCxnSpPr>
          <p:cNvPr id="3" name="Straight Connector 2">
            <a:extLst>
              <a:ext uri="{FF2B5EF4-FFF2-40B4-BE49-F238E27FC236}">
                <a16:creationId xmlns:a16="http://schemas.microsoft.com/office/drawing/2014/main" id="{6F3E4209-216E-D2BF-0F0C-CF903F125133}"/>
              </a:ext>
            </a:extLst>
          </p:cNvPr>
          <p:cNvCxnSpPr/>
          <p:nvPr/>
        </p:nvCxnSpPr>
        <p:spPr>
          <a:xfrm>
            <a:off x="956245" y="2127315"/>
            <a:ext cx="7598480"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2F4EFA9-8C72-1869-97BC-F0644C56136B}"/>
              </a:ext>
            </a:extLst>
          </p:cNvPr>
          <p:cNvSpPr txBox="1"/>
          <p:nvPr/>
        </p:nvSpPr>
        <p:spPr>
          <a:xfrm>
            <a:off x="295365" y="2167117"/>
            <a:ext cx="8978244" cy="267446"/>
          </a:xfrm>
          <a:prstGeom prst="rect">
            <a:avLst/>
          </a:prstGeom>
          <a:noFill/>
        </p:spPr>
        <p:txBody>
          <a:bodyPr wrap="square" rtlCol="0">
            <a:spAutoFit/>
          </a:bodyPr>
          <a:lstStyle/>
          <a:p>
            <a:pPr algn="ctr"/>
            <a:r>
              <a:rPr lang="en-US" sz="1138">
                <a:solidFill>
                  <a:srgbClr val="2E5685"/>
                </a:solidFill>
                <a:latin typeface="Times New Roman" panose="02020603050405020304" pitchFamily="18" charset="0"/>
                <a:cs typeface="Times New Roman" panose="02020603050405020304" pitchFamily="18" charset="0"/>
              </a:rPr>
              <a:t>Institutional Pathways, Governance Gaps, and Strategic Opportunities for </a:t>
            </a:r>
            <a:r>
              <a:rPr lang="en-US" sz="1138" err="1">
                <a:solidFill>
                  <a:srgbClr val="2E5685"/>
                </a:solidFill>
                <a:latin typeface="Times New Roman" panose="02020603050405020304" pitchFamily="18" charset="0"/>
                <a:cs typeface="Times New Roman" panose="02020603050405020304" pitchFamily="18" charset="0"/>
              </a:rPr>
              <a:t>Fundação</a:t>
            </a:r>
            <a:r>
              <a:rPr lang="en-US" sz="1138">
                <a:solidFill>
                  <a:srgbClr val="2E5685"/>
                </a:solidFill>
                <a:latin typeface="Times New Roman" panose="02020603050405020304" pitchFamily="18" charset="0"/>
                <a:cs typeface="Times New Roman" panose="02020603050405020304" pitchFamily="18" charset="0"/>
              </a:rPr>
              <a:t> BRAVA </a:t>
            </a:r>
          </a:p>
        </p:txBody>
      </p:sp>
      <p:sp>
        <p:nvSpPr>
          <p:cNvPr id="8" name="Rectangle 7">
            <a:extLst>
              <a:ext uri="{FF2B5EF4-FFF2-40B4-BE49-F238E27FC236}">
                <a16:creationId xmlns:a16="http://schemas.microsoft.com/office/drawing/2014/main" id="{FA5894EF-0953-7404-C83D-951ED953AA31}"/>
              </a:ext>
            </a:extLst>
          </p:cNvPr>
          <p:cNvSpPr/>
          <p:nvPr/>
        </p:nvSpPr>
        <p:spPr>
          <a:xfrm>
            <a:off x="3355942" y="3073138"/>
            <a:ext cx="3157980" cy="1517716"/>
          </a:xfrm>
          <a:prstGeom prst="rect">
            <a:avLst/>
          </a:prstGeom>
          <a:solidFill>
            <a:srgbClr val="FFFFFF">
              <a:alpha val="20000"/>
            </a:srgbClr>
          </a:solidFill>
          <a:ln>
            <a:noFill/>
          </a:ln>
          <a:effectLst>
            <a:glow rad="577166">
              <a:schemeClr val="bg1">
                <a:alpha val="30090"/>
              </a:schemeClr>
            </a:glow>
            <a:softEdge rad="724001"/>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96F1581-5FCE-9F5E-96A0-4A6CE108B26F}"/>
              </a:ext>
            </a:extLst>
          </p:cNvPr>
          <p:cNvSpPr txBox="1"/>
          <p:nvPr/>
        </p:nvSpPr>
        <p:spPr>
          <a:xfrm>
            <a:off x="463878" y="3178931"/>
            <a:ext cx="8978244" cy="267446"/>
          </a:xfrm>
          <a:prstGeom prst="rect">
            <a:avLst/>
          </a:prstGeom>
          <a:noFill/>
        </p:spPr>
        <p:txBody>
          <a:bodyPr wrap="square" rtlCol="0">
            <a:spAutoFit/>
          </a:bodyPr>
          <a:lstStyle/>
          <a:p>
            <a:pPr algn="ctr"/>
            <a:r>
              <a:rPr lang="en-US" sz="1138">
                <a:solidFill>
                  <a:srgbClr val="2E5685"/>
                </a:solidFill>
                <a:latin typeface="Times New Roman" panose="02020603050405020304" pitchFamily="18" charset="0"/>
                <a:cs typeface="Times New Roman" panose="02020603050405020304" pitchFamily="18" charset="0"/>
              </a:rPr>
              <a:t>Prepared for </a:t>
            </a:r>
            <a:r>
              <a:rPr lang="en-US" sz="1138" b="1" err="1">
                <a:solidFill>
                  <a:srgbClr val="2E5685"/>
                </a:solidFill>
                <a:latin typeface="Times New Roman" panose="02020603050405020304" pitchFamily="18" charset="0"/>
                <a:cs typeface="Times New Roman" panose="02020603050405020304" pitchFamily="18" charset="0"/>
              </a:rPr>
              <a:t>Fundação</a:t>
            </a:r>
            <a:r>
              <a:rPr lang="en-US" sz="1138" b="1">
                <a:solidFill>
                  <a:srgbClr val="2E5685"/>
                </a:solidFill>
                <a:latin typeface="Times New Roman" panose="02020603050405020304" pitchFamily="18" charset="0"/>
                <a:cs typeface="Times New Roman" panose="02020603050405020304" pitchFamily="18" charset="0"/>
              </a:rPr>
              <a:t> BRAVA </a:t>
            </a:r>
          </a:p>
        </p:txBody>
      </p:sp>
      <p:cxnSp>
        <p:nvCxnSpPr>
          <p:cNvPr id="7" name="Straight Connector 6">
            <a:extLst>
              <a:ext uri="{FF2B5EF4-FFF2-40B4-BE49-F238E27FC236}">
                <a16:creationId xmlns:a16="http://schemas.microsoft.com/office/drawing/2014/main" id="{41540934-39FB-7AD1-C28A-8EAB0C2C2B58}"/>
              </a:ext>
            </a:extLst>
          </p:cNvPr>
          <p:cNvCxnSpPr>
            <a:cxnSpLocks/>
          </p:cNvCxnSpPr>
          <p:nvPr/>
        </p:nvCxnSpPr>
        <p:spPr>
          <a:xfrm>
            <a:off x="3776662" y="3442956"/>
            <a:ext cx="2337197"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0BF961A-8EC5-CE02-F06C-FDCC9DB9ACBD}"/>
              </a:ext>
            </a:extLst>
          </p:cNvPr>
          <p:cNvSpPr txBox="1"/>
          <p:nvPr/>
        </p:nvSpPr>
        <p:spPr>
          <a:xfrm>
            <a:off x="463878" y="3473240"/>
            <a:ext cx="8978244" cy="279948"/>
          </a:xfrm>
          <a:prstGeom prst="rect">
            <a:avLst/>
          </a:prstGeom>
          <a:noFill/>
        </p:spPr>
        <p:txBody>
          <a:bodyPr wrap="square" rtlCol="0">
            <a:spAutoFit/>
          </a:bodyPr>
          <a:lstStyle/>
          <a:p>
            <a:pPr algn="ctr"/>
            <a:r>
              <a:rPr lang="en-US" sz="1219">
                <a:solidFill>
                  <a:srgbClr val="2E5685"/>
                </a:solidFill>
                <a:latin typeface="Times New Roman" panose="02020603050405020304" pitchFamily="18" charset="0"/>
                <a:cs typeface="Times New Roman" panose="02020603050405020304" pitchFamily="18" charset="0"/>
              </a:rPr>
              <a:t>Columbia SIPA Capstone Team </a:t>
            </a:r>
            <a:endParaRPr lang="en-US" sz="1219" b="1">
              <a:solidFill>
                <a:srgbClr val="2E5685"/>
              </a:solidFill>
              <a:latin typeface="Times New Roman" panose="02020603050405020304" pitchFamily="18"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C1D4932B-854A-5AC6-3902-A951F6BC4A1A}"/>
              </a:ext>
            </a:extLst>
          </p:cNvPr>
          <p:cNvCxnSpPr>
            <a:cxnSpLocks/>
            <a:stCxn id="10" idx="2"/>
          </p:cNvCxnSpPr>
          <p:nvPr/>
        </p:nvCxnSpPr>
        <p:spPr>
          <a:xfrm>
            <a:off x="4953000" y="3753188"/>
            <a:ext cx="0" cy="680865"/>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1875F6A-5E5F-16F1-4BEB-4302494FAFDA}"/>
              </a:ext>
            </a:extLst>
          </p:cNvPr>
          <p:cNvSpPr txBox="1"/>
          <p:nvPr/>
        </p:nvSpPr>
        <p:spPr>
          <a:xfrm>
            <a:off x="1737308" y="3766095"/>
            <a:ext cx="3202325" cy="655179"/>
          </a:xfrm>
          <a:prstGeom prst="rect">
            <a:avLst/>
          </a:prstGeom>
          <a:noFill/>
        </p:spPr>
        <p:txBody>
          <a:bodyPr wrap="square" rtlCol="0">
            <a:spAutoFit/>
          </a:bodyPr>
          <a:lstStyle/>
          <a:p>
            <a:pPr algn="r"/>
            <a:r>
              <a:rPr lang="en-US" sz="1219" dirty="0">
                <a:solidFill>
                  <a:srgbClr val="2E5685"/>
                </a:solidFill>
                <a:latin typeface="Times New Roman" panose="02020603050405020304" pitchFamily="18" charset="0"/>
                <a:cs typeface="Times New Roman" panose="02020603050405020304" pitchFamily="18" charset="0"/>
              </a:rPr>
              <a:t>Sanjana </a:t>
            </a:r>
            <a:r>
              <a:rPr lang="en-US" sz="1219" dirty="0" err="1">
                <a:solidFill>
                  <a:srgbClr val="2E5685"/>
                </a:solidFill>
                <a:latin typeface="Times New Roman" panose="02020603050405020304" pitchFamily="18" charset="0"/>
                <a:cs typeface="Times New Roman" panose="02020603050405020304" pitchFamily="18" charset="0"/>
              </a:rPr>
              <a:t>Aravamudhan</a:t>
            </a:r>
            <a:endParaRPr lang="en-US" sz="1219" dirty="0">
              <a:solidFill>
                <a:srgbClr val="2E5685"/>
              </a:solidFill>
              <a:latin typeface="Times New Roman" panose="02020603050405020304" pitchFamily="18" charset="0"/>
              <a:cs typeface="Times New Roman" panose="02020603050405020304" pitchFamily="18" charset="0"/>
            </a:endParaRPr>
          </a:p>
          <a:p>
            <a:pPr algn="r"/>
            <a:r>
              <a:rPr lang="en-US" sz="1219" dirty="0">
                <a:solidFill>
                  <a:srgbClr val="2E5685"/>
                </a:solidFill>
                <a:latin typeface="Times New Roman" panose="02020603050405020304" pitchFamily="18" charset="0"/>
                <a:cs typeface="Times New Roman" panose="02020603050405020304" pitchFamily="18" charset="0"/>
              </a:rPr>
              <a:t>Bojana Starcevic</a:t>
            </a:r>
          </a:p>
          <a:p>
            <a:pPr algn="r"/>
            <a:r>
              <a:rPr lang="en-US" sz="1219" dirty="0">
                <a:solidFill>
                  <a:srgbClr val="2E5685"/>
                </a:solidFill>
                <a:latin typeface="Times New Roman" panose="02020603050405020304" pitchFamily="18" charset="0"/>
                <a:cs typeface="Times New Roman" panose="02020603050405020304" pitchFamily="18" charset="0"/>
              </a:rPr>
              <a:t>Jamal Washington </a:t>
            </a:r>
          </a:p>
        </p:txBody>
      </p:sp>
      <p:sp>
        <p:nvSpPr>
          <p:cNvPr id="18" name="TextBox 17">
            <a:extLst>
              <a:ext uri="{FF2B5EF4-FFF2-40B4-BE49-F238E27FC236}">
                <a16:creationId xmlns:a16="http://schemas.microsoft.com/office/drawing/2014/main" id="{B6E94392-FAC3-BFE0-7D66-EC1A4B43D1D8}"/>
              </a:ext>
            </a:extLst>
          </p:cNvPr>
          <p:cNvSpPr txBox="1"/>
          <p:nvPr/>
        </p:nvSpPr>
        <p:spPr>
          <a:xfrm>
            <a:off x="4967374" y="3780052"/>
            <a:ext cx="3202325" cy="637868"/>
          </a:xfrm>
          <a:prstGeom prst="rect">
            <a:avLst/>
          </a:prstGeom>
          <a:noFill/>
        </p:spPr>
        <p:txBody>
          <a:bodyPr wrap="square" lIns="74295" tIns="37148" rIns="74295" bIns="37148" rtlCol="0" anchor="t">
            <a:spAutoFit/>
          </a:bodyPr>
          <a:lstStyle/>
          <a:p>
            <a:r>
              <a:rPr lang="en-US" sz="1219" dirty="0">
                <a:solidFill>
                  <a:srgbClr val="2E5685"/>
                </a:solidFill>
                <a:latin typeface="Times New Roman" panose="02020603050405020304" pitchFamily="18" charset="0"/>
                <a:cs typeface="Times New Roman" panose="02020603050405020304" pitchFamily="18" charset="0"/>
              </a:rPr>
              <a:t>Jonathan Echavarria</a:t>
            </a:r>
          </a:p>
          <a:p>
            <a:r>
              <a:rPr lang="en-US" sz="1219" dirty="0">
                <a:solidFill>
                  <a:srgbClr val="2E5685"/>
                </a:solidFill>
                <a:latin typeface="Times New Roman"/>
                <a:cs typeface="Times New Roman"/>
              </a:rPr>
              <a:t>Mardiantika </a:t>
            </a:r>
            <a:r>
              <a:rPr lang="en-US" sz="1219" dirty="0" err="1">
                <a:solidFill>
                  <a:srgbClr val="2E5685"/>
                </a:solidFill>
                <a:latin typeface="Times New Roman"/>
                <a:cs typeface="Times New Roman"/>
              </a:rPr>
              <a:t>Watubun</a:t>
            </a:r>
            <a:endParaRPr lang="en-US" sz="1219" dirty="0">
              <a:solidFill>
                <a:srgbClr val="2E5685"/>
              </a:solidFill>
              <a:latin typeface="Times New Roman" panose="02020603050405020304" pitchFamily="18" charset="0"/>
              <a:cs typeface="Times New Roman" panose="02020603050405020304" pitchFamily="18" charset="0"/>
            </a:endParaRPr>
          </a:p>
          <a:p>
            <a:r>
              <a:rPr lang="en-US" sz="1219" dirty="0">
                <a:solidFill>
                  <a:srgbClr val="2E5685"/>
                </a:solidFill>
                <a:latin typeface="Times New Roman"/>
                <a:cs typeface="Times New Roman"/>
              </a:rPr>
              <a:t>Anshima Varma</a:t>
            </a:r>
          </a:p>
        </p:txBody>
      </p:sp>
      <p:sp>
        <p:nvSpPr>
          <p:cNvPr id="19" name="TextBox 18">
            <a:extLst>
              <a:ext uri="{FF2B5EF4-FFF2-40B4-BE49-F238E27FC236}">
                <a16:creationId xmlns:a16="http://schemas.microsoft.com/office/drawing/2014/main" id="{69438118-3830-2285-C1E0-68937A0D451C}"/>
              </a:ext>
            </a:extLst>
          </p:cNvPr>
          <p:cNvSpPr txBox="1"/>
          <p:nvPr/>
        </p:nvSpPr>
        <p:spPr>
          <a:xfrm>
            <a:off x="462884" y="5155801"/>
            <a:ext cx="8978244" cy="267446"/>
          </a:xfrm>
          <a:prstGeom prst="rect">
            <a:avLst/>
          </a:prstGeom>
          <a:noFill/>
        </p:spPr>
        <p:txBody>
          <a:bodyPr wrap="square" rtlCol="0">
            <a:spAutoFit/>
          </a:bodyPr>
          <a:lstStyle/>
          <a:p>
            <a:pPr algn="ctr"/>
            <a:r>
              <a:rPr lang="en-US" sz="1138" b="1">
                <a:solidFill>
                  <a:srgbClr val="2E5685"/>
                </a:solidFill>
                <a:latin typeface="Times New Roman" panose="02020603050405020304" pitchFamily="18" charset="0"/>
                <a:cs typeface="Times New Roman" panose="02020603050405020304" pitchFamily="18" charset="0"/>
              </a:rPr>
              <a:t>April 2026</a:t>
            </a:r>
          </a:p>
        </p:txBody>
      </p:sp>
      <p:pic>
        <p:nvPicPr>
          <p:cNvPr id="1026" name="Picture 2" descr="Partner Programs | Columbia Climate School">
            <a:extLst>
              <a:ext uri="{FF2B5EF4-FFF2-40B4-BE49-F238E27FC236}">
                <a16:creationId xmlns:a16="http://schemas.microsoft.com/office/drawing/2014/main" id="{79F28C5E-3FEB-EE12-DFFB-5D206B7B39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7316" y="119586"/>
            <a:ext cx="2294585"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undação Brava">
            <a:extLst>
              <a:ext uri="{FF2B5EF4-FFF2-40B4-BE49-F238E27FC236}">
                <a16:creationId xmlns:a16="http://schemas.microsoft.com/office/drawing/2014/main" id="{CB18AC01-0707-4593-0D19-915D08141B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518" y="-18713"/>
            <a:ext cx="751604" cy="498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0539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48F92-80CE-AA8C-F39A-C7C9AAEB6FC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80F6595-95E5-735C-9649-450C3C292A49}"/>
              </a:ext>
            </a:extLst>
          </p:cNvPr>
          <p:cNvSpPr txBox="1"/>
          <p:nvPr/>
        </p:nvSpPr>
        <p:spPr>
          <a:xfrm>
            <a:off x="600523" y="885067"/>
            <a:ext cx="8616644" cy="411779"/>
          </a:xfrm>
          <a:prstGeom prst="rect">
            <a:avLst/>
          </a:prstGeom>
        </p:spPr>
        <p:txBody>
          <a:bodyPr wrap="square" lIns="0" tIns="0" rIns="0" bIns="0" rtlCol="0" anchor="t">
            <a:spAutoFit/>
          </a:bodyPr>
          <a:lstStyle/>
          <a:p>
            <a:pPr>
              <a:lnSpc>
                <a:spcPts val="3479"/>
              </a:lnSpc>
            </a:pPr>
            <a:r>
              <a:rPr lang="en-US" sz="25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Why Study Public Interest AI? </a:t>
            </a:r>
          </a:p>
        </p:txBody>
      </p:sp>
      <p:grpSp>
        <p:nvGrpSpPr>
          <p:cNvPr id="17" name="Group 16">
            <a:extLst>
              <a:ext uri="{FF2B5EF4-FFF2-40B4-BE49-F238E27FC236}">
                <a16:creationId xmlns:a16="http://schemas.microsoft.com/office/drawing/2014/main" id="{89EFF557-EDDD-2C76-4550-BCEF13E4F300}"/>
              </a:ext>
            </a:extLst>
          </p:cNvPr>
          <p:cNvGrpSpPr/>
          <p:nvPr/>
        </p:nvGrpSpPr>
        <p:grpSpPr>
          <a:xfrm>
            <a:off x="332897" y="1521868"/>
            <a:ext cx="12823631" cy="4330806"/>
            <a:chOff x="318828" y="1104380"/>
            <a:chExt cx="13497941" cy="5112588"/>
          </a:xfrm>
        </p:grpSpPr>
        <p:grpSp>
          <p:nvGrpSpPr>
            <p:cNvPr id="14" name="Group 13">
              <a:extLst>
                <a:ext uri="{FF2B5EF4-FFF2-40B4-BE49-F238E27FC236}">
                  <a16:creationId xmlns:a16="http://schemas.microsoft.com/office/drawing/2014/main" id="{FB3C2E1B-CBAF-B9D1-06A2-662D1E26E953}"/>
                </a:ext>
              </a:extLst>
            </p:cNvPr>
            <p:cNvGrpSpPr/>
            <p:nvPr/>
          </p:nvGrpSpPr>
          <p:grpSpPr>
            <a:xfrm>
              <a:off x="318828" y="1104380"/>
              <a:ext cx="7069249" cy="2120956"/>
              <a:chOff x="715831" y="915085"/>
              <a:chExt cx="7069249" cy="2120956"/>
            </a:xfrm>
          </p:grpSpPr>
          <p:sp>
            <p:nvSpPr>
              <p:cNvPr id="10" name="Rounded Rectangle 9">
                <a:extLst>
                  <a:ext uri="{FF2B5EF4-FFF2-40B4-BE49-F238E27FC236}">
                    <a16:creationId xmlns:a16="http://schemas.microsoft.com/office/drawing/2014/main" id="{4AE5607B-E594-712C-7958-A3B4A67D32AB}"/>
                  </a:ext>
                </a:extLst>
              </p:cNvPr>
              <p:cNvSpPr/>
              <p:nvPr/>
            </p:nvSpPr>
            <p:spPr>
              <a:xfrm>
                <a:off x="715831" y="915085"/>
                <a:ext cx="5417128" cy="1820427"/>
              </a:xfrm>
              <a:prstGeom prst="round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1C2D5E4E-4A68-152B-3053-A3CE8C81B17D}"/>
                  </a:ext>
                </a:extLst>
              </p:cNvPr>
              <p:cNvSpPr txBox="1"/>
              <p:nvPr/>
            </p:nvSpPr>
            <p:spPr>
              <a:xfrm>
                <a:off x="1236372" y="2141858"/>
                <a:ext cx="2752652" cy="894183"/>
              </a:xfrm>
              <a:prstGeom prst="rect">
                <a:avLst/>
              </a:prstGeom>
            </p:spPr>
            <p:txBody>
              <a:bodyPr wrap="square" lIns="0" tIns="0" rIns="0" bIns="0" rtlCol="0" anchor="t">
                <a:spAutoFit/>
              </a:bodyPr>
              <a:lstStyle/>
              <a:p>
                <a:pPr>
                  <a:lnSpc>
                    <a:spcPts val="3479"/>
                  </a:lnSpc>
                </a:pPr>
                <a:r>
                  <a:rPr lang="en-US" sz="140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12</a:t>
                </a:r>
              </a:p>
            </p:txBody>
          </p:sp>
          <p:sp>
            <p:nvSpPr>
              <p:cNvPr id="5" name="TextBox 4">
                <a:extLst>
                  <a:ext uri="{FF2B5EF4-FFF2-40B4-BE49-F238E27FC236}">
                    <a16:creationId xmlns:a16="http://schemas.microsoft.com/office/drawing/2014/main" id="{A0382ED5-6796-342B-9FDB-F59B5CEBEEB1}"/>
                  </a:ext>
                </a:extLst>
              </p:cNvPr>
              <p:cNvSpPr txBox="1"/>
              <p:nvPr/>
            </p:nvSpPr>
            <p:spPr>
              <a:xfrm>
                <a:off x="3294730" y="1241227"/>
                <a:ext cx="4490350" cy="839589"/>
              </a:xfrm>
              <a:prstGeom prst="rect">
                <a:avLst/>
              </a:prstGeom>
            </p:spPr>
            <p:txBody>
              <a:bodyPr wrap="square" lIns="0" tIns="0" rIns="0" bIns="0" rtlCol="0" anchor="t">
                <a:spAutoFit/>
              </a:bodyPr>
              <a:lstStyle/>
              <a:p>
                <a:pPr>
                  <a:lnSpc>
                    <a:spcPts val="3479"/>
                  </a:lnSpc>
                </a:pPr>
                <a:r>
                  <a:rPr lang="en-US"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WORKERS OVERSEEING </a:t>
                </a:r>
              </a:p>
              <a:p>
                <a:pPr>
                  <a:lnSpc>
                    <a:spcPts val="3479"/>
                  </a:lnSpc>
                </a:pPr>
                <a:r>
                  <a:rPr lang="en-US"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AN AI SYSTEM </a:t>
                </a:r>
              </a:p>
            </p:txBody>
          </p:sp>
        </p:grpSp>
        <p:grpSp>
          <p:nvGrpSpPr>
            <p:cNvPr id="13" name="Group 12">
              <a:extLst>
                <a:ext uri="{FF2B5EF4-FFF2-40B4-BE49-F238E27FC236}">
                  <a16:creationId xmlns:a16="http://schemas.microsoft.com/office/drawing/2014/main" id="{E2EB7861-8560-FEA3-196B-E846CA2B562A}"/>
                </a:ext>
              </a:extLst>
            </p:cNvPr>
            <p:cNvGrpSpPr/>
            <p:nvPr/>
          </p:nvGrpSpPr>
          <p:grpSpPr>
            <a:xfrm>
              <a:off x="2316788" y="4181862"/>
              <a:ext cx="11499981" cy="2035106"/>
              <a:chOff x="1662545" y="4296017"/>
              <a:chExt cx="11499981" cy="2035106"/>
            </a:xfrm>
          </p:grpSpPr>
          <p:sp>
            <p:nvSpPr>
              <p:cNvPr id="12" name="Rounded Rectangle 11">
                <a:extLst>
                  <a:ext uri="{FF2B5EF4-FFF2-40B4-BE49-F238E27FC236}">
                    <a16:creationId xmlns:a16="http://schemas.microsoft.com/office/drawing/2014/main" id="{D1D5528C-6102-7AAC-3757-1ABCD5902E9C}"/>
                  </a:ext>
                </a:extLst>
              </p:cNvPr>
              <p:cNvSpPr/>
              <p:nvPr/>
            </p:nvSpPr>
            <p:spPr>
              <a:xfrm>
                <a:off x="1662545" y="4296017"/>
                <a:ext cx="6899563" cy="1820427"/>
              </a:xfrm>
              <a:prstGeom prst="round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3D0F2159-3309-FB2D-104F-089766391879}"/>
                  </a:ext>
                </a:extLst>
              </p:cNvPr>
              <p:cNvSpPr txBox="1"/>
              <p:nvPr/>
            </p:nvSpPr>
            <p:spPr>
              <a:xfrm>
                <a:off x="1883261" y="5436940"/>
                <a:ext cx="3005570" cy="894183"/>
              </a:xfrm>
              <a:prstGeom prst="rect">
                <a:avLst/>
              </a:prstGeom>
            </p:spPr>
            <p:txBody>
              <a:bodyPr wrap="square" lIns="0" tIns="0" rIns="0" bIns="0" rtlCol="0" anchor="t">
                <a:spAutoFit/>
              </a:bodyPr>
              <a:lstStyle/>
              <a:p>
                <a:pPr>
                  <a:lnSpc>
                    <a:spcPts val="3479"/>
                  </a:lnSpc>
                </a:pPr>
                <a:r>
                  <a:rPr lang="en-US" sz="140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28</a:t>
                </a:r>
              </a:p>
            </p:txBody>
          </p:sp>
          <p:sp>
            <p:nvSpPr>
              <p:cNvPr id="4" name="TextBox 3">
                <a:extLst>
                  <a:ext uri="{FF2B5EF4-FFF2-40B4-BE49-F238E27FC236}">
                    <a16:creationId xmlns:a16="http://schemas.microsoft.com/office/drawing/2014/main" id="{06539DCC-AE2A-DADD-450C-C82EB2AEF5B8}"/>
                  </a:ext>
                </a:extLst>
              </p:cNvPr>
              <p:cNvSpPr txBox="1"/>
              <p:nvPr/>
            </p:nvSpPr>
            <p:spPr>
              <a:xfrm>
                <a:off x="3841802" y="5123048"/>
                <a:ext cx="3959604" cy="553037"/>
              </a:xfrm>
              <a:prstGeom prst="rect">
                <a:avLst/>
              </a:prstGeom>
            </p:spPr>
            <p:txBody>
              <a:bodyPr wrap="square" lIns="0" tIns="0" rIns="0" bIns="0" rtlCol="0" anchor="t">
                <a:spAutoFit/>
              </a:bodyPr>
              <a:lstStyle/>
              <a:p>
                <a:pPr>
                  <a:lnSpc>
                    <a:spcPts val="3479"/>
                  </a:lnSpc>
                </a:pPr>
                <a:r>
                  <a:rPr lang="en-US" sz="72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million</a:t>
                </a:r>
              </a:p>
            </p:txBody>
          </p:sp>
          <p:sp>
            <p:nvSpPr>
              <p:cNvPr id="7" name="TextBox 6">
                <a:extLst>
                  <a:ext uri="{FF2B5EF4-FFF2-40B4-BE49-F238E27FC236}">
                    <a16:creationId xmlns:a16="http://schemas.microsoft.com/office/drawing/2014/main" id="{F42F9CF9-BD79-6888-7BF5-D3F52DC0B1A3}"/>
                  </a:ext>
                </a:extLst>
              </p:cNvPr>
              <p:cNvSpPr txBox="1"/>
              <p:nvPr/>
            </p:nvSpPr>
            <p:spPr>
              <a:xfrm>
                <a:off x="6887815" y="5001848"/>
                <a:ext cx="6274711" cy="408766"/>
              </a:xfrm>
              <a:prstGeom prst="rect">
                <a:avLst/>
              </a:prstGeom>
            </p:spPr>
            <p:txBody>
              <a:bodyPr wrap="square" lIns="0" tIns="0" rIns="0" bIns="0" rtlCol="0" anchor="t">
                <a:spAutoFit/>
              </a:bodyPr>
              <a:lstStyle/>
              <a:p>
                <a:pPr>
                  <a:lnSpc>
                    <a:spcPts val="3479"/>
                  </a:lnSpc>
                </a:pPr>
                <a:r>
                  <a:rPr lang="en-US" sz="2000"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BRAZILIANS</a:t>
                </a:r>
              </a:p>
            </p:txBody>
          </p:sp>
        </p:grpSp>
        <p:sp>
          <p:nvSpPr>
            <p:cNvPr id="9" name="TextBox 8">
              <a:extLst>
                <a:ext uri="{FF2B5EF4-FFF2-40B4-BE49-F238E27FC236}">
                  <a16:creationId xmlns:a16="http://schemas.microsoft.com/office/drawing/2014/main" id="{36836B1F-7AC2-CFE8-A5E9-D07F61CBEDA2}"/>
                </a:ext>
              </a:extLst>
            </p:cNvPr>
            <p:cNvSpPr txBox="1"/>
            <p:nvPr/>
          </p:nvSpPr>
          <p:spPr>
            <a:xfrm>
              <a:off x="1594913" y="3160052"/>
              <a:ext cx="6587836" cy="541174"/>
            </a:xfrm>
            <a:prstGeom prst="rect">
              <a:avLst/>
            </a:prstGeom>
            <a:noFill/>
          </p:spPr>
          <p:txBody>
            <a:bodyPr wrap="square">
              <a:spAutoFit/>
            </a:bodyPr>
            <a:lstStyle/>
            <a:p>
              <a:pPr algn="ctr">
                <a:lnSpc>
                  <a:spcPts val="3479"/>
                </a:lnSpc>
              </a:pPr>
              <a:r>
                <a:rPr lang="en-US" sz="3000" b="1" i="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ADMINISTERING BENEFITS TO </a:t>
              </a:r>
            </a:p>
          </p:txBody>
        </p:sp>
      </p:grpSp>
      <p:grpSp>
        <p:nvGrpSpPr>
          <p:cNvPr id="19" name="Group 18">
            <a:extLst>
              <a:ext uri="{FF2B5EF4-FFF2-40B4-BE49-F238E27FC236}">
                <a16:creationId xmlns:a16="http://schemas.microsoft.com/office/drawing/2014/main" id="{C64EA7FA-BC13-AE95-0DD0-01BFA9B5F450}"/>
              </a:ext>
            </a:extLst>
          </p:cNvPr>
          <p:cNvGrpSpPr/>
          <p:nvPr/>
        </p:nvGrpSpPr>
        <p:grpSpPr>
          <a:xfrm>
            <a:off x="2231049" y="6314049"/>
            <a:ext cx="4405279" cy="467689"/>
            <a:chOff x="2231049" y="6314049"/>
            <a:chExt cx="4405279" cy="467689"/>
          </a:xfrm>
        </p:grpSpPr>
        <p:sp>
          <p:nvSpPr>
            <p:cNvPr id="11" name="TextBox 10">
              <a:extLst>
                <a:ext uri="{FF2B5EF4-FFF2-40B4-BE49-F238E27FC236}">
                  <a16:creationId xmlns:a16="http://schemas.microsoft.com/office/drawing/2014/main" id="{B895F9FD-3025-6045-94AF-12E4ADDB8B6F}"/>
                </a:ext>
              </a:extLst>
            </p:cNvPr>
            <p:cNvSpPr txBox="1"/>
            <p:nvPr/>
          </p:nvSpPr>
          <p:spPr>
            <a:xfrm>
              <a:off x="2894392" y="6314049"/>
              <a:ext cx="3741936" cy="378693"/>
            </a:xfrm>
            <a:prstGeom prst="rect">
              <a:avLst/>
            </a:prstGeom>
          </p:spPr>
          <p:txBody>
            <a:bodyPr wrap="square" lIns="0" tIns="0" rIns="0" bIns="0" rtlCol="0" anchor="t">
              <a:spAutoFit/>
            </a:bodyPr>
            <a:lstStyle/>
            <a:p>
              <a:pPr algn="ctr">
                <a:lnSpc>
                  <a:spcPts val="3479"/>
                </a:lnSpc>
              </a:pPr>
              <a:r>
                <a:rPr lang="en-US" sz="1400" i="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BRAZIL’S INSS AUTOMATED BENEFIT SYSTEM</a:t>
              </a:r>
            </a:p>
          </p:txBody>
        </p:sp>
        <p:pic>
          <p:nvPicPr>
            <p:cNvPr id="1030" name="Picture 6" descr="Instituto Nacional do Seguro Social - Wikipedia">
              <a:extLst>
                <a:ext uri="{FF2B5EF4-FFF2-40B4-BE49-F238E27FC236}">
                  <a16:creationId xmlns:a16="http://schemas.microsoft.com/office/drawing/2014/main" id="{9A67D5E0-C73F-1B80-5CA9-CCDAF28719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1049" y="6365238"/>
              <a:ext cx="688832" cy="4165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70623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F2AB2-871A-AA66-E06C-E542D85610FB}"/>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9EACB07E-6755-85D5-73A8-D9F197DD5008}"/>
              </a:ext>
            </a:extLst>
          </p:cNvPr>
          <p:cNvGrpSpPr/>
          <p:nvPr/>
        </p:nvGrpSpPr>
        <p:grpSpPr>
          <a:xfrm>
            <a:off x="500063" y="1565761"/>
            <a:ext cx="9029700" cy="4281907"/>
            <a:chOff x="138879" y="1816968"/>
            <a:chExt cx="9488200" cy="4281907"/>
          </a:xfrm>
        </p:grpSpPr>
        <p:sp>
          <p:nvSpPr>
            <p:cNvPr id="9" name="Rectangle 8">
              <a:extLst>
                <a:ext uri="{FF2B5EF4-FFF2-40B4-BE49-F238E27FC236}">
                  <a16:creationId xmlns:a16="http://schemas.microsoft.com/office/drawing/2014/main" id="{FFA9B86A-B290-154B-77C4-3FB51628F825}"/>
                </a:ext>
              </a:extLst>
            </p:cNvPr>
            <p:cNvSpPr/>
            <p:nvPr/>
          </p:nvSpPr>
          <p:spPr>
            <a:xfrm>
              <a:off x="138879" y="1816968"/>
              <a:ext cx="4629918" cy="4281906"/>
            </a:xfrm>
            <a:prstGeom prst="rect">
              <a:avLst/>
            </a:prstGeom>
            <a:solidFill>
              <a:srgbClr val="DAF2D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0893F7E-A719-4D00-4015-019C79E514F8}"/>
                </a:ext>
              </a:extLst>
            </p:cNvPr>
            <p:cNvSpPr/>
            <p:nvPr/>
          </p:nvSpPr>
          <p:spPr>
            <a:xfrm>
              <a:off x="4997161" y="1816969"/>
              <a:ext cx="4629918" cy="4281906"/>
            </a:xfrm>
            <a:prstGeom prst="rect">
              <a:avLst/>
            </a:prstGeom>
            <a:solidFill>
              <a:srgbClr val="DAF2D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7" name="TextBox 46">
            <a:extLst>
              <a:ext uri="{FF2B5EF4-FFF2-40B4-BE49-F238E27FC236}">
                <a16:creationId xmlns:a16="http://schemas.microsoft.com/office/drawing/2014/main" id="{2C57D23A-3B0B-59C2-344D-B009F2775167}"/>
              </a:ext>
            </a:extLst>
          </p:cNvPr>
          <p:cNvSpPr txBox="1"/>
          <p:nvPr/>
        </p:nvSpPr>
        <p:spPr>
          <a:xfrm>
            <a:off x="600523" y="885067"/>
            <a:ext cx="8616644" cy="411779"/>
          </a:xfrm>
          <a:prstGeom prst="rect">
            <a:avLst/>
          </a:prstGeom>
        </p:spPr>
        <p:txBody>
          <a:bodyPr wrap="square" lIns="0" tIns="0" rIns="0" bIns="0" rtlCol="0" anchor="t">
            <a:spAutoFit/>
          </a:bodyPr>
          <a:lstStyle/>
          <a:p>
            <a:pPr>
              <a:lnSpc>
                <a:spcPts val="3479"/>
              </a:lnSpc>
            </a:pPr>
            <a:r>
              <a:rPr lang="en-US" sz="25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Overview and Introduction</a:t>
            </a:r>
          </a:p>
        </p:txBody>
      </p:sp>
      <p:sp>
        <p:nvSpPr>
          <p:cNvPr id="8" name="Round Same-side Corner of Rectangle 7">
            <a:extLst>
              <a:ext uri="{FF2B5EF4-FFF2-40B4-BE49-F238E27FC236}">
                <a16:creationId xmlns:a16="http://schemas.microsoft.com/office/drawing/2014/main" id="{612AEA57-BE7C-9170-E9E3-6F0528116A38}"/>
              </a:ext>
            </a:extLst>
          </p:cNvPr>
          <p:cNvSpPr/>
          <p:nvPr/>
        </p:nvSpPr>
        <p:spPr>
          <a:xfrm>
            <a:off x="1053572" y="1684749"/>
            <a:ext cx="3416261" cy="351990"/>
          </a:xfrm>
          <a:prstGeom prst="round2SameRect">
            <a:avLst/>
          </a:prstGeom>
          <a:no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About BRAVA Foundation</a:t>
            </a:r>
          </a:p>
        </p:txBody>
      </p:sp>
      <p:cxnSp>
        <p:nvCxnSpPr>
          <p:cNvPr id="11" name="Straight Connector 10">
            <a:extLst>
              <a:ext uri="{FF2B5EF4-FFF2-40B4-BE49-F238E27FC236}">
                <a16:creationId xmlns:a16="http://schemas.microsoft.com/office/drawing/2014/main" id="{03A6174F-C17B-7DA3-5CE4-2E6453EC928A}"/>
              </a:ext>
            </a:extLst>
          </p:cNvPr>
          <p:cNvCxnSpPr>
            <a:cxnSpLocks/>
          </p:cNvCxnSpPr>
          <p:nvPr/>
        </p:nvCxnSpPr>
        <p:spPr>
          <a:xfrm>
            <a:off x="864158" y="2046027"/>
            <a:ext cx="3644637" cy="0"/>
          </a:xfrm>
          <a:prstGeom prst="line">
            <a:avLst/>
          </a:prstGeom>
          <a:ln w="9525">
            <a:solidFill>
              <a:schemeClr val="accent3"/>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9733F0CF-CA8A-C49A-412E-06F665B14399}"/>
              </a:ext>
            </a:extLst>
          </p:cNvPr>
          <p:cNvSpPr>
            <a:spLocks noChangeAspect="1"/>
          </p:cNvSpPr>
          <p:nvPr/>
        </p:nvSpPr>
        <p:spPr>
          <a:xfrm>
            <a:off x="5771251" y="2253879"/>
            <a:ext cx="3247194" cy="2720584"/>
          </a:xfrm>
          <a:prstGeom prst="rect">
            <a:avLst/>
          </a:prstGeom>
          <a:blipFill>
            <a:blip r:embed="rId2"/>
            <a:stretch>
              <a:fillRect/>
            </a:stretch>
          </a:blip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 Same-side Corner of Rectangle 11">
            <a:extLst>
              <a:ext uri="{FF2B5EF4-FFF2-40B4-BE49-F238E27FC236}">
                <a16:creationId xmlns:a16="http://schemas.microsoft.com/office/drawing/2014/main" id="{752E1BE5-5168-9479-82B8-FBA5B903A155}"/>
              </a:ext>
            </a:extLst>
          </p:cNvPr>
          <p:cNvSpPr/>
          <p:nvPr/>
        </p:nvSpPr>
        <p:spPr>
          <a:xfrm>
            <a:off x="5668207" y="1694037"/>
            <a:ext cx="3416261" cy="351990"/>
          </a:xfrm>
          <a:prstGeom prst="round2SameRect">
            <a:avLst/>
          </a:prstGeom>
          <a:no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About the Team</a:t>
            </a:r>
          </a:p>
        </p:txBody>
      </p:sp>
      <p:cxnSp>
        <p:nvCxnSpPr>
          <p:cNvPr id="17" name="Straight Connector 16">
            <a:extLst>
              <a:ext uri="{FF2B5EF4-FFF2-40B4-BE49-F238E27FC236}">
                <a16:creationId xmlns:a16="http://schemas.microsoft.com/office/drawing/2014/main" id="{47D3A624-C6A8-83D0-4F43-BE46AA156671}"/>
              </a:ext>
            </a:extLst>
          </p:cNvPr>
          <p:cNvCxnSpPr>
            <a:cxnSpLocks/>
          </p:cNvCxnSpPr>
          <p:nvPr/>
        </p:nvCxnSpPr>
        <p:spPr>
          <a:xfrm>
            <a:off x="5572530" y="2063960"/>
            <a:ext cx="3644637" cy="0"/>
          </a:xfrm>
          <a:prstGeom prst="line">
            <a:avLst/>
          </a:prstGeom>
          <a:ln w="9525">
            <a:solidFill>
              <a:schemeClr val="accent3"/>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sp>
        <p:nvSpPr>
          <p:cNvPr id="18" name="Freeform 9">
            <a:extLst>
              <a:ext uri="{FF2B5EF4-FFF2-40B4-BE49-F238E27FC236}">
                <a16:creationId xmlns:a16="http://schemas.microsoft.com/office/drawing/2014/main" id="{BAAA54F2-64CA-8931-B709-0FE6DF1D52F4}"/>
              </a:ext>
            </a:extLst>
          </p:cNvPr>
          <p:cNvSpPr/>
          <p:nvPr/>
        </p:nvSpPr>
        <p:spPr>
          <a:xfrm>
            <a:off x="1866310" y="1836583"/>
            <a:ext cx="1500345" cy="830886"/>
          </a:xfrm>
          <a:custGeom>
            <a:avLst/>
            <a:gdLst/>
            <a:ahLst/>
            <a:cxnLst/>
            <a:rect l="l" t="t" r="r" b="b"/>
            <a:pathLst>
              <a:path w="4201583" h="2785398">
                <a:moveTo>
                  <a:pt x="0" y="0"/>
                </a:moveTo>
                <a:lnTo>
                  <a:pt x="4201583" y="0"/>
                </a:lnTo>
                <a:lnTo>
                  <a:pt x="4201583" y="2785398"/>
                </a:lnTo>
                <a:lnTo>
                  <a:pt x="0" y="2785398"/>
                </a:lnTo>
                <a:lnTo>
                  <a:pt x="0" y="0"/>
                </a:lnTo>
                <a:close/>
              </a:path>
            </a:pathLst>
          </a:custGeom>
          <a:blipFill>
            <a:blip r:embed="rId3"/>
            <a:stretch>
              <a:fillRect/>
            </a:stretch>
          </a:blipFill>
        </p:spPr>
        <p:txBody>
          <a:bodyPr/>
          <a:lstStyle/>
          <a:p>
            <a:endParaRPr lang="en-US"/>
          </a:p>
        </p:txBody>
      </p:sp>
      <p:sp>
        <p:nvSpPr>
          <p:cNvPr id="19" name="TextBox 18">
            <a:extLst>
              <a:ext uri="{FF2B5EF4-FFF2-40B4-BE49-F238E27FC236}">
                <a16:creationId xmlns:a16="http://schemas.microsoft.com/office/drawing/2014/main" id="{3CCF05F2-793F-DECF-EBC6-1FBFC4E2A8C2}"/>
              </a:ext>
            </a:extLst>
          </p:cNvPr>
          <p:cNvSpPr txBox="1"/>
          <p:nvPr/>
        </p:nvSpPr>
        <p:spPr>
          <a:xfrm>
            <a:off x="5309438" y="5089518"/>
            <a:ext cx="4133798" cy="1169551"/>
          </a:xfrm>
          <a:prstGeom prst="rect">
            <a:avLst/>
          </a:prstGeom>
          <a:noFill/>
        </p:spPr>
        <p:txBody>
          <a:bodyPr wrap="square" rtlCol="0">
            <a:spAutoFit/>
          </a:bodyPr>
          <a:lstStyle/>
          <a:p>
            <a:pPr algn="ctr"/>
            <a:r>
              <a:rPr lang="en-US" sz="1400" i="1" dirty="0">
                <a:latin typeface="Times New Roman" panose="02020603050405020304" pitchFamily="18" charset="0"/>
                <a:cs typeface="Times New Roman" panose="02020603050405020304" pitchFamily="18" charset="0"/>
              </a:rPr>
              <a:t>Sanjana Aravamudhan, Bojana Starcevic, Jamal Washington, Jonathan Echavarria, Anshima Varma, Mardiantika </a:t>
            </a:r>
            <a:r>
              <a:rPr lang="en-US" sz="1400" i="1" dirty="0" err="1">
                <a:latin typeface="Times New Roman" panose="02020603050405020304" pitchFamily="18" charset="0"/>
                <a:cs typeface="Times New Roman" panose="02020603050405020304" pitchFamily="18" charset="0"/>
              </a:rPr>
              <a:t>Watubun</a:t>
            </a:r>
            <a:endParaRPr lang="en-US" sz="1400" i="1" dirty="0">
              <a:latin typeface="Times New Roman" panose="02020603050405020304" pitchFamily="18" charset="0"/>
              <a:cs typeface="Times New Roman" panose="02020603050405020304" pitchFamily="18" charset="0"/>
            </a:endParaRPr>
          </a:p>
          <a:p>
            <a:pPr algn="ctr"/>
            <a:endParaRPr lang="en-US" sz="1400" i="1" dirty="0">
              <a:latin typeface="Times New Roman" panose="02020603050405020304" pitchFamily="18" charset="0"/>
              <a:cs typeface="Times New Roman" panose="02020603050405020304" pitchFamily="18" charset="0"/>
            </a:endParaRPr>
          </a:p>
          <a:p>
            <a:pPr algn="ctr"/>
            <a:endParaRPr lang="en-US" sz="1400" i="1"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D0C53D9B-87B6-8A9C-6FAB-364F75A34334}"/>
              </a:ext>
            </a:extLst>
          </p:cNvPr>
          <p:cNvSpPr txBox="1"/>
          <p:nvPr/>
        </p:nvSpPr>
        <p:spPr>
          <a:xfrm>
            <a:off x="600523" y="2667469"/>
            <a:ext cx="4133798" cy="227517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 non-profit organization established in 2000, aimed at building a more efficient, equitable, and resilient society</a:t>
            </a:r>
          </a:p>
          <a:p>
            <a:pPr marL="285750" indent="-285750">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BRAVA’s efforts are focused: </a:t>
            </a:r>
          </a:p>
          <a:p>
            <a:pPr marL="742950" lvl="1" indent="-285750">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Enhancing public sector management capabilities </a:t>
            </a:r>
          </a:p>
          <a:p>
            <a:pPr marL="742950" lvl="1" indent="-285750">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Supporting the development of innovative and high-impact initiatives </a:t>
            </a:r>
          </a:p>
          <a:p>
            <a:pPr marL="742950" lvl="1" indent="-285750">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Systematizing and disseminating evidence-based best practices </a:t>
            </a:r>
          </a:p>
        </p:txBody>
      </p:sp>
      <p:sp>
        <p:nvSpPr>
          <p:cNvPr id="24" name="TextBox 23">
            <a:extLst>
              <a:ext uri="{FF2B5EF4-FFF2-40B4-BE49-F238E27FC236}">
                <a16:creationId xmlns:a16="http://schemas.microsoft.com/office/drawing/2014/main" id="{083A944A-2DEF-5F84-5479-D9944A5ED8EF}"/>
              </a:ext>
            </a:extLst>
          </p:cNvPr>
          <p:cNvSpPr txBox="1"/>
          <p:nvPr/>
        </p:nvSpPr>
        <p:spPr>
          <a:xfrm>
            <a:off x="636257" y="4974463"/>
            <a:ext cx="4133798" cy="646331"/>
          </a:xfrm>
          <a:prstGeom prst="rect">
            <a:avLst/>
          </a:prstGeom>
          <a:solidFill>
            <a:schemeClr val="accent3"/>
          </a:solidFill>
          <a:effectLst>
            <a:outerShdw blurRad="50800" dist="38100" dir="2700000" algn="tl" rotWithShape="0">
              <a:prstClr val="black">
                <a:alpha val="40000"/>
              </a:prstClr>
            </a:outerShdw>
          </a:effectLst>
        </p:spPr>
        <p:txBody>
          <a:bodyPr wrap="square">
            <a:spAutoFit/>
          </a:bodyPr>
          <a:lstStyle/>
          <a:p>
            <a:pPr indent="-198120" algn="ctr"/>
            <a:r>
              <a:rPr lang="en-US" sz="1200" b="1" dirty="0">
                <a:solidFill>
                  <a:schemeClr val="bg1"/>
                </a:solidFill>
                <a:latin typeface="Times New Roman" panose="02020603050405020304" pitchFamily="18" charset="0"/>
                <a:ea typeface="Poppins"/>
                <a:cs typeface="Times New Roman" panose="02020603050405020304" pitchFamily="18" charset="0"/>
                <a:sym typeface="Poppins"/>
              </a:rPr>
              <a:t>BRAVA aims to understand where philanthropic investment, partnership-building, and convening can advance public-interest AI in Brazil.</a:t>
            </a:r>
          </a:p>
        </p:txBody>
      </p:sp>
    </p:spTree>
    <p:extLst>
      <p:ext uri="{BB962C8B-B14F-4D97-AF65-F5344CB8AC3E}">
        <p14:creationId xmlns:p14="http://schemas.microsoft.com/office/powerpoint/2010/main" val="2980027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CE798-360C-CC91-37F5-F8DD07518A4A}"/>
            </a:ext>
          </a:extLst>
        </p:cNvPr>
        <p:cNvGrpSpPr/>
        <p:nvPr/>
      </p:nvGrpSpPr>
      <p:grpSpPr>
        <a:xfrm>
          <a:off x="0" y="0"/>
          <a:ext cx="0" cy="0"/>
          <a:chOff x="0" y="0"/>
          <a:chExt cx="0" cy="0"/>
        </a:xfrm>
      </p:grpSpPr>
      <p:cxnSp>
        <p:nvCxnSpPr>
          <p:cNvPr id="45" name="Elbow Connector 44">
            <a:extLst>
              <a:ext uri="{FF2B5EF4-FFF2-40B4-BE49-F238E27FC236}">
                <a16:creationId xmlns:a16="http://schemas.microsoft.com/office/drawing/2014/main" id="{B95F59A5-DDC5-85FC-8358-E466A2859B74}"/>
              </a:ext>
            </a:extLst>
          </p:cNvPr>
          <p:cNvCxnSpPr>
            <a:cxnSpLocks/>
            <a:stCxn id="55" idx="2"/>
            <a:endCxn id="31" idx="0"/>
          </p:cNvCxnSpPr>
          <p:nvPr/>
        </p:nvCxnSpPr>
        <p:spPr>
          <a:xfrm rot="16200000" flipH="1">
            <a:off x="4851087" y="3809771"/>
            <a:ext cx="1358224" cy="1106357"/>
          </a:xfrm>
          <a:prstGeom prst="bentConnector3">
            <a:avLst>
              <a:gd name="adj1" fmla="val 50000"/>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49" name="Elbow Connector 48">
            <a:extLst>
              <a:ext uri="{FF2B5EF4-FFF2-40B4-BE49-F238E27FC236}">
                <a16:creationId xmlns:a16="http://schemas.microsoft.com/office/drawing/2014/main" id="{C710FF6D-E9A3-76BD-4FB1-09AA3E4CA636}"/>
              </a:ext>
            </a:extLst>
          </p:cNvPr>
          <p:cNvCxnSpPr>
            <a:cxnSpLocks/>
            <a:stCxn id="55" idx="2"/>
            <a:endCxn id="30" idx="0"/>
          </p:cNvCxnSpPr>
          <p:nvPr/>
        </p:nvCxnSpPr>
        <p:spPr>
          <a:xfrm rot="5400000">
            <a:off x="3736835" y="3801876"/>
            <a:ext cx="1358224" cy="1122149"/>
          </a:xfrm>
          <a:prstGeom prst="bentConnector3">
            <a:avLst>
              <a:gd name="adj1" fmla="val 50000"/>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C6E40B9D-8FD9-AD97-28A2-08AC9E7CCE06}"/>
              </a:ext>
            </a:extLst>
          </p:cNvPr>
          <p:cNvCxnSpPr>
            <a:cxnSpLocks/>
            <a:stCxn id="55" idx="2"/>
            <a:endCxn id="29" idx="0"/>
          </p:cNvCxnSpPr>
          <p:nvPr/>
        </p:nvCxnSpPr>
        <p:spPr>
          <a:xfrm rot="5400000">
            <a:off x="2622582" y="2687623"/>
            <a:ext cx="1358224" cy="3350654"/>
          </a:xfrm>
          <a:prstGeom prst="bentConnector3">
            <a:avLst>
              <a:gd name="adj1" fmla="val 50000"/>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18D62B15-B2F5-79E6-47E9-7A7ACAA73B5B}"/>
              </a:ext>
            </a:extLst>
          </p:cNvPr>
          <p:cNvCxnSpPr>
            <a:cxnSpLocks/>
            <a:stCxn id="55" idx="2"/>
            <a:endCxn id="32" idx="0"/>
          </p:cNvCxnSpPr>
          <p:nvPr/>
        </p:nvCxnSpPr>
        <p:spPr>
          <a:xfrm rot="16200000" flipH="1">
            <a:off x="5965340" y="2695519"/>
            <a:ext cx="1358224" cy="3334862"/>
          </a:xfrm>
          <a:prstGeom prst="bentConnector3">
            <a:avLst>
              <a:gd name="adj1" fmla="val 50000"/>
            </a:avLst>
          </a:prstGeom>
          <a:ln>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85E91A87-4138-5229-7DC1-4FF970444971}"/>
              </a:ext>
            </a:extLst>
          </p:cNvPr>
          <p:cNvGrpSpPr/>
          <p:nvPr/>
        </p:nvGrpSpPr>
        <p:grpSpPr>
          <a:xfrm>
            <a:off x="630621" y="1576915"/>
            <a:ext cx="8677008" cy="1242591"/>
            <a:chOff x="630621" y="1986453"/>
            <a:chExt cx="8660524" cy="1355834"/>
          </a:xfrm>
        </p:grpSpPr>
        <p:sp>
          <p:nvSpPr>
            <p:cNvPr id="13" name="Rectangle 12">
              <a:extLst>
                <a:ext uri="{FF2B5EF4-FFF2-40B4-BE49-F238E27FC236}">
                  <a16:creationId xmlns:a16="http://schemas.microsoft.com/office/drawing/2014/main" id="{43B6966A-8AE3-B5B1-D374-23665AFD4153}"/>
                </a:ext>
              </a:extLst>
            </p:cNvPr>
            <p:cNvSpPr/>
            <p:nvPr/>
          </p:nvSpPr>
          <p:spPr>
            <a:xfrm>
              <a:off x="630621" y="1986453"/>
              <a:ext cx="8660524" cy="1355834"/>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23EF145-F8FD-943D-A854-6C2AB561A3A1}"/>
                </a:ext>
              </a:extLst>
            </p:cNvPr>
            <p:cNvSpPr>
              <a:spLocks/>
            </p:cNvSpPr>
            <p:nvPr/>
          </p:nvSpPr>
          <p:spPr>
            <a:xfrm>
              <a:off x="751489" y="2083018"/>
              <a:ext cx="8434551" cy="1154168"/>
            </a:xfrm>
            <a:prstGeom prst="rect">
              <a:avLst/>
            </a:prstGeom>
            <a:solidFill>
              <a:srgbClr val="FDE1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i="1" dirty="0">
                  <a:solidFill>
                    <a:srgbClr val="000000"/>
                  </a:solidFill>
                  <a:latin typeface="Times New Roman" panose="02020603050405020304" pitchFamily="18" charset="0"/>
                </a:rPr>
                <a:t>What are the highest-value initiatives and strategic steps BRAVA Foundation can undertake to maximise its contribution to advancing AI for public interest in Brazil?</a:t>
              </a:r>
              <a:endParaRPr lang="en-US" sz="1600" i="1" dirty="0"/>
            </a:p>
          </p:txBody>
        </p:sp>
      </p:grpSp>
      <p:sp>
        <p:nvSpPr>
          <p:cNvPr id="47" name="TextBox 46">
            <a:extLst>
              <a:ext uri="{FF2B5EF4-FFF2-40B4-BE49-F238E27FC236}">
                <a16:creationId xmlns:a16="http://schemas.microsoft.com/office/drawing/2014/main" id="{6664A5E6-0574-B981-DE8A-29E6DB719CFA}"/>
              </a:ext>
            </a:extLst>
          </p:cNvPr>
          <p:cNvSpPr txBox="1"/>
          <p:nvPr/>
        </p:nvSpPr>
        <p:spPr>
          <a:xfrm>
            <a:off x="600523" y="885067"/>
            <a:ext cx="8616644" cy="411779"/>
          </a:xfrm>
          <a:prstGeom prst="rect">
            <a:avLst/>
          </a:prstGeom>
        </p:spPr>
        <p:txBody>
          <a:bodyPr wrap="square" lIns="0" tIns="0" rIns="0" bIns="0" rtlCol="0" anchor="t">
            <a:spAutoFit/>
          </a:bodyPr>
          <a:lstStyle/>
          <a:p>
            <a:pPr>
              <a:lnSpc>
                <a:spcPts val="3479"/>
              </a:lnSpc>
            </a:pPr>
            <a:r>
              <a:rPr lang="en-US" sz="2500" b="1">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Research Objective</a:t>
            </a:r>
          </a:p>
        </p:txBody>
      </p:sp>
      <p:sp>
        <p:nvSpPr>
          <p:cNvPr id="11" name="Rectangle 10">
            <a:extLst>
              <a:ext uri="{FF2B5EF4-FFF2-40B4-BE49-F238E27FC236}">
                <a16:creationId xmlns:a16="http://schemas.microsoft.com/office/drawing/2014/main" id="{19F546A5-4599-6241-08D2-84CEC1161187}"/>
              </a:ext>
            </a:extLst>
          </p:cNvPr>
          <p:cNvSpPr/>
          <p:nvPr/>
        </p:nvSpPr>
        <p:spPr>
          <a:xfrm>
            <a:off x="3777877" y="1420562"/>
            <a:ext cx="2261935" cy="203882"/>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Central Research Question</a:t>
            </a:r>
          </a:p>
        </p:txBody>
      </p:sp>
      <p:cxnSp>
        <p:nvCxnSpPr>
          <p:cNvPr id="16" name="Elbow Connector 15">
            <a:extLst>
              <a:ext uri="{FF2B5EF4-FFF2-40B4-BE49-F238E27FC236}">
                <a16:creationId xmlns:a16="http://schemas.microsoft.com/office/drawing/2014/main" id="{054BFDFC-14AC-6A4D-107F-A243453F0B49}"/>
              </a:ext>
            </a:extLst>
          </p:cNvPr>
          <p:cNvCxnSpPr>
            <a:cxnSpLocks/>
            <a:stCxn id="55" idx="2"/>
            <a:endCxn id="17" idx="0"/>
          </p:cNvCxnSpPr>
          <p:nvPr/>
        </p:nvCxnSpPr>
        <p:spPr>
          <a:xfrm rot="5400000">
            <a:off x="3200045" y="2110160"/>
            <a:ext cx="203299" cy="3350654"/>
          </a:xfrm>
          <a:prstGeom prst="bentConnector3">
            <a:avLst>
              <a:gd name="adj1" fmla="val 50000"/>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56D1B6D4-86C7-83ED-4406-D9DBCDC07424}"/>
              </a:ext>
            </a:extLst>
          </p:cNvPr>
          <p:cNvSpPr/>
          <p:nvPr/>
        </p:nvSpPr>
        <p:spPr>
          <a:xfrm>
            <a:off x="630621" y="3887137"/>
            <a:ext cx="1991492" cy="866898"/>
          </a:xfrm>
          <a:prstGeom prst="rect">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lang="en-IN" sz="1000">
                <a:solidFill>
                  <a:srgbClr val="000000"/>
                </a:solidFill>
                <a:latin typeface="Times New Roman" panose="02020603050405020304" pitchFamily="18" charset="0"/>
              </a:rPr>
              <a:t>How do BRAVA’s current capabilities and priorities towards AI position it amongst its peers within the AI ecosystem of Brazil? </a:t>
            </a:r>
            <a:endParaRPr lang="en-US" sz="1000"/>
          </a:p>
        </p:txBody>
      </p:sp>
      <p:sp>
        <p:nvSpPr>
          <p:cNvPr id="19" name="Rectangle 18">
            <a:extLst>
              <a:ext uri="{FF2B5EF4-FFF2-40B4-BE49-F238E27FC236}">
                <a16:creationId xmlns:a16="http://schemas.microsoft.com/office/drawing/2014/main" id="{944028A2-B2FA-57F2-62BD-F7871833577A}"/>
              </a:ext>
            </a:extLst>
          </p:cNvPr>
          <p:cNvSpPr/>
          <p:nvPr/>
        </p:nvSpPr>
        <p:spPr>
          <a:xfrm>
            <a:off x="2859126" y="3887137"/>
            <a:ext cx="1991492" cy="866898"/>
          </a:xfrm>
          <a:prstGeom prst="rect">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lang="en-IN" sz="1000" dirty="0">
                <a:solidFill>
                  <a:srgbClr val="000000"/>
                </a:solidFill>
                <a:latin typeface="Times New Roman" panose="02020603050405020304" pitchFamily="18" charset="0"/>
              </a:rPr>
              <a:t>What is the current AI landscape in Brazil? Who are the key stakeholders?</a:t>
            </a:r>
            <a:endParaRPr lang="en-US" sz="1000" dirty="0"/>
          </a:p>
        </p:txBody>
      </p:sp>
      <p:sp>
        <p:nvSpPr>
          <p:cNvPr id="20" name="Rectangle 19">
            <a:extLst>
              <a:ext uri="{FF2B5EF4-FFF2-40B4-BE49-F238E27FC236}">
                <a16:creationId xmlns:a16="http://schemas.microsoft.com/office/drawing/2014/main" id="{FDBE4B56-40F3-5B50-AC9B-82A024B3388A}"/>
              </a:ext>
            </a:extLst>
          </p:cNvPr>
          <p:cNvSpPr/>
          <p:nvPr/>
        </p:nvSpPr>
        <p:spPr>
          <a:xfrm>
            <a:off x="5087632" y="3887137"/>
            <a:ext cx="1991492" cy="866898"/>
          </a:xfrm>
          <a:prstGeom prst="rect">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lang="en-IN" sz="1000">
                <a:solidFill>
                  <a:srgbClr val="000000"/>
                </a:solidFill>
                <a:latin typeface="Times New Roman" panose="02020603050405020304" pitchFamily="18" charset="0"/>
              </a:rPr>
              <a:t>What is public interest AI, and how should BRAVA define and approach work in this field?</a:t>
            </a:r>
            <a:endParaRPr lang="en-US" sz="1000"/>
          </a:p>
        </p:txBody>
      </p:sp>
      <p:sp>
        <p:nvSpPr>
          <p:cNvPr id="21" name="Rectangle 20">
            <a:extLst>
              <a:ext uri="{FF2B5EF4-FFF2-40B4-BE49-F238E27FC236}">
                <a16:creationId xmlns:a16="http://schemas.microsoft.com/office/drawing/2014/main" id="{367E88CA-F078-4A13-A443-47E45CE6E02B}"/>
              </a:ext>
            </a:extLst>
          </p:cNvPr>
          <p:cNvSpPr/>
          <p:nvPr/>
        </p:nvSpPr>
        <p:spPr>
          <a:xfrm>
            <a:off x="7316137" y="3887137"/>
            <a:ext cx="1991492" cy="866898"/>
          </a:xfrm>
          <a:prstGeom prst="rect">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lang="en-IN" sz="1000">
                <a:solidFill>
                  <a:srgbClr val="000000"/>
                </a:solidFill>
                <a:latin typeface="Times New Roman" panose="02020603050405020304" pitchFamily="18" charset="0"/>
              </a:rPr>
              <a:t>Which thematic areas of AI in the public sector offer the greatest opportunity for BRAVA to contribute meaningfully?</a:t>
            </a:r>
            <a:endParaRPr lang="en-US" sz="1000"/>
          </a:p>
        </p:txBody>
      </p:sp>
      <p:sp>
        <p:nvSpPr>
          <p:cNvPr id="29" name="Rectangle 28">
            <a:extLst>
              <a:ext uri="{FF2B5EF4-FFF2-40B4-BE49-F238E27FC236}">
                <a16:creationId xmlns:a16="http://schemas.microsoft.com/office/drawing/2014/main" id="{49BE6C14-1E06-44CE-152D-864AB4215513}"/>
              </a:ext>
            </a:extLst>
          </p:cNvPr>
          <p:cNvSpPr/>
          <p:nvPr/>
        </p:nvSpPr>
        <p:spPr>
          <a:xfrm>
            <a:off x="630621" y="5042062"/>
            <a:ext cx="1991492" cy="866898"/>
          </a:xfrm>
          <a:prstGeom prst="rect">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lang="en-IN" sz="1000">
                <a:solidFill>
                  <a:srgbClr val="000000"/>
                </a:solidFill>
                <a:latin typeface="Times New Roman" panose="02020603050405020304" pitchFamily="18" charset="0"/>
              </a:rPr>
              <a:t>What are the overall trends of AI in Brazil, looking specifically at investment and philanthropic flows? </a:t>
            </a:r>
            <a:endParaRPr lang="en-US" sz="1000"/>
          </a:p>
        </p:txBody>
      </p:sp>
      <p:sp>
        <p:nvSpPr>
          <p:cNvPr id="30" name="Rectangle 29">
            <a:extLst>
              <a:ext uri="{FF2B5EF4-FFF2-40B4-BE49-F238E27FC236}">
                <a16:creationId xmlns:a16="http://schemas.microsoft.com/office/drawing/2014/main" id="{03A7247A-8517-7FB5-E862-316F544C6342}"/>
              </a:ext>
            </a:extLst>
          </p:cNvPr>
          <p:cNvSpPr/>
          <p:nvPr/>
        </p:nvSpPr>
        <p:spPr>
          <a:xfrm>
            <a:off x="2859126" y="5042062"/>
            <a:ext cx="1991492" cy="866898"/>
          </a:xfrm>
          <a:prstGeom prst="rect">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lang="en-IN" sz="1000">
                <a:solidFill>
                  <a:srgbClr val="000000"/>
                </a:solidFill>
                <a:latin typeface="Times New Roman" panose="02020603050405020304" pitchFamily="18" charset="0"/>
              </a:rPr>
              <a:t>Which sub-sectors demonstrate gaps between intended policy and current initiative implementation? What are some of the gaps?</a:t>
            </a:r>
            <a:endParaRPr lang="en-US" sz="1000"/>
          </a:p>
        </p:txBody>
      </p:sp>
      <p:sp>
        <p:nvSpPr>
          <p:cNvPr id="31" name="Rectangle 30">
            <a:extLst>
              <a:ext uri="{FF2B5EF4-FFF2-40B4-BE49-F238E27FC236}">
                <a16:creationId xmlns:a16="http://schemas.microsoft.com/office/drawing/2014/main" id="{2BFCD9D9-24EC-C056-CBD9-86C489B6DDD4}"/>
              </a:ext>
            </a:extLst>
          </p:cNvPr>
          <p:cNvSpPr/>
          <p:nvPr/>
        </p:nvSpPr>
        <p:spPr>
          <a:xfrm>
            <a:off x="5087632" y="5042062"/>
            <a:ext cx="1991492" cy="866898"/>
          </a:xfrm>
          <a:prstGeom prst="rect">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lang="en-IN" sz="1000">
                <a:solidFill>
                  <a:srgbClr val="000000"/>
                </a:solidFill>
                <a:latin typeface="Times New Roman" panose="02020603050405020304" pitchFamily="18" charset="0"/>
              </a:rPr>
              <a:t>What are some of the global and regional best practices within the AI for the public goods sector?</a:t>
            </a:r>
            <a:endParaRPr lang="en-US" sz="1000"/>
          </a:p>
        </p:txBody>
      </p:sp>
      <p:sp>
        <p:nvSpPr>
          <p:cNvPr id="32" name="Rectangle 31">
            <a:extLst>
              <a:ext uri="{FF2B5EF4-FFF2-40B4-BE49-F238E27FC236}">
                <a16:creationId xmlns:a16="http://schemas.microsoft.com/office/drawing/2014/main" id="{003D1EEA-F593-2F32-0354-2038001E9BB0}"/>
              </a:ext>
            </a:extLst>
          </p:cNvPr>
          <p:cNvSpPr/>
          <p:nvPr/>
        </p:nvSpPr>
        <p:spPr>
          <a:xfrm>
            <a:off x="7316137" y="5042062"/>
            <a:ext cx="1991492" cy="866898"/>
          </a:xfrm>
          <a:prstGeom prst="rect">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lang="en-IN" sz="1000">
                <a:solidFill>
                  <a:srgbClr val="000000"/>
                </a:solidFill>
                <a:latin typeface="Times New Roman" panose="02020603050405020304" pitchFamily="18" charset="0"/>
              </a:rPr>
              <a:t>How do other organizations approach their funding models and advocacy strategies, and what can BRAVA learn from them? </a:t>
            </a:r>
            <a:endParaRPr lang="en-US" sz="1000"/>
          </a:p>
        </p:txBody>
      </p:sp>
      <p:cxnSp>
        <p:nvCxnSpPr>
          <p:cNvPr id="33" name="Elbow Connector 32">
            <a:extLst>
              <a:ext uri="{FF2B5EF4-FFF2-40B4-BE49-F238E27FC236}">
                <a16:creationId xmlns:a16="http://schemas.microsoft.com/office/drawing/2014/main" id="{B924E488-AE29-DDCF-3463-A27DD11C55BC}"/>
              </a:ext>
            </a:extLst>
          </p:cNvPr>
          <p:cNvCxnSpPr>
            <a:cxnSpLocks/>
            <a:stCxn id="55" idx="2"/>
            <a:endCxn id="19" idx="0"/>
          </p:cNvCxnSpPr>
          <p:nvPr/>
        </p:nvCxnSpPr>
        <p:spPr>
          <a:xfrm rot="5400000">
            <a:off x="4314298" y="3224413"/>
            <a:ext cx="203299" cy="1122149"/>
          </a:xfrm>
          <a:prstGeom prst="bentConnector3">
            <a:avLst>
              <a:gd name="adj1" fmla="val 50000"/>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36" name="Elbow Connector 35">
            <a:extLst>
              <a:ext uri="{FF2B5EF4-FFF2-40B4-BE49-F238E27FC236}">
                <a16:creationId xmlns:a16="http://schemas.microsoft.com/office/drawing/2014/main" id="{B00FBE23-589A-C408-9A30-497FF9F973BE}"/>
              </a:ext>
            </a:extLst>
          </p:cNvPr>
          <p:cNvCxnSpPr>
            <a:cxnSpLocks/>
            <a:stCxn id="55" idx="2"/>
            <a:endCxn id="20" idx="0"/>
          </p:cNvCxnSpPr>
          <p:nvPr/>
        </p:nvCxnSpPr>
        <p:spPr>
          <a:xfrm rot="16200000" flipH="1">
            <a:off x="5428550" y="3232308"/>
            <a:ext cx="203299" cy="1106357"/>
          </a:xfrm>
          <a:prstGeom prst="bentConnector3">
            <a:avLst>
              <a:gd name="adj1" fmla="val 50000"/>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39" name="Elbow Connector 38">
            <a:extLst>
              <a:ext uri="{FF2B5EF4-FFF2-40B4-BE49-F238E27FC236}">
                <a16:creationId xmlns:a16="http://schemas.microsoft.com/office/drawing/2014/main" id="{93F66DA6-6977-A74B-4D11-4F715A9EB204}"/>
              </a:ext>
            </a:extLst>
          </p:cNvPr>
          <p:cNvCxnSpPr>
            <a:cxnSpLocks/>
            <a:stCxn id="55" idx="2"/>
            <a:endCxn id="21" idx="0"/>
          </p:cNvCxnSpPr>
          <p:nvPr/>
        </p:nvCxnSpPr>
        <p:spPr>
          <a:xfrm rot="16200000" flipH="1">
            <a:off x="6542803" y="2118056"/>
            <a:ext cx="203299" cy="3334862"/>
          </a:xfrm>
          <a:prstGeom prst="bentConnector3">
            <a:avLst>
              <a:gd name="adj1" fmla="val 50000"/>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65F1A7BA-DD59-E960-5A6E-3E2ACE7024C2}"/>
              </a:ext>
            </a:extLst>
          </p:cNvPr>
          <p:cNvSpPr/>
          <p:nvPr/>
        </p:nvSpPr>
        <p:spPr>
          <a:xfrm>
            <a:off x="3673164" y="3479956"/>
            <a:ext cx="2607713" cy="203882"/>
          </a:xfrm>
          <a:prstGeom prst="rect">
            <a:avLst/>
          </a:prstGeom>
          <a:solidFill>
            <a:srgbClr val="FDE1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Secondary Research Questions</a:t>
            </a:r>
          </a:p>
        </p:txBody>
      </p:sp>
      <p:grpSp>
        <p:nvGrpSpPr>
          <p:cNvPr id="68" name="Group 67">
            <a:extLst>
              <a:ext uri="{FF2B5EF4-FFF2-40B4-BE49-F238E27FC236}">
                <a16:creationId xmlns:a16="http://schemas.microsoft.com/office/drawing/2014/main" id="{A31F7B44-FD2C-30F4-678C-EBABEF614C5E}"/>
              </a:ext>
            </a:extLst>
          </p:cNvPr>
          <p:cNvGrpSpPr/>
          <p:nvPr/>
        </p:nvGrpSpPr>
        <p:grpSpPr>
          <a:xfrm>
            <a:off x="690350" y="4927386"/>
            <a:ext cx="386191" cy="313765"/>
            <a:chOff x="690350" y="5114971"/>
            <a:chExt cx="386191" cy="313765"/>
          </a:xfrm>
        </p:grpSpPr>
        <p:sp>
          <p:nvSpPr>
            <p:cNvPr id="67" name="Trapezium 66">
              <a:extLst>
                <a:ext uri="{FF2B5EF4-FFF2-40B4-BE49-F238E27FC236}">
                  <a16:creationId xmlns:a16="http://schemas.microsoft.com/office/drawing/2014/main" id="{A4151ED0-73E1-DA90-FE92-18110E61F920}"/>
                </a:ext>
              </a:extLst>
            </p:cNvPr>
            <p:cNvSpPr/>
            <p:nvPr/>
          </p:nvSpPr>
          <p:spPr>
            <a:xfrm>
              <a:off x="817287" y="5114971"/>
              <a:ext cx="259254" cy="121916"/>
            </a:xfrm>
            <a:prstGeom prst="trapezoid">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ff-page Connector 64">
              <a:extLst>
                <a:ext uri="{FF2B5EF4-FFF2-40B4-BE49-F238E27FC236}">
                  <a16:creationId xmlns:a16="http://schemas.microsoft.com/office/drawing/2014/main" id="{EFA93DAE-A600-A739-2BB5-DE2C03F6DE06}"/>
                </a:ext>
              </a:extLst>
            </p:cNvPr>
            <p:cNvSpPr/>
            <p:nvPr/>
          </p:nvSpPr>
          <p:spPr>
            <a:xfrm>
              <a:off x="690350" y="5114971"/>
              <a:ext cx="319638" cy="313765"/>
            </a:xfrm>
            <a:prstGeom prst="flowChartOffpageConnector">
              <a:avLst/>
            </a:prstGeom>
            <a:solidFill>
              <a:srgbClr val="FCD5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5</a:t>
              </a:r>
            </a:p>
          </p:txBody>
        </p:sp>
      </p:grpSp>
      <p:grpSp>
        <p:nvGrpSpPr>
          <p:cNvPr id="69" name="Group 68">
            <a:extLst>
              <a:ext uri="{FF2B5EF4-FFF2-40B4-BE49-F238E27FC236}">
                <a16:creationId xmlns:a16="http://schemas.microsoft.com/office/drawing/2014/main" id="{E727FB4F-1CE6-06EC-2E29-84AB558DC3C7}"/>
              </a:ext>
            </a:extLst>
          </p:cNvPr>
          <p:cNvGrpSpPr/>
          <p:nvPr/>
        </p:nvGrpSpPr>
        <p:grpSpPr>
          <a:xfrm>
            <a:off x="691973" y="3767789"/>
            <a:ext cx="386191" cy="313765"/>
            <a:chOff x="690350" y="5114971"/>
            <a:chExt cx="386191" cy="313765"/>
          </a:xfrm>
        </p:grpSpPr>
        <p:sp>
          <p:nvSpPr>
            <p:cNvPr id="70" name="Trapezium 69">
              <a:extLst>
                <a:ext uri="{FF2B5EF4-FFF2-40B4-BE49-F238E27FC236}">
                  <a16:creationId xmlns:a16="http://schemas.microsoft.com/office/drawing/2014/main" id="{02AB40B7-1166-A7FB-9B7A-9F4EA54EAEEB}"/>
                </a:ext>
              </a:extLst>
            </p:cNvPr>
            <p:cNvSpPr/>
            <p:nvPr/>
          </p:nvSpPr>
          <p:spPr>
            <a:xfrm>
              <a:off x="817287" y="5114971"/>
              <a:ext cx="259254" cy="121916"/>
            </a:xfrm>
            <a:prstGeom prst="trapezoid">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ff-page Connector 70">
              <a:extLst>
                <a:ext uri="{FF2B5EF4-FFF2-40B4-BE49-F238E27FC236}">
                  <a16:creationId xmlns:a16="http://schemas.microsoft.com/office/drawing/2014/main" id="{13D58071-3656-8F46-C686-B5D2C98E1A78}"/>
                </a:ext>
              </a:extLst>
            </p:cNvPr>
            <p:cNvSpPr/>
            <p:nvPr/>
          </p:nvSpPr>
          <p:spPr>
            <a:xfrm>
              <a:off x="690350" y="5114971"/>
              <a:ext cx="319638" cy="313765"/>
            </a:xfrm>
            <a:prstGeom prst="flowChartOffpageConnector">
              <a:avLst/>
            </a:prstGeom>
            <a:solidFill>
              <a:srgbClr val="FCD5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1</a:t>
              </a:r>
            </a:p>
          </p:txBody>
        </p:sp>
      </p:grpSp>
      <p:grpSp>
        <p:nvGrpSpPr>
          <p:cNvPr id="72" name="Group 71">
            <a:extLst>
              <a:ext uri="{FF2B5EF4-FFF2-40B4-BE49-F238E27FC236}">
                <a16:creationId xmlns:a16="http://schemas.microsoft.com/office/drawing/2014/main" id="{D7BCD1FF-62DF-5CD4-64E9-661109D780A1}"/>
              </a:ext>
            </a:extLst>
          </p:cNvPr>
          <p:cNvGrpSpPr/>
          <p:nvPr/>
        </p:nvGrpSpPr>
        <p:grpSpPr>
          <a:xfrm>
            <a:off x="2920478" y="3768446"/>
            <a:ext cx="386191" cy="313765"/>
            <a:chOff x="690350" y="5114971"/>
            <a:chExt cx="386191" cy="313765"/>
          </a:xfrm>
        </p:grpSpPr>
        <p:sp>
          <p:nvSpPr>
            <p:cNvPr id="73" name="Trapezium 72">
              <a:extLst>
                <a:ext uri="{FF2B5EF4-FFF2-40B4-BE49-F238E27FC236}">
                  <a16:creationId xmlns:a16="http://schemas.microsoft.com/office/drawing/2014/main" id="{49C69030-49A9-A4F0-1ACB-B086B9728E57}"/>
                </a:ext>
              </a:extLst>
            </p:cNvPr>
            <p:cNvSpPr/>
            <p:nvPr/>
          </p:nvSpPr>
          <p:spPr>
            <a:xfrm>
              <a:off x="817287" y="5114971"/>
              <a:ext cx="259254" cy="121916"/>
            </a:xfrm>
            <a:prstGeom prst="trapezoid">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ff-page Connector 73">
              <a:extLst>
                <a:ext uri="{FF2B5EF4-FFF2-40B4-BE49-F238E27FC236}">
                  <a16:creationId xmlns:a16="http://schemas.microsoft.com/office/drawing/2014/main" id="{88CF421B-223F-E03A-9C97-EB802BCA3F2D}"/>
                </a:ext>
              </a:extLst>
            </p:cNvPr>
            <p:cNvSpPr/>
            <p:nvPr/>
          </p:nvSpPr>
          <p:spPr>
            <a:xfrm>
              <a:off x="690350" y="5114971"/>
              <a:ext cx="319638" cy="313765"/>
            </a:xfrm>
            <a:prstGeom prst="flowChartOffpageConnector">
              <a:avLst/>
            </a:prstGeom>
            <a:solidFill>
              <a:srgbClr val="FCD5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2</a:t>
              </a:r>
            </a:p>
          </p:txBody>
        </p:sp>
      </p:grpSp>
      <p:grpSp>
        <p:nvGrpSpPr>
          <p:cNvPr id="75" name="Group 74">
            <a:extLst>
              <a:ext uri="{FF2B5EF4-FFF2-40B4-BE49-F238E27FC236}">
                <a16:creationId xmlns:a16="http://schemas.microsoft.com/office/drawing/2014/main" id="{5864C2D1-98E5-B423-286D-9021474FA142}"/>
              </a:ext>
            </a:extLst>
          </p:cNvPr>
          <p:cNvGrpSpPr/>
          <p:nvPr/>
        </p:nvGrpSpPr>
        <p:grpSpPr>
          <a:xfrm>
            <a:off x="5148983" y="3769103"/>
            <a:ext cx="386191" cy="313765"/>
            <a:chOff x="690350" y="5114971"/>
            <a:chExt cx="386191" cy="313765"/>
          </a:xfrm>
        </p:grpSpPr>
        <p:sp>
          <p:nvSpPr>
            <p:cNvPr id="76" name="Trapezium 75">
              <a:extLst>
                <a:ext uri="{FF2B5EF4-FFF2-40B4-BE49-F238E27FC236}">
                  <a16:creationId xmlns:a16="http://schemas.microsoft.com/office/drawing/2014/main" id="{E0E335C1-F8BF-1F2B-5DFD-2A1E928DF905}"/>
                </a:ext>
              </a:extLst>
            </p:cNvPr>
            <p:cNvSpPr/>
            <p:nvPr/>
          </p:nvSpPr>
          <p:spPr>
            <a:xfrm>
              <a:off x="817287" y="5114971"/>
              <a:ext cx="259254" cy="121916"/>
            </a:xfrm>
            <a:prstGeom prst="trapezoid">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ff-page Connector 76">
              <a:extLst>
                <a:ext uri="{FF2B5EF4-FFF2-40B4-BE49-F238E27FC236}">
                  <a16:creationId xmlns:a16="http://schemas.microsoft.com/office/drawing/2014/main" id="{9BC35E72-E1DC-7DE0-A4CD-3BA37E18A41A}"/>
                </a:ext>
              </a:extLst>
            </p:cNvPr>
            <p:cNvSpPr/>
            <p:nvPr/>
          </p:nvSpPr>
          <p:spPr>
            <a:xfrm>
              <a:off x="690350" y="5114971"/>
              <a:ext cx="319638" cy="313765"/>
            </a:xfrm>
            <a:prstGeom prst="flowChartOffpageConnector">
              <a:avLst/>
            </a:prstGeom>
            <a:solidFill>
              <a:srgbClr val="FCD5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3</a:t>
              </a:r>
            </a:p>
          </p:txBody>
        </p:sp>
      </p:grpSp>
      <p:grpSp>
        <p:nvGrpSpPr>
          <p:cNvPr id="78" name="Group 77">
            <a:extLst>
              <a:ext uri="{FF2B5EF4-FFF2-40B4-BE49-F238E27FC236}">
                <a16:creationId xmlns:a16="http://schemas.microsoft.com/office/drawing/2014/main" id="{B1C073B1-F924-1B03-FF30-2F50A72F55C9}"/>
              </a:ext>
            </a:extLst>
          </p:cNvPr>
          <p:cNvGrpSpPr/>
          <p:nvPr/>
        </p:nvGrpSpPr>
        <p:grpSpPr>
          <a:xfrm>
            <a:off x="7377488" y="3769760"/>
            <a:ext cx="386191" cy="313765"/>
            <a:chOff x="690350" y="5114971"/>
            <a:chExt cx="386191" cy="313765"/>
          </a:xfrm>
        </p:grpSpPr>
        <p:sp>
          <p:nvSpPr>
            <p:cNvPr id="79" name="Trapezium 78">
              <a:extLst>
                <a:ext uri="{FF2B5EF4-FFF2-40B4-BE49-F238E27FC236}">
                  <a16:creationId xmlns:a16="http://schemas.microsoft.com/office/drawing/2014/main" id="{C7F12788-C59F-3BD2-917F-01B0DC5FBC03}"/>
                </a:ext>
              </a:extLst>
            </p:cNvPr>
            <p:cNvSpPr/>
            <p:nvPr/>
          </p:nvSpPr>
          <p:spPr>
            <a:xfrm>
              <a:off x="817287" y="5114971"/>
              <a:ext cx="259254" cy="121916"/>
            </a:xfrm>
            <a:prstGeom prst="trapezoid">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ff-page Connector 79">
              <a:extLst>
                <a:ext uri="{FF2B5EF4-FFF2-40B4-BE49-F238E27FC236}">
                  <a16:creationId xmlns:a16="http://schemas.microsoft.com/office/drawing/2014/main" id="{23C4E7DB-F449-F5AF-405C-4C8B42CFEA55}"/>
                </a:ext>
              </a:extLst>
            </p:cNvPr>
            <p:cNvSpPr/>
            <p:nvPr/>
          </p:nvSpPr>
          <p:spPr>
            <a:xfrm>
              <a:off x="690350" y="5114971"/>
              <a:ext cx="319638" cy="313765"/>
            </a:xfrm>
            <a:prstGeom prst="flowChartOffpageConnector">
              <a:avLst/>
            </a:prstGeom>
            <a:solidFill>
              <a:srgbClr val="FCD5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4</a:t>
              </a:r>
            </a:p>
          </p:txBody>
        </p:sp>
      </p:grpSp>
      <p:grpSp>
        <p:nvGrpSpPr>
          <p:cNvPr id="81" name="Group 80">
            <a:extLst>
              <a:ext uri="{FF2B5EF4-FFF2-40B4-BE49-F238E27FC236}">
                <a16:creationId xmlns:a16="http://schemas.microsoft.com/office/drawing/2014/main" id="{6024A31B-DC0B-BFA5-20E3-D7DE136A9523}"/>
              </a:ext>
            </a:extLst>
          </p:cNvPr>
          <p:cNvGrpSpPr/>
          <p:nvPr/>
        </p:nvGrpSpPr>
        <p:grpSpPr>
          <a:xfrm>
            <a:off x="2911555" y="4922866"/>
            <a:ext cx="386191" cy="313765"/>
            <a:chOff x="690350" y="5114971"/>
            <a:chExt cx="386191" cy="313765"/>
          </a:xfrm>
        </p:grpSpPr>
        <p:sp>
          <p:nvSpPr>
            <p:cNvPr id="82" name="Trapezium 81">
              <a:extLst>
                <a:ext uri="{FF2B5EF4-FFF2-40B4-BE49-F238E27FC236}">
                  <a16:creationId xmlns:a16="http://schemas.microsoft.com/office/drawing/2014/main" id="{453FE473-488F-5713-46C3-BDF19D789BFB}"/>
                </a:ext>
              </a:extLst>
            </p:cNvPr>
            <p:cNvSpPr/>
            <p:nvPr/>
          </p:nvSpPr>
          <p:spPr>
            <a:xfrm>
              <a:off x="817287" y="5114971"/>
              <a:ext cx="259254" cy="121916"/>
            </a:xfrm>
            <a:prstGeom prst="trapezoid">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ff-page Connector 82">
              <a:extLst>
                <a:ext uri="{FF2B5EF4-FFF2-40B4-BE49-F238E27FC236}">
                  <a16:creationId xmlns:a16="http://schemas.microsoft.com/office/drawing/2014/main" id="{F3DCBE9C-DB26-42E4-1887-0674D482C2F6}"/>
                </a:ext>
              </a:extLst>
            </p:cNvPr>
            <p:cNvSpPr/>
            <p:nvPr/>
          </p:nvSpPr>
          <p:spPr>
            <a:xfrm>
              <a:off x="690350" y="5114971"/>
              <a:ext cx="319638" cy="313765"/>
            </a:xfrm>
            <a:prstGeom prst="flowChartOffpageConnector">
              <a:avLst/>
            </a:prstGeom>
            <a:solidFill>
              <a:srgbClr val="FCD5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6</a:t>
              </a:r>
            </a:p>
          </p:txBody>
        </p:sp>
      </p:grpSp>
      <p:grpSp>
        <p:nvGrpSpPr>
          <p:cNvPr id="84" name="Group 83">
            <a:extLst>
              <a:ext uri="{FF2B5EF4-FFF2-40B4-BE49-F238E27FC236}">
                <a16:creationId xmlns:a16="http://schemas.microsoft.com/office/drawing/2014/main" id="{C519AA2A-93E8-71DD-CC5E-ECAA090C04B8}"/>
              </a:ext>
            </a:extLst>
          </p:cNvPr>
          <p:cNvGrpSpPr/>
          <p:nvPr/>
        </p:nvGrpSpPr>
        <p:grpSpPr>
          <a:xfrm>
            <a:off x="5132760" y="4918346"/>
            <a:ext cx="386191" cy="313765"/>
            <a:chOff x="690350" y="5114971"/>
            <a:chExt cx="386191" cy="313765"/>
          </a:xfrm>
        </p:grpSpPr>
        <p:sp>
          <p:nvSpPr>
            <p:cNvPr id="86" name="Trapezium 85">
              <a:extLst>
                <a:ext uri="{FF2B5EF4-FFF2-40B4-BE49-F238E27FC236}">
                  <a16:creationId xmlns:a16="http://schemas.microsoft.com/office/drawing/2014/main" id="{9A62C66C-627E-0AE9-39CF-E485074F23FB}"/>
                </a:ext>
              </a:extLst>
            </p:cNvPr>
            <p:cNvSpPr/>
            <p:nvPr/>
          </p:nvSpPr>
          <p:spPr>
            <a:xfrm>
              <a:off x="817287" y="5114971"/>
              <a:ext cx="259254" cy="121916"/>
            </a:xfrm>
            <a:prstGeom prst="trapezoid">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ff-page Connector 86">
              <a:extLst>
                <a:ext uri="{FF2B5EF4-FFF2-40B4-BE49-F238E27FC236}">
                  <a16:creationId xmlns:a16="http://schemas.microsoft.com/office/drawing/2014/main" id="{9322BBE8-C54F-3054-C17C-7E2ABE64879C}"/>
                </a:ext>
              </a:extLst>
            </p:cNvPr>
            <p:cNvSpPr/>
            <p:nvPr/>
          </p:nvSpPr>
          <p:spPr>
            <a:xfrm>
              <a:off x="690350" y="5114971"/>
              <a:ext cx="319638" cy="313765"/>
            </a:xfrm>
            <a:prstGeom prst="flowChartOffpageConnector">
              <a:avLst/>
            </a:prstGeom>
            <a:solidFill>
              <a:srgbClr val="FCD5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7</a:t>
              </a:r>
            </a:p>
          </p:txBody>
        </p:sp>
      </p:grpSp>
      <p:grpSp>
        <p:nvGrpSpPr>
          <p:cNvPr id="88" name="Group 87">
            <a:extLst>
              <a:ext uri="{FF2B5EF4-FFF2-40B4-BE49-F238E27FC236}">
                <a16:creationId xmlns:a16="http://schemas.microsoft.com/office/drawing/2014/main" id="{E1BFF73F-8C63-6E24-EFFB-F602DFB7B18F}"/>
              </a:ext>
            </a:extLst>
          </p:cNvPr>
          <p:cNvGrpSpPr/>
          <p:nvPr/>
        </p:nvGrpSpPr>
        <p:grpSpPr>
          <a:xfrm>
            <a:off x="7353965" y="4913826"/>
            <a:ext cx="386191" cy="313765"/>
            <a:chOff x="690350" y="5114971"/>
            <a:chExt cx="386191" cy="313765"/>
          </a:xfrm>
        </p:grpSpPr>
        <p:sp>
          <p:nvSpPr>
            <p:cNvPr id="89" name="Trapezium 88">
              <a:extLst>
                <a:ext uri="{FF2B5EF4-FFF2-40B4-BE49-F238E27FC236}">
                  <a16:creationId xmlns:a16="http://schemas.microsoft.com/office/drawing/2014/main" id="{C4FAD6B0-A694-FB2F-C095-21A78A9AFE14}"/>
                </a:ext>
              </a:extLst>
            </p:cNvPr>
            <p:cNvSpPr/>
            <p:nvPr/>
          </p:nvSpPr>
          <p:spPr>
            <a:xfrm>
              <a:off x="817287" y="5114971"/>
              <a:ext cx="259254" cy="121916"/>
            </a:xfrm>
            <a:prstGeom prst="trapezoid">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ff-page Connector 89">
              <a:extLst>
                <a:ext uri="{FF2B5EF4-FFF2-40B4-BE49-F238E27FC236}">
                  <a16:creationId xmlns:a16="http://schemas.microsoft.com/office/drawing/2014/main" id="{4B80BFD1-3FA8-CE9D-B145-7599D75C7AB4}"/>
                </a:ext>
              </a:extLst>
            </p:cNvPr>
            <p:cNvSpPr/>
            <p:nvPr/>
          </p:nvSpPr>
          <p:spPr>
            <a:xfrm>
              <a:off x="690350" y="5114971"/>
              <a:ext cx="319638" cy="313765"/>
            </a:xfrm>
            <a:prstGeom prst="flowChartOffpageConnector">
              <a:avLst/>
            </a:prstGeom>
            <a:solidFill>
              <a:srgbClr val="FCD5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8</a:t>
              </a:r>
            </a:p>
          </p:txBody>
        </p:sp>
      </p:grpSp>
      <p:sp>
        <p:nvSpPr>
          <p:cNvPr id="91" name="Triangle 90">
            <a:extLst>
              <a:ext uri="{FF2B5EF4-FFF2-40B4-BE49-F238E27FC236}">
                <a16:creationId xmlns:a16="http://schemas.microsoft.com/office/drawing/2014/main" id="{ACBF30FB-0DB1-F5E0-9B07-74CCC5CDAB5E}"/>
              </a:ext>
            </a:extLst>
          </p:cNvPr>
          <p:cNvSpPr/>
          <p:nvPr/>
        </p:nvSpPr>
        <p:spPr>
          <a:xfrm rot="10800000">
            <a:off x="1387315" y="2887821"/>
            <a:ext cx="6936058" cy="312618"/>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9727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C3D13-0CCA-7FB2-C3BE-8FF501EBC24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D38FCE0-BADD-BEBC-E382-0DC2EFDABB3D}"/>
              </a:ext>
            </a:extLst>
          </p:cNvPr>
          <p:cNvGrpSpPr/>
          <p:nvPr/>
        </p:nvGrpSpPr>
        <p:grpSpPr>
          <a:xfrm>
            <a:off x="600523" y="1416873"/>
            <a:ext cx="8737138" cy="4556060"/>
            <a:chOff x="659521" y="1765575"/>
            <a:chExt cx="8737138" cy="4167129"/>
          </a:xfrm>
        </p:grpSpPr>
        <p:pic>
          <p:nvPicPr>
            <p:cNvPr id="4" name="Graphic 3" descr="Greek Pillar with solid fill">
              <a:extLst>
                <a:ext uri="{FF2B5EF4-FFF2-40B4-BE49-F238E27FC236}">
                  <a16:creationId xmlns:a16="http://schemas.microsoft.com/office/drawing/2014/main" id="{62D05410-C9BD-67A4-EE5E-C1B33A484EB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9522" y="1765575"/>
              <a:ext cx="1312417" cy="1085578"/>
            </a:xfrm>
            <a:prstGeom prst="rect">
              <a:avLst/>
            </a:prstGeom>
          </p:spPr>
        </p:pic>
        <p:pic>
          <p:nvPicPr>
            <p:cNvPr id="5" name="Graphic 4" descr="Greek Pillar with solid fill">
              <a:extLst>
                <a:ext uri="{FF2B5EF4-FFF2-40B4-BE49-F238E27FC236}">
                  <a16:creationId xmlns:a16="http://schemas.microsoft.com/office/drawing/2014/main" id="{963705DF-66C9-135B-97EC-27AA879485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659521" y="4847126"/>
              <a:ext cx="1312417" cy="1085578"/>
            </a:xfrm>
            <a:prstGeom prst="rect">
              <a:avLst/>
            </a:prstGeom>
          </p:spPr>
        </p:pic>
        <p:sp>
          <p:nvSpPr>
            <p:cNvPr id="6" name="Rectangle 5">
              <a:extLst>
                <a:ext uri="{FF2B5EF4-FFF2-40B4-BE49-F238E27FC236}">
                  <a16:creationId xmlns:a16="http://schemas.microsoft.com/office/drawing/2014/main" id="{97B23C1B-A75E-5A3D-6E54-6D66957B8F0C}"/>
                </a:ext>
              </a:extLst>
            </p:cNvPr>
            <p:cNvSpPr/>
            <p:nvPr/>
          </p:nvSpPr>
          <p:spPr>
            <a:xfrm>
              <a:off x="659521" y="2669945"/>
              <a:ext cx="1312418" cy="2301625"/>
            </a:xfrm>
            <a:prstGeom prst="rect">
              <a:avLst/>
            </a:prstGeom>
            <a:solidFill>
              <a:schemeClr val="bg1"/>
            </a:solidFill>
            <a:ln w="127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Times New Roman" panose="02020603050405020304" pitchFamily="18" charset="0"/>
                  <a:cs typeface="Times New Roman" panose="02020603050405020304" pitchFamily="18" charset="0"/>
                </a:rPr>
                <a:t>Equity and Inclusive Access </a:t>
              </a:r>
            </a:p>
            <a:p>
              <a:pPr algn="ctr"/>
              <a:r>
                <a:rPr lang="en-US" sz="1100">
                  <a:solidFill>
                    <a:schemeClr val="tx1"/>
                  </a:solidFill>
                  <a:latin typeface="Times New Roman" panose="02020603050405020304" pitchFamily="18" charset="0"/>
                  <a:cs typeface="Times New Roman" panose="02020603050405020304" pitchFamily="18" charset="0"/>
                </a:rPr>
                <a:t>AI systems should reduce, not reinforce structural inequalities </a:t>
              </a:r>
            </a:p>
          </p:txBody>
        </p:sp>
        <p:pic>
          <p:nvPicPr>
            <p:cNvPr id="9" name="Graphic 8" descr="Greek Pillar with solid fill">
              <a:extLst>
                <a:ext uri="{FF2B5EF4-FFF2-40B4-BE49-F238E27FC236}">
                  <a16:creationId xmlns:a16="http://schemas.microsoft.com/office/drawing/2014/main" id="{8902EDF1-3F01-46FF-E87F-9F019A79560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144466" y="1765575"/>
              <a:ext cx="1312417" cy="1085578"/>
            </a:xfrm>
            <a:prstGeom prst="rect">
              <a:avLst/>
            </a:prstGeom>
          </p:spPr>
        </p:pic>
        <p:pic>
          <p:nvPicPr>
            <p:cNvPr id="10" name="Graphic 9" descr="Greek Pillar with solid fill">
              <a:extLst>
                <a:ext uri="{FF2B5EF4-FFF2-40B4-BE49-F238E27FC236}">
                  <a16:creationId xmlns:a16="http://schemas.microsoft.com/office/drawing/2014/main" id="{C0232C85-1CCA-7205-BAB1-C51B175741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2144465" y="4847126"/>
              <a:ext cx="1312417" cy="1085578"/>
            </a:xfrm>
            <a:prstGeom prst="rect">
              <a:avLst/>
            </a:prstGeom>
          </p:spPr>
        </p:pic>
        <p:sp>
          <p:nvSpPr>
            <p:cNvPr id="11" name="Rectangle 10">
              <a:extLst>
                <a:ext uri="{FF2B5EF4-FFF2-40B4-BE49-F238E27FC236}">
                  <a16:creationId xmlns:a16="http://schemas.microsoft.com/office/drawing/2014/main" id="{7D601934-DD9D-C1EB-C901-390473131609}"/>
                </a:ext>
              </a:extLst>
            </p:cNvPr>
            <p:cNvSpPr/>
            <p:nvPr/>
          </p:nvSpPr>
          <p:spPr>
            <a:xfrm>
              <a:off x="2144465" y="2669945"/>
              <a:ext cx="1312418" cy="2301625"/>
            </a:xfrm>
            <a:prstGeom prst="rect">
              <a:avLst/>
            </a:prstGeom>
            <a:solidFill>
              <a:schemeClr val="bg1"/>
            </a:solidFill>
            <a:ln w="127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Times New Roman" panose="02020603050405020304" pitchFamily="18" charset="0"/>
                  <a:cs typeface="Times New Roman" panose="02020603050405020304" pitchFamily="18" charset="0"/>
                </a:rPr>
                <a:t>Institutional Capacity and Readiness </a:t>
              </a:r>
            </a:p>
            <a:p>
              <a:pPr algn="ctr"/>
              <a:r>
                <a:rPr lang="en-US" sz="1000">
                  <a:solidFill>
                    <a:schemeClr val="tx1"/>
                  </a:solidFill>
                  <a:latin typeface="Times New Roman" panose="02020603050405020304" pitchFamily="18" charset="0"/>
                  <a:cs typeface="Times New Roman" panose="02020603050405020304" pitchFamily="18" charset="0"/>
                </a:rPr>
                <a:t>Governments need the technical, regulatory, and operational ability to deploy AI responsibly </a:t>
              </a:r>
            </a:p>
          </p:txBody>
        </p:sp>
        <p:pic>
          <p:nvPicPr>
            <p:cNvPr id="13" name="Graphic 12" descr="Greek Pillar with solid fill">
              <a:extLst>
                <a:ext uri="{FF2B5EF4-FFF2-40B4-BE49-F238E27FC236}">
                  <a16:creationId xmlns:a16="http://schemas.microsoft.com/office/drawing/2014/main" id="{4FD9A8F0-527D-34B1-59DC-56D8400622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29410" y="1765575"/>
              <a:ext cx="1312417" cy="1085578"/>
            </a:xfrm>
            <a:prstGeom prst="rect">
              <a:avLst/>
            </a:prstGeom>
          </p:spPr>
        </p:pic>
        <p:pic>
          <p:nvPicPr>
            <p:cNvPr id="14" name="Graphic 13" descr="Greek Pillar with solid fill">
              <a:extLst>
                <a:ext uri="{FF2B5EF4-FFF2-40B4-BE49-F238E27FC236}">
                  <a16:creationId xmlns:a16="http://schemas.microsoft.com/office/drawing/2014/main" id="{A6225999-02D7-2A55-2C46-A6AFAA5F8B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3629409" y="4847126"/>
              <a:ext cx="1312417" cy="1085578"/>
            </a:xfrm>
            <a:prstGeom prst="rect">
              <a:avLst/>
            </a:prstGeom>
          </p:spPr>
        </p:pic>
        <p:sp>
          <p:nvSpPr>
            <p:cNvPr id="15" name="Rectangle 14">
              <a:extLst>
                <a:ext uri="{FF2B5EF4-FFF2-40B4-BE49-F238E27FC236}">
                  <a16:creationId xmlns:a16="http://schemas.microsoft.com/office/drawing/2014/main" id="{574F7CD6-1C12-858E-ECBE-7514510361F1}"/>
                </a:ext>
              </a:extLst>
            </p:cNvPr>
            <p:cNvSpPr/>
            <p:nvPr/>
          </p:nvSpPr>
          <p:spPr>
            <a:xfrm>
              <a:off x="3629409" y="2669945"/>
              <a:ext cx="1312418" cy="2301625"/>
            </a:xfrm>
            <a:prstGeom prst="rect">
              <a:avLst/>
            </a:prstGeom>
            <a:solidFill>
              <a:schemeClr val="bg1"/>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Times New Roman" panose="02020603050405020304" pitchFamily="18" charset="0"/>
                  <a:cs typeface="Times New Roman" panose="02020603050405020304" pitchFamily="18" charset="0"/>
                </a:rPr>
                <a:t>Accountability &amp; Democratic </a:t>
              </a:r>
              <a:r>
                <a:rPr lang="en-US" sz="1000" b="1">
                  <a:solidFill>
                    <a:schemeClr val="tx1"/>
                  </a:solidFill>
                  <a:latin typeface="Times New Roman" panose="02020603050405020304" pitchFamily="18" charset="0"/>
                  <a:cs typeface="Times New Roman" panose="02020603050405020304" pitchFamily="18" charset="0"/>
                </a:rPr>
                <a:t>Oversight </a:t>
              </a:r>
            </a:p>
            <a:p>
              <a:pPr algn="ctr"/>
              <a:r>
                <a:rPr lang="en-US" sz="1000">
                  <a:solidFill>
                    <a:schemeClr val="tx1"/>
                  </a:solidFill>
                  <a:latin typeface="Times New Roman" panose="02020603050405020304" pitchFamily="18" charset="0"/>
                  <a:cs typeface="Times New Roman" panose="02020603050405020304" pitchFamily="18" charset="0"/>
                </a:rPr>
                <a:t>Governance must expand accountability and prevent biases and injustices</a:t>
              </a:r>
              <a:endParaRPr lang="en-US" sz="1000">
                <a:latin typeface="Times New Roman" panose="02020603050405020304" pitchFamily="18" charset="0"/>
                <a:cs typeface="Times New Roman" panose="02020603050405020304" pitchFamily="18" charset="0"/>
              </a:endParaRPr>
            </a:p>
          </p:txBody>
        </p:sp>
        <p:pic>
          <p:nvPicPr>
            <p:cNvPr id="17" name="Graphic 16" descr="Greek Pillar with solid fill">
              <a:extLst>
                <a:ext uri="{FF2B5EF4-FFF2-40B4-BE49-F238E27FC236}">
                  <a16:creationId xmlns:a16="http://schemas.microsoft.com/office/drawing/2014/main" id="{1CAF16B3-D4D3-9D13-FA7A-BA22FFFB8A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14354" y="1765575"/>
              <a:ext cx="1312417" cy="1085578"/>
            </a:xfrm>
            <a:prstGeom prst="rect">
              <a:avLst/>
            </a:prstGeom>
          </p:spPr>
        </p:pic>
        <p:pic>
          <p:nvPicPr>
            <p:cNvPr id="18" name="Graphic 17" descr="Greek Pillar with solid fill">
              <a:extLst>
                <a:ext uri="{FF2B5EF4-FFF2-40B4-BE49-F238E27FC236}">
                  <a16:creationId xmlns:a16="http://schemas.microsoft.com/office/drawing/2014/main" id="{65136560-6621-FADB-B3C6-0E6A803FEF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5114353" y="4847126"/>
              <a:ext cx="1312417" cy="1085578"/>
            </a:xfrm>
            <a:prstGeom prst="rect">
              <a:avLst/>
            </a:prstGeom>
          </p:spPr>
        </p:pic>
        <p:sp>
          <p:nvSpPr>
            <p:cNvPr id="19" name="Rectangle 18">
              <a:extLst>
                <a:ext uri="{FF2B5EF4-FFF2-40B4-BE49-F238E27FC236}">
                  <a16:creationId xmlns:a16="http://schemas.microsoft.com/office/drawing/2014/main" id="{656A04AA-D576-B630-DA7E-9A7BF1F0FB5B}"/>
                </a:ext>
              </a:extLst>
            </p:cNvPr>
            <p:cNvSpPr/>
            <p:nvPr/>
          </p:nvSpPr>
          <p:spPr>
            <a:xfrm>
              <a:off x="5114353" y="2669945"/>
              <a:ext cx="1312418" cy="2301625"/>
            </a:xfrm>
            <a:prstGeom prst="rect">
              <a:avLst/>
            </a:prstGeom>
            <a:solidFill>
              <a:schemeClr val="bg1"/>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Times New Roman" panose="02020603050405020304" pitchFamily="18" charset="0"/>
                  <a:cs typeface="Times New Roman" panose="02020603050405020304" pitchFamily="18" charset="0"/>
                </a:rPr>
                <a:t>Youth and Societal Well-Being</a:t>
              </a:r>
            </a:p>
            <a:p>
              <a:pPr algn="ctr"/>
              <a:r>
                <a:rPr lang="en-US" sz="1000">
                  <a:solidFill>
                    <a:schemeClr val="tx1"/>
                  </a:solidFill>
                  <a:latin typeface="Times New Roman" panose="02020603050405020304" pitchFamily="18" charset="0"/>
                  <a:cs typeface="Times New Roman" panose="02020603050405020304" pitchFamily="18" charset="0"/>
                </a:rPr>
                <a:t>AI systems should safeguard youth well-being and support healthy cognitive, social, and civic development</a:t>
              </a:r>
              <a:endParaRPr lang="en-US" sz="1000">
                <a:latin typeface="Times New Roman" panose="02020603050405020304" pitchFamily="18" charset="0"/>
                <a:cs typeface="Times New Roman" panose="02020603050405020304" pitchFamily="18" charset="0"/>
              </a:endParaRPr>
            </a:p>
          </p:txBody>
        </p:sp>
        <p:pic>
          <p:nvPicPr>
            <p:cNvPr id="21" name="Graphic 20" descr="Greek Pillar with solid fill">
              <a:extLst>
                <a:ext uri="{FF2B5EF4-FFF2-40B4-BE49-F238E27FC236}">
                  <a16:creationId xmlns:a16="http://schemas.microsoft.com/office/drawing/2014/main" id="{C185F069-50F1-FF2A-AE75-566A21B654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99298" y="1765575"/>
              <a:ext cx="1312417" cy="1085578"/>
            </a:xfrm>
            <a:prstGeom prst="rect">
              <a:avLst/>
            </a:prstGeom>
          </p:spPr>
        </p:pic>
        <p:pic>
          <p:nvPicPr>
            <p:cNvPr id="22" name="Graphic 21" descr="Greek Pillar with solid fill">
              <a:extLst>
                <a:ext uri="{FF2B5EF4-FFF2-40B4-BE49-F238E27FC236}">
                  <a16:creationId xmlns:a16="http://schemas.microsoft.com/office/drawing/2014/main" id="{58EA3D00-A205-562C-4751-DC388E600D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6599297" y="4847126"/>
              <a:ext cx="1312417" cy="1085578"/>
            </a:xfrm>
            <a:prstGeom prst="rect">
              <a:avLst/>
            </a:prstGeom>
          </p:spPr>
        </p:pic>
        <p:sp>
          <p:nvSpPr>
            <p:cNvPr id="23" name="Rectangle 22">
              <a:extLst>
                <a:ext uri="{FF2B5EF4-FFF2-40B4-BE49-F238E27FC236}">
                  <a16:creationId xmlns:a16="http://schemas.microsoft.com/office/drawing/2014/main" id="{91789A31-6524-9260-6262-8E27E67B4FBB}"/>
                </a:ext>
              </a:extLst>
            </p:cNvPr>
            <p:cNvSpPr/>
            <p:nvPr/>
          </p:nvSpPr>
          <p:spPr>
            <a:xfrm>
              <a:off x="6599297" y="2669945"/>
              <a:ext cx="1312418" cy="2301625"/>
            </a:xfrm>
            <a:prstGeom prst="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Times New Roman" panose="02020603050405020304" pitchFamily="18" charset="0"/>
                  <a:cs typeface="Times New Roman" panose="02020603050405020304" pitchFamily="18" charset="0"/>
                </a:rPr>
                <a:t>Transparency</a:t>
              </a:r>
            </a:p>
            <a:p>
              <a:pPr algn="ctr"/>
              <a:r>
                <a:rPr lang="en-US" sz="1000">
                  <a:solidFill>
                    <a:schemeClr val="tx1"/>
                  </a:solidFill>
                  <a:latin typeface="Times New Roman" panose="02020603050405020304" pitchFamily="18" charset="0"/>
                  <a:cs typeface="Times New Roman" panose="02020603050405020304" pitchFamily="18" charset="0"/>
                </a:rPr>
                <a:t>Public-actors must be able to understand, explain, and redress AI based decisions</a:t>
              </a:r>
              <a:endParaRPr lang="en-US" sz="1000">
                <a:latin typeface="Times New Roman" panose="02020603050405020304" pitchFamily="18" charset="0"/>
                <a:cs typeface="Times New Roman" panose="02020603050405020304" pitchFamily="18" charset="0"/>
              </a:endParaRPr>
            </a:p>
          </p:txBody>
        </p:sp>
        <p:pic>
          <p:nvPicPr>
            <p:cNvPr id="25" name="Graphic 24" descr="Greek Pillar with solid fill">
              <a:extLst>
                <a:ext uri="{FF2B5EF4-FFF2-40B4-BE49-F238E27FC236}">
                  <a16:creationId xmlns:a16="http://schemas.microsoft.com/office/drawing/2014/main" id="{87DF3FC4-6373-7AA2-299C-0B771C5AEB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4242" y="1765575"/>
              <a:ext cx="1312417" cy="1085578"/>
            </a:xfrm>
            <a:prstGeom prst="rect">
              <a:avLst/>
            </a:prstGeom>
          </p:spPr>
        </p:pic>
        <p:pic>
          <p:nvPicPr>
            <p:cNvPr id="26" name="Graphic 25" descr="Greek Pillar with solid fill">
              <a:extLst>
                <a:ext uri="{FF2B5EF4-FFF2-40B4-BE49-F238E27FC236}">
                  <a16:creationId xmlns:a16="http://schemas.microsoft.com/office/drawing/2014/main" id="{78CB5D35-4A97-2555-07B8-80031A308C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8084241" y="4847126"/>
              <a:ext cx="1312417" cy="1085578"/>
            </a:xfrm>
            <a:prstGeom prst="rect">
              <a:avLst/>
            </a:prstGeom>
          </p:spPr>
        </p:pic>
        <p:sp>
          <p:nvSpPr>
            <p:cNvPr id="27" name="Rectangle 26">
              <a:extLst>
                <a:ext uri="{FF2B5EF4-FFF2-40B4-BE49-F238E27FC236}">
                  <a16:creationId xmlns:a16="http://schemas.microsoft.com/office/drawing/2014/main" id="{B3871581-D626-6493-67BA-F06F72D4B73B}"/>
                </a:ext>
              </a:extLst>
            </p:cNvPr>
            <p:cNvSpPr/>
            <p:nvPr/>
          </p:nvSpPr>
          <p:spPr>
            <a:xfrm>
              <a:off x="8084241" y="2669945"/>
              <a:ext cx="1312418" cy="2301625"/>
            </a:xfrm>
            <a:prstGeom prst="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Times New Roman" panose="02020603050405020304" pitchFamily="18" charset="0"/>
                  <a:cs typeface="Times New Roman" panose="02020603050405020304" pitchFamily="18" charset="0"/>
                </a:rPr>
                <a:t>Public Value</a:t>
              </a:r>
            </a:p>
            <a:p>
              <a:pPr algn="ctr"/>
              <a:r>
                <a:rPr lang="en-US" sz="1000">
                  <a:solidFill>
                    <a:schemeClr val="tx1"/>
                  </a:solidFill>
                  <a:latin typeface="Times New Roman" panose="02020603050405020304" pitchFamily="18" charset="0"/>
                  <a:cs typeface="Times New Roman" panose="02020603050405020304" pitchFamily="18" charset="0"/>
                </a:rPr>
                <a:t>AI use in public systems should be demonstrably aligned with societal benefit </a:t>
              </a:r>
            </a:p>
          </p:txBody>
        </p:sp>
        <p:cxnSp>
          <p:nvCxnSpPr>
            <p:cNvPr id="30" name="Straight Connector 29">
              <a:extLst>
                <a:ext uri="{FF2B5EF4-FFF2-40B4-BE49-F238E27FC236}">
                  <a16:creationId xmlns:a16="http://schemas.microsoft.com/office/drawing/2014/main" id="{8D4A8DCD-A67A-0DF7-5250-E8970551C6F6}"/>
                </a:ext>
              </a:extLst>
            </p:cNvPr>
            <p:cNvCxnSpPr/>
            <p:nvPr/>
          </p:nvCxnSpPr>
          <p:spPr>
            <a:xfrm>
              <a:off x="2060240" y="2400173"/>
              <a:ext cx="0" cy="3164306"/>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331B0F8-150B-BB59-0F6C-2A3ED7C388F7}"/>
                </a:ext>
              </a:extLst>
            </p:cNvPr>
            <p:cNvCxnSpPr/>
            <p:nvPr/>
          </p:nvCxnSpPr>
          <p:spPr>
            <a:xfrm>
              <a:off x="3544870" y="2400173"/>
              <a:ext cx="0" cy="3164306"/>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A9524DAE-7CC6-3E57-037F-97E5C5612779}"/>
                </a:ext>
              </a:extLst>
            </p:cNvPr>
            <p:cNvCxnSpPr/>
            <p:nvPr/>
          </p:nvCxnSpPr>
          <p:spPr>
            <a:xfrm>
              <a:off x="5029500" y="2400173"/>
              <a:ext cx="0" cy="3164306"/>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6CE3E40-6558-4AD6-938E-92453F02566D}"/>
                </a:ext>
              </a:extLst>
            </p:cNvPr>
            <p:cNvCxnSpPr/>
            <p:nvPr/>
          </p:nvCxnSpPr>
          <p:spPr>
            <a:xfrm>
              <a:off x="6514130" y="2400173"/>
              <a:ext cx="0" cy="3164306"/>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D5247FB-D7DF-1640-A8E0-10EE14DEC094}"/>
                </a:ext>
              </a:extLst>
            </p:cNvPr>
            <p:cNvCxnSpPr/>
            <p:nvPr/>
          </p:nvCxnSpPr>
          <p:spPr>
            <a:xfrm>
              <a:off x="7998758" y="2400173"/>
              <a:ext cx="0" cy="3164306"/>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6AD83CF9-C76E-F0E5-0BE4-952E67A947D6}"/>
                </a:ext>
              </a:extLst>
            </p:cNvPr>
            <p:cNvSpPr txBox="1"/>
            <p:nvPr/>
          </p:nvSpPr>
          <p:spPr>
            <a:xfrm>
              <a:off x="659521" y="2669945"/>
              <a:ext cx="1312418" cy="369332"/>
            </a:xfrm>
            <a:prstGeom prst="rect">
              <a:avLst/>
            </a:prstGeom>
            <a:noFill/>
          </p:spPr>
          <p:txBody>
            <a:bodyPr wrap="square" rtlCol="0">
              <a:spAutoFit/>
            </a:bodyPr>
            <a:lstStyle/>
            <a:p>
              <a:pPr algn="ctr"/>
              <a:r>
                <a:rPr lang="en-US" b="1">
                  <a:solidFill>
                    <a:schemeClr val="accent3"/>
                  </a:solidFill>
                  <a:latin typeface="Times New Roman" panose="02020603050405020304" pitchFamily="18" charset="0"/>
                  <a:cs typeface="Times New Roman" panose="02020603050405020304" pitchFamily="18" charset="0"/>
                </a:rPr>
                <a:t>01</a:t>
              </a:r>
            </a:p>
          </p:txBody>
        </p:sp>
        <p:sp>
          <p:nvSpPr>
            <p:cNvPr id="36" name="TextBox 35">
              <a:extLst>
                <a:ext uri="{FF2B5EF4-FFF2-40B4-BE49-F238E27FC236}">
                  <a16:creationId xmlns:a16="http://schemas.microsoft.com/office/drawing/2014/main" id="{FBD5BC21-796F-6E79-548F-9B143153A6F6}"/>
                </a:ext>
              </a:extLst>
            </p:cNvPr>
            <p:cNvSpPr txBox="1"/>
            <p:nvPr/>
          </p:nvSpPr>
          <p:spPr>
            <a:xfrm>
              <a:off x="2144464" y="2676536"/>
              <a:ext cx="1312418" cy="369332"/>
            </a:xfrm>
            <a:prstGeom prst="rect">
              <a:avLst/>
            </a:prstGeom>
            <a:noFill/>
          </p:spPr>
          <p:txBody>
            <a:bodyPr wrap="square" rtlCol="0">
              <a:spAutoFit/>
            </a:bodyPr>
            <a:lstStyle/>
            <a:p>
              <a:pPr algn="ctr"/>
              <a:r>
                <a:rPr lang="en-US" b="1">
                  <a:solidFill>
                    <a:schemeClr val="accent3"/>
                  </a:solidFill>
                  <a:latin typeface="Times New Roman" panose="02020603050405020304" pitchFamily="18" charset="0"/>
                  <a:cs typeface="Times New Roman" panose="02020603050405020304" pitchFamily="18" charset="0"/>
                </a:rPr>
                <a:t>02</a:t>
              </a:r>
            </a:p>
          </p:txBody>
        </p:sp>
        <p:sp>
          <p:nvSpPr>
            <p:cNvPr id="37" name="TextBox 36">
              <a:extLst>
                <a:ext uri="{FF2B5EF4-FFF2-40B4-BE49-F238E27FC236}">
                  <a16:creationId xmlns:a16="http://schemas.microsoft.com/office/drawing/2014/main" id="{4455D2E1-B605-38F8-59E2-B4320F4E2844}"/>
                </a:ext>
              </a:extLst>
            </p:cNvPr>
            <p:cNvSpPr txBox="1"/>
            <p:nvPr/>
          </p:nvSpPr>
          <p:spPr>
            <a:xfrm>
              <a:off x="3629408" y="2676536"/>
              <a:ext cx="1312418" cy="369332"/>
            </a:xfrm>
            <a:prstGeom prst="rect">
              <a:avLst/>
            </a:prstGeom>
            <a:noFill/>
          </p:spPr>
          <p:txBody>
            <a:bodyPr wrap="square" rtlCol="0">
              <a:spAutoFit/>
            </a:bodyPr>
            <a:lstStyle/>
            <a:p>
              <a:pPr algn="ctr"/>
              <a:r>
                <a:rPr lang="en-US" b="1">
                  <a:solidFill>
                    <a:srgbClr val="FFC000"/>
                  </a:solidFill>
                  <a:latin typeface="Times New Roman" panose="02020603050405020304" pitchFamily="18" charset="0"/>
                  <a:cs typeface="Times New Roman" panose="02020603050405020304" pitchFamily="18" charset="0"/>
                </a:rPr>
                <a:t>03</a:t>
              </a:r>
            </a:p>
          </p:txBody>
        </p:sp>
        <p:sp>
          <p:nvSpPr>
            <p:cNvPr id="38" name="TextBox 37">
              <a:extLst>
                <a:ext uri="{FF2B5EF4-FFF2-40B4-BE49-F238E27FC236}">
                  <a16:creationId xmlns:a16="http://schemas.microsoft.com/office/drawing/2014/main" id="{6D472821-7198-D44B-1F95-5A55DAC34C08}"/>
                </a:ext>
              </a:extLst>
            </p:cNvPr>
            <p:cNvSpPr txBox="1"/>
            <p:nvPr/>
          </p:nvSpPr>
          <p:spPr>
            <a:xfrm>
              <a:off x="5114352" y="2676536"/>
              <a:ext cx="1312418" cy="369332"/>
            </a:xfrm>
            <a:prstGeom prst="rect">
              <a:avLst/>
            </a:prstGeom>
            <a:noFill/>
          </p:spPr>
          <p:txBody>
            <a:bodyPr wrap="square" rtlCol="0">
              <a:spAutoFit/>
            </a:bodyPr>
            <a:lstStyle/>
            <a:p>
              <a:pPr algn="ctr"/>
              <a:r>
                <a:rPr lang="en-US" b="1">
                  <a:solidFill>
                    <a:srgbClr val="FFC000"/>
                  </a:solidFill>
                  <a:latin typeface="Times New Roman" panose="02020603050405020304" pitchFamily="18" charset="0"/>
                  <a:cs typeface="Times New Roman" panose="02020603050405020304" pitchFamily="18" charset="0"/>
                </a:rPr>
                <a:t>04</a:t>
              </a:r>
            </a:p>
          </p:txBody>
        </p:sp>
        <p:sp>
          <p:nvSpPr>
            <p:cNvPr id="39" name="TextBox 38">
              <a:extLst>
                <a:ext uri="{FF2B5EF4-FFF2-40B4-BE49-F238E27FC236}">
                  <a16:creationId xmlns:a16="http://schemas.microsoft.com/office/drawing/2014/main" id="{350BFBB9-8C53-8295-0BC6-89FA664EFF1D}"/>
                </a:ext>
              </a:extLst>
            </p:cNvPr>
            <p:cNvSpPr txBox="1"/>
            <p:nvPr/>
          </p:nvSpPr>
          <p:spPr>
            <a:xfrm>
              <a:off x="6599296" y="2676536"/>
              <a:ext cx="1312418" cy="369332"/>
            </a:xfrm>
            <a:prstGeom prst="rect">
              <a:avLst/>
            </a:prstGeom>
            <a:noFill/>
          </p:spPr>
          <p:txBody>
            <a:bodyPr wrap="square" rtlCol="0">
              <a:spAutoFit/>
            </a:bodyPr>
            <a:lstStyle/>
            <a:p>
              <a:pPr algn="ctr"/>
              <a:r>
                <a:rPr lang="en-US" b="1">
                  <a:solidFill>
                    <a:schemeClr val="accent1"/>
                  </a:solidFill>
                  <a:latin typeface="Times New Roman" panose="02020603050405020304" pitchFamily="18" charset="0"/>
                  <a:cs typeface="Times New Roman" panose="02020603050405020304" pitchFamily="18" charset="0"/>
                </a:rPr>
                <a:t>05</a:t>
              </a:r>
            </a:p>
          </p:txBody>
        </p:sp>
        <p:sp>
          <p:nvSpPr>
            <p:cNvPr id="40" name="TextBox 39">
              <a:extLst>
                <a:ext uri="{FF2B5EF4-FFF2-40B4-BE49-F238E27FC236}">
                  <a16:creationId xmlns:a16="http://schemas.microsoft.com/office/drawing/2014/main" id="{7FC3EF0B-C88B-474D-6FA8-601A86F741F4}"/>
                </a:ext>
              </a:extLst>
            </p:cNvPr>
            <p:cNvSpPr txBox="1"/>
            <p:nvPr/>
          </p:nvSpPr>
          <p:spPr>
            <a:xfrm>
              <a:off x="8084240" y="2676536"/>
              <a:ext cx="1312418" cy="369332"/>
            </a:xfrm>
            <a:prstGeom prst="rect">
              <a:avLst/>
            </a:prstGeom>
            <a:noFill/>
          </p:spPr>
          <p:txBody>
            <a:bodyPr wrap="square" rtlCol="0">
              <a:spAutoFit/>
            </a:bodyPr>
            <a:lstStyle/>
            <a:p>
              <a:pPr algn="ctr"/>
              <a:r>
                <a:rPr lang="en-US" b="1">
                  <a:solidFill>
                    <a:schemeClr val="accent1"/>
                  </a:solidFill>
                  <a:latin typeface="Times New Roman" panose="02020603050405020304" pitchFamily="18" charset="0"/>
                  <a:cs typeface="Times New Roman" panose="02020603050405020304" pitchFamily="18" charset="0"/>
                </a:rPr>
                <a:t>06</a:t>
              </a:r>
            </a:p>
          </p:txBody>
        </p:sp>
      </p:grpSp>
      <p:sp>
        <p:nvSpPr>
          <p:cNvPr id="41" name="TextBox 40">
            <a:extLst>
              <a:ext uri="{FF2B5EF4-FFF2-40B4-BE49-F238E27FC236}">
                <a16:creationId xmlns:a16="http://schemas.microsoft.com/office/drawing/2014/main" id="{007F57BE-4B85-763C-121F-3F1A25804E48}"/>
              </a:ext>
            </a:extLst>
          </p:cNvPr>
          <p:cNvSpPr txBox="1"/>
          <p:nvPr/>
        </p:nvSpPr>
        <p:spPr>
          <a:xfrm>
            <a:off x="600523" y="885067"/>
            <a:ext cx="8616644" cy="411779"/>
          </a:xfrm>
          <a:prstGeom prst="rect">
            <a:avLst/>
          </a:prstGeom>
        </p:spPr>
        <p:txBody>
          <a:bodyPr wrap="square" lIns="0" tIns="0" rIns="0" bIns="0" rtlCol="0" anchor="t">
            <a:spAutoFit/>
          </a:bodyPr>
          <a:lstStyle/>
          <a:p>
            <a:pPr>
              <a:lnSpc>
                <a:spcPts val="3479"/>
              </a:lnSpc>
            </a:pPr>
            <a:r>
              <a:rPr lang="en-US" sz="25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Good Governance Pillars</a:t>
            </a:r>
          </a:p>
        </p:txBody>
      </p:sp>
    </p:spTree>
    <p:extLst>
      <p:ext uri="{BB962C8B-B14F-4D97-AF65-F5344CB8AC3E}">
        <p14:creationId xmlns:p14="http://schemas.microsoft.com/office/powerpoint/2010/main" val="2522903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FAFBB-358E-5F14-D21D-E8B3C37F65E6}"/>
            </a:ext>
          </a:extLst>
        </p:cNvPr>
        <p:cNvGrpSpPr/>
        <p:nvPr/>
      </p:nvGrpSpPr>
      <p:grpSpPr>
        <a:xfrm>
          <a:off x="0" y="0"/>
          <a:ext cx="0" cy="0"/>
          <a:chOff x="0" y="0"/>
          <a:chExt cx="0" cy="0"/>
        </a:xfrm>
      </p:grpSpPr>
      <p:grpSp>
        <p:nvGrpSpPr>
          <p:cNvPr id="194" name="Group 193">
            <a:extLst>
              <a:ext uri="{FF2B5EF4-FFF2-40B4-BE49-F238E27FC236}">
                <a16:creationId xmlns:a16="http://schemas.microsoft.com/office/drawing/2014/main" id="{D4FF51CD-33B6-B7C8-B61B-5B0529EE38E8}"/>
              </a:ext>
            </a:extLst>
          </p:cNvPr>
          <p:cNvGrpSpPr/>
          <p:nvPr/>
        </p:nvGrpSpPr>
        <p:grpSpPr>
          <a:xfrm>
            <a:off x="-565" y="1525640"/>
            <a:ext cx="10927346" cy="4373249"/>
            <a:chOff x="-565" y="1525640"/>
            <a:chExt cx="11064254" cy="4373249"/>
          </a:xfrm>
        </p:grpSpPr>
        <p:sp>
          <p:nvSpPr>
            <p:cNvPr id="193" name="Pentagon 192">
              <a:extLst>
                <a:ext uri="{FF2B5EF4-FFF2-40B4-BE49-F238E27FC236}">
                  <a16:creationId xmlns:a16="http://schemas.microsoft.com/office/drawing/2014/main" id="{181A2CC5-0A2D-DEB1-D6EF-D91A6F99DB52}"/>
                </a:ext>
              </a:extLst>
            </p:cNvPr>
            <p:cNvSpPr/>
            <p:nvPr/>
          </p:nvSpPr>
          <p:spPr>
            <a:xfrm>
              <a:off x="2447045" y="1525640"/>
              <a:ext cx="8616644" cy="4373249"/>
            </a:xfrm>
            <a:prstGeom prst="homePlate">
              <a:avLst/>
            </a:prstGeom>
            <a:solidFill>
              <a:srgbClr val="FFC000">
                <a:alpha val="15000"/>
              </a:srgbClr>
            </a:solidFill>
          </p:spPr>
          <p:txBody>
            <a:bodyPr/>
            <a:lstStyle/>
            <a:p>
              <a:endParaRPr lang="en-US">
                <a:solidFill>
                  <a:schemeClr val="tx1"/>
                </a:solidFill>
              </a:endParaRPr>
            </a:p>
          </p:txBody>
        </p:sp>
        <p:sp>
          <p:nvSpPr>
            <p:cNvPr id="191" name="Pentagon 190">
              <a:extLst>
                <a:ext uri="{FF2B5EF4-FFF2-40B4-BE49-F238E27FC236}">
                  <a16:creationId xmlns:a16="http://schemas.microsoft.com/office/drawing/2014/main" id="{23FCEC54-6CAB-FDBA-D4BC-5ACD0DE04933}"/>
                </a:ext>
              </a:extLst>
            </p:cNvPr>
            <p:cNvSpPr/>
            <p:nvPr/>
          </p:nvSpPr>
          <p:spPr>
            <a:xfrm>
              <a:off x="-565" y="1525640"/>
              <a:ext cx="8121381" cy="4373249"/>
            </a:xfrm>
            <a:prstGeom prst="homePlate">
              <a:avLst>
                <a:gd name="adj" fmla="val 42558"/>
              </a:avLst>
            </a:prstGeom>
            <a:solidFill>
              <a:srgbClr val="E8FDE1"/>
            </a:solidFill>
          </p:spPr>
          <p:txBody>
            <a:bodyPr/>
            <a:lstStyle/>
            <a:p>
              <a:endParaRPr lang="en-US">
                <a:solidFill>
                  <a:schemeClr val="tx1"/>
                </a:solidFill>
              </a:endParaRPr>
            </a:p>
          </p:txBody>
        </p:sp>
      </p:grpSp>
      <p:sp>
        <p:nvSpPr>
          <p:cNvPr id="47" name="TextBox 46">
            <a:extLst>
              <a:ext uri="{FF2B5EF4-FFF2-40B4-BE49-F238E27FC236}">
                <a16:creationId xmlns:a16="http://schemas.microsoft.com/office/drawing/2014/main" id="{378A7150-F2E9-99B5-B0BD-02A3378DE032}"/>
              </a:ext>
            </a:extLst>
          </p:cNvPr>
          <p:cNvSpPr txBox="1"/>
          <p:nvPr/>
        </p:nvSpPr>
        <p:spPr>
          <a:xfrm>
            <a:off x="600523" y="885067"/>
            <a:ext cx="8616644" cy="411779"/>
          </a:xfrm>
          <a:prstGeom prst="rect">
            <a:avLst/>
          </a:prstGeom>
        </p:spPr>
        <p:txBody>
          <a:bodyPr wrap="square" lIns="0" tIns="0" rIns="0" bIns="0" rtlCol="0" anchor="t">
            <a:spAutoFit/>
          </a:bodyPr>
          <a:lstStyle/>
          <a:p>
            <a:pPr>
              <a:lnSpc>
                <a:spcPts val="3479"/>
              </a:lnSpc>
            </a:pPr>
            <a:r>
              <a:rPr lang="en-US" sz="25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Recommendations Preview</a:t>
            </a:r>
            <a:endParaRPr lang="en-US" sz="2500" b="1">
              <a:solidFill>
                <a:srgbClr val="1A6B25"/>
              </a:solidFill>
              <a:latin typeface="Times New Roman" panose="02020603050405020304" pitchFamily="18" charset="0"/>
              <a:ea typeface="Times New Roman MT Bold"/>
              <a:cs typeface="Times New Roman" panose="02020603050405020304" pitchFamily="18" charset="0"/>
              <a:sym typeface="Times New Roman MT Bold"/>
            </a:endParaRPr>
          </a:p>
        </p:txBody>
      </p:sp>
      <p:sp>
        <p:nvSpPr>
          <p:cNvPr id="208" name="Freeform 62">
            <a:extLst>
              <a:ext uri="{FF2B5EF4-FFF2-40B4-BE49-F238E27FC236}">
                <a16:creationId xmlns:a16="http://schemas.microsoft.com/office/drawing/2014/main" id="{65E03781-B1DE-228C-0474-5861D9C263C4}"/>
              </a:ext>
            </a:extLst>
          </p:cNvPr>
          <p:cNvSpPr/>
          <p:nvPr/>
        </p:nvSpPr>
        <p:spPr>
          <a:xfrm>
            <a:off x="7679528" y="3394847"/>
            <a:ext cx="2088000" cy="719955"/>
          </a:xfrm>
          <a:custGeom>
            <a:avLst/>
            <a:gdLst/>
            <a:ahLst/>
            <a:cxnLst/>
            <a:rect l="l" t="t" r="r" b="b"/>
            <a:pathLst>
              <a:path w="812800" h="415696">
                <a:moveTo>
                  <a:pt x="0" y="0"/>
                </a:moveTo>
                <a:lnTo>
                  <a:pt x="609600" y="0"/>
                </a:lnTo>
                <a:lnTo>
                  <a:pt x="812800" y="207848"/>
                </a:lnTo>
                <a:lnTo>
                  <a:pt x="609600" y="415696"/>
                </a:lnTo>
                <a:lnTo>
                  <a:pt x="0" y="415696"/>
                </a:lnTo>
                <a:lnTo>
                  <a:pt x="203200" y="207848"/>
                </a:lnTo>
                <a:lnTo>
                  <a:pt x="0" y="0"/>
                </a:lnTo>
                <a:close/>
              </a:path>
            </a:pathLst>
          </a:custGeom>
          <a:solidFill>
            <a:srgbClr val="FFC000"/>
          </a:solidFill>
        </p:spPr>
        <p:txBody>
          <a:bodyPr/>
          <a:lstStyle/>
          <a:p>
            <a:endParaRPr lang="en-US"/>
          </a:p>
        </p:txBody>
      </p:sp>
      <p:grpSp>
        <p:nvGrpSpPr>
          <p:cNvPr id="213" name="Group 61">
            <a:extLst>
              <a:ext uri="{FF2B5EF4-FFF2-40B4-BE49-F238E27FC236}">
                <a16:creationId xmlns:a16="http://schemas.microsoft.com/office/drawing/2014/main" id="{851A8073-9A70-BBD0-0D73-B66662F8D0DA}"/>
              </a:ext>
            </a:extLst>
          </p:cNvPr>
          <p:cNvGrpSpPr/>
          <p:nvPr/>
        </p:nvGrpSpPr>
        <p:grpSpPr>
          <a:xfrm>
            <a:off x="5791642" y="3394847"/>
            <a:ext cx="2088000" cy="719955"/>
            <a:chOff x="0" y="0"/>
            <a:chExt cx="812800" cy="415696"/>
          </a:xfrm>
        </p:grpSpPr>
        <p:sp>
          <p:nvSpPr>
            <p:cNvPr id="214" name="Freeform 62">
              <a:extLst>
                <a:ext uri="{FF2B5EF4-FFF2-40B4-BE49-F238E27FC236}">
                  <a16:creationId xmlns:a16="http://schemas.microsoft.com/office/drawing/2014/main" id="{DE24D6C2-AA30-8E98-396A-A31084DBA6E3}"/>
                </a:ext>
              </a:extLst>
            </p:cNvPr>
            <p:cNvSpPr/>
            <p:nvPr/>
          </p:nvSpPr>
          <p:spPr>
            <a:xfrm>
              <a:off x="0" y="0"/>
              <a:ext cx="812800" cy="415696"/>
            </a:xfrm>
            <a:custGeom>
              <a:avLst/>
              <a:gdLst/>
              <a:ahLst/>
              <a:cxnLst/>
              <a:rect l="l" t="t" r="r" b="b"/>
              <a:pathLst>
                <a:path w="812800" h="415696">
                  <a:moveTo>
                    <a:pt x="0" y="0"/>
                  </a:moveTo>
                  <a:lnTo>
                    <a:pt x="609600" y="0"/>
                  </a:lnTo>
                  <a:lnTo>
                    <a:pt x="812800" y="207848"/>
                  </a:lnTo>
                  <a:lnTo>
                    <a:pt x="609600" y="415696"/>
                  </a:lnTo>
                  <a:lnTo>
                    <a:pt x="0" y="415696"/>
                  </a:lnTo>
                  <a:lnTo>
                    <a:pt x="203200" y="207848"/>
                  </a:lnTo>
                  <a:lnTo>
                    <a:pt x="0" y="0"/>
                  </a:lnTo>
                  <a:close/>
                </a:path>
              </a:pathLst>
            </a:custGeom>
            <a:solidFill>
              <a:srgbClr val="1A6B25"/>
            </a:solidFill>
          </p:spPr>
          <p:txBody>
            <a:bodyPr/>
            <a:lstStyle/>
            <a:p>
              <a:endParaRPr lang="en-US"/>
            </a:p>
          </p:txBody>
        </p:sp>
        <p:sp>
          <p:nvSpPr>
            <p:cNvPr id="215" name="TextBox 63">
              <a:extLst>
                <a:ext uri="{FF2B5EF4-FFF2-40B4-BE49-F238E27FC236}">
                  <a16:creationId xmlns:a16="http://schemas.microsoft.com/office/drawing/2014/main" id="{976154C0-B2D7-D9BF-5722-3322FB9FAA43}"/>
                </a:ext>
              </a:extLst>
            </p:cNvPr>
            <p:cNvSpPr txBox="1"/>
            <p:nvPr/>
          </p:nvSpPr>
          <p:spPr>
            <a:xfrm>
              <a:off x="177800" y="-38100"/>
              <a:ext cx="558800" cy="453796"/>
            </a:xfrm>
            <a:prstGeom prst="rect">
              <a:avLst/>
            </a:prstGeom>
          </p:spPr>
          <p:txBody>
            <a:bodyPr lIns="50800" tIns="50800" rIns="50800" bIns="50800" rtlCol="0" anchor="ctr"/>
            <a:lstStyle/>
            <a:p>
              <a:pPr algn="ctr">
                <a:lnSpc>
                  <a:spcPts val="2659"/>
                </a:lnSpc>
              </a:pPr>
              <a:endParaRPr/>
            </a:p>
          </p:txBody>
        </p:sp>
      </p:grpSp>
      <p:grpSp>
        <p:nvGrpSpPr>
          <p:cNvPr id="216" name="Group 61">
            <a:extLst>
              <a:ext uri="{FF2B5EF4-FFF2-40B4-BE49-F238E27FC236}">
                <a16:creationId xmlns:a16="http://schemas.microsoft.com/office/drawing/2014/main" id="{1C2330E2-1590-DCFD-2672-B5BECA914934}"/>
              </a:ext>
            </a:extLst>
          </p:cNvPr>
          <p:cNvGrpSpPr/>
          <p:nvPr/>
        </p:nvGrpSpPr>
        <p:grpSpPr>
          <a:xfrm>
            <a:off x="3903754" y="3394847"/>
            <a:ext cx="2088000" cy="719955"/>
            <a:chOff x="0" y="0"/>
            <a:chExt cx="812800" cy="415696"/>
          </a:xfrm>
        </p:grpSpPr>
        <p:sp>
          <p:nvSpPr>
            <p:cNvPr id="217" name="Freeform 62">
              <a:extLst>
                <a:ext uri="{FF2B5EF4-FFF2-40B4-BE49-F238E27FC236}">
                  <a16:creationId xmlns:a16="http://schemas.microsoft.com/office/drawing/2014/main" id="{58317A70-4073-ED81-9D6B-2792901A76A0}"/>
                </a:ext>
              </a:extLst>
            </p:cNvPr>
            <p:cNvSpPr/>
            <p:nvPr/>
          </p:nvSpPr>
          <p:spPr>
            <a:xfrm>
              <a:off x="0" y="0"/>
              <a:ext cx="812800" cy="415696"/>
            </a:xfrm>
            <a:custGeom>
              <a:avLst/>
              <a:gdLst/>
              <a:ahLst/>
              <a:cxnLst/>
              <a:rect l="l" t="t" r="r" b="b"/>
              <a:pathLst>
                <a:path w="812800" h="415696">
                  <a:moveTo>
                    <a:pt x="0" y="0"/>
                  </a:moveTo>
                  <a:lnTo>
                    <a:pt x="609600" y="0"/>
                  </a:lnTo>
                  <a:lnTo>
                    <a:pt x="812800" y="207848"/>
                  </a:lnTo>
                  <a:lnTo>
                    <a:pt x="609600" y="415696"/>
                  </a:lnTo>
                  <a:lnTo>
                    <a:pt x="0" y="415696"/>
                  </a:lnTo>
                  <a:lnTo>
                    <a:pt x="203200" y="207848"/>
                  </a:lnTo>
                  <a:lnTo>
                    <a:pt x="0" y="0"/>
                  </a:lnTo>
                  <a:close/>
                </a:path>
              </a:pathLst>
            </a:custGeom>
            <a:solidFill>
              <a:srgbClr val="1A6B25"/>
            </a:solidFill>
          </p:spPr>
          <p:txBody>
            <a:bodyPr/>
            <a:lstStyle/>
            <a:p>
              <a:endParaRPr lang="en-US"/>
            </a:p>
          </p:txBody>
        </p:sp>
        <p:sp>
          <p:nvSpPr>
            <p:cNvPr id="218" name="TextBox 63">
              <a:extLst>
                <a:ext uri="{FF2B5EF4-FFF2-40B4-BE49-F238E27FC236}">
                  <a16:creationId xmlns:a16="http://schemas.microsoft.com/office/drawing/2014/main" id="{7702F82A-B461-AA54-FFFF-B83B41B8251F}"/>
                </a:ext>
              </a:extLst>
            </p:cNvPr>
            <p:cNvSpPr txBox="1"/>
            <p:nvPr/>
          </p:nvSpPr>
          <p:spPr>
            <a:xfrm>
              <a:off x="177800" y="-38100"/>
              <a:ext cx="558800" cy="453796"/>
            </a:xfrm>
            <a:prstGeom prst="rect">
              <a:avLst/>
            </a:prstGeom>
          </p:spPr>
          <p:txBody>
            <a:bodyPr lIns="50800" tIns="50800" rIns="50800" bIns="50800" rtlCol="0" anchor="ctr"/>
            <a:lstStyle/>
            <a:p>
              <a:pPr algn="ctr">
                <a:lnSpc>
                  <a:spcPts val="2659"/>
                </a:lnSpc>
              </a:pPr>
              <a:endParaRPr/>
            </a:p>
          </p:txBody>
        </p:sp>
      </p:grpSp>
      <p:grpSp>
        <p:nvGrpSpPr>
          <p:cNvPr id="219" name="Group 61">
            <a:extLst>
              <a:ext uri="{FF2B5EF4-FFF2-40B4-BE49-F238E27FC236}">
                <a16:creationId xmlns:a16="http://schemas.microsoft.com/office/drawing/2014/main" id="{A4F25606-2651-D0F7-A007-7563ECA06B04}"/>
              </a:ext>
            </a:extLst>
          </p:cNvPr>
          <p:cNvGrpSpPr/>
          <p:nvPr/>
        </p:nvGrpSpPr>
        <p:grpSpPr>
          <a:xfrm>
            <a:off x="2015866" y="3394847"/>
            <a:ext cx="2088000" cy="719955"/>
            <a:chOff x="0" y="0"/>
            <a:chExt cx="812800" cy="415696"/>
          </a:xfrm>
        </p:grpSpPr>
        <p:sp>
          <p:nvSpPr>
            <p:cNvPr id="220" name="Freeform 62">
              <a:extLst>
                <a:ext uri="{FF2B5EF4-FFF2-40B4-BE49-F238E27FC236}">
                  <a16:creationId xmlns:a16="http://schemas.microsoft.com/office/drawing/2014/main" id="{E439DE51-4A9B-6F1B-3B03-E0184A4C353C}"/>
                </a:ext>
              </a:extLst>
            </p:cNvPr>
            <p:cNvSpPr/>
            <p:nvPr/>
          </p:nvSpPr>
          <p:spPr>
            <a:xfrm>
              <a:off x="0" y="0"/>
              <a:ext cx="812800" cy="415696"/>
            </a:xfrm>
            <a:custGeom>
              <a:avLst/>
              <a:gdLst/>
              <a:ahLst/>
              <a:cxnLst/>
              <a:rect l="l" t="t" r="r" b="b"/>
              <a:pathLst>
                <a:path w="812800" h="415696">
                  <a:moveTo>
                    <a:pt x="0" y="0"/>
                  </a:moveTo>
                  <a:lnTo>
                    <a:pt x="609600" y="0"/>
                  </a:lnTo>
                  <a:lnTo>
                    <a:pt x="812800" y="207848"/>
                  </a:lnTo>
                  <a:lnTo>
                    <a:pt x="609600" y="415696"/>
                  </a:lnTo>
                  <a:lnTo>
                    <a:pt x="0" y="415696"/>
                  </a:lnTo>
                  <a:lnTo>
                    <a:pt x="203200" y="207848"/>
                  </a:lnTo>
                  <a:lnTo>
                    <a:pt x="0" y="0"/>
                  </a:lnTo>
                  <a:close/>
                </a:path>
              </a:pathLst>
            </a:custGeom>
            <a:solidFill>
              <a:srgbClr val="1A6B25"/>
            </a:solidFill>
          </p:spPr>
          <p:txBody>
            <a:bodyPr/>
            <a:lstStyle/>
            <a:p>
              <a:endParaRPr lang="en-US"/>
            </a:p>
          </p:txBody>
        </p:sp>
        <p:sp>
          <p:nvSpPr>
            <p:cNvPr id="221" name="TextBox 63">
              <a:extLst>
                <a:ext uri="{FF2B5EF4-FFF2-40B4-BE49-F238E27FC236}">
                  <a16:creationId xmlns:a16="http://schemas.microsoft.com/office/drawing/2014/main" id="{D78A88A5-E759-A33A-4712-5D0537710AD1}"/>
                </a:ext>
              </a:extLst>
            </p:cNvPr>
            <p:cNvSpPr txBox="1"/>
            <p:nvPr/>
          </p:nvSpPr>
          <p:spPr>
            <a:xfrm>
              <a:off x="177800" y="-38100"/>
              <a:ext cx="558800" cy="453796"/>
            </a:xfrm>
            <a:prstGeom prst="rect">
              <a:avLst/>
            </a:prstGeom>
          </p:spPr>
          <p:txBody>
            <a:bodyPr lIns="50800" tIns="50800" rIns="50800" bIns="50800" rtlCol="0" anchor="ctr"/>
            <a:lstStyle/>
            <a:p>
              <a:pPr algn="ctr">
                <a:lnSpc>
                  <a:spcPts val="2659"/>
                </a:lnSpc>
              </a:pPr>
              <a:endParaRPr/>
            </a:p>
          </p:txBody>
        </p:sp>
      </p:grpSp>
      <p:grpSp>
        <p:nvGrpSpPr>
          <p:cNvPr id="222" name="Group 61">
            <a:extLst>
              <a:ext uri="{FF2B5EF4-FFF2-40B4-BE49-F238E27FC236}">
                <a16:creationId xmlns:a16="http://schemas.microsoft.com/office/drawing/2014/main" id="{6D9E684A-46AE-08FC-A907-AB6A0318357A}"/>
              </a:ext>
            </a:extLst>
          </p:cNvPr>
          <p:cNvGrpSpPr/>
          <p:nvPr/>
        </p:nvGrpSpPr>
        <p:grpSpPr>
          <a:xfrm>
            <a:off x="102778" y="3394847"/>
            <a:ext cx="2113200" cy="719955"/>
            <a:chOff x="0" y="0"/>
            <a:chExt cx="812800" cy="415696"/>
          </a:xfrm>
        </p:grpSpPr>
        <p:sp>
          <p:nvSpPr>
            <p:cNvPr id="223" name="Freeform 62">
              <a:extLst>
                <a:ext uri="{FF2B5EF4-FFF2-40B4-BE49-F238E27FC236}">
                  <a16:creationId xmlns:a16="http://schemas.microsoft.com/office/drawing/2014/main" id="{A4D535D1-57B6-BFCD-DB08-5F85846125FF}"/>
                </a:ext>
              </a:extLst>
            </p:cNvPr>
            <p:cNvSpPr/>
            <p:nvPr/>
          </p:nvSpPr>
          <p:spPr>
            <a:xfrm>
              <a:off x="0" y="0"/>
              <a:ext cx="812800" cy="415696"/>
            </a:xfrm>
            <a:custGeom>
              <a:avLst/>
              <a:gdLst/>
              <a:ahLst/>
              <a:cxnLst/>
              <a:rect l="l" t="t" r="r" b="b"/>
              <a:pathLst>
                <a:path w="812800" h="415696">
                  <a:moveTo>
                    <a:pt x="0" y="0"/>
                  </a:moveTo>
                  <a:lnTo>
                    <a:pt x="609600" y="0"/>
                  </a:lnTo>
                  <a:lnTo>
                    <a:pt x="812800" y="207848"/>
                  </a:lnTo>
                  <a:lnTo>
                    <a:pt x="609600" y="415696"/>
                  </a:lnTo>
                  <a:lnTo>
                    <a:pt x="0" y="415696"/>
                  </a:lnTo>
                  <a:lnTo>
                    <a:pt x="203200" y="207848"/>
                  </a:lnTo>
                  <a:lnTo>
                    <a:pt x="0" y="0"/>
                  </a:lnTo>
                  <a:close/>
                </a:path>
              </a:pathLst>
            </a:custGeom>
            <a:solidFill>
              <a:srgbClr val="1A6B25"/>
            </a:solidFill>
          </p:spPr>
          <p:txBody>
            <a:bodyPr/>
            <a:lstStyle/>
            <a:p>
              <a:endParaRPr lang="en-US"/>
            </a:p>
          </p:txBody>
        </p:sp>
        <p:sp>
          <p:nvSpPr>
            <p:cNvPr id="224" name="TextBox 63">
              <a:extLst>
                <a:ext uri="{FF2B5EF4-FFF2-40B4-BE49-F238E27FC236}">
                  <a16:creationId xmlns:a16="http://schemas.microsoft.com/office/drawing/2014/main" id="{E4DDDDF9-1656-30FF-A865-8A747F972FBE}"/>
                </a:ext>
              </a:extLst>
            </p:cNvPr>
            <p:cNvSpPr txBox="1"/>
            <p:nvPr/>
          </p:nvSpPr>
          <p:spPr>
            <a:xfrm>
              <a:off x="177800" y="-38100"/>
              <a:ext cx="558800" cy="453796"/>
            </a:xfrm>
            <a:prstGeom prst="rect">
              <a:avLst/>
            </a:prstGeom>
          </p:spPr>
          <p:txBody>
            <a:bodyPr lIns="50800" tIns="50800" rIns="50800" bIns="50800" rtlCol="0" anchor="ctr"/>
            <a:lstStyle/>
            <a:p>
              <a:pPr algn="ctr">
                <a:lnSpc>
                  <a:spcPts val="2659"/>
                </a:lnSpc>
              </a:pPr>
              <a:endParaRPr/>
            </a:p>
          </p:txBody>
        </p:sp>
      </p:grpSp>
      <p:sp>
        <p:nvSpPr>
          <p:cNvPr id="225" name="TextBox 224">
            <a:extLst>
              <a:ext uri="{FF2B5EF4-FFF2-40B4-BE49-F238E27FC236}">
                <a16:creationId xmlns:a16="http://schemas.microsoft.com/office/drawing/2014/main" id="{98475468-C763-F65E-579E-F1A01A4F599F}"/>
              </a:ext>
            </a:extLst>
          </p:cNvPr>
          <p:cNvSpPr txBox="1"/>
          <p:nvPr/>
        </p:nvSpPr>
        <p:spPr>
          <a:xfrm>
            <a:off x="600524" y="3535122"/>
            <a:ext cx="1343780" cy="461665"/>
          </a:xfrm>
          <a:prstGeom prst="rect">
            <a:avLst/>
          </a:prstGeom>
          <a:noFill/>
        </p:spPr>
        <p:txBody>
          <a:bodyPr wrap="square" rtlCol="0">
            <a:spAutoFit/>
          </a:bodyPr>
          <a:lstStyle/>
          <a:p>
            <a:r>
              <a:rPr lang="en-US" sz="1200" b="1" i="1" dirty="0">
                <a:solidFill>
                  <a:schemeClr val="bg1"/>
                </a:solidFill>
                <a:latin typeface="Times New Roman" panose="02020603050405020304" pitchFamily="18" charset="0"/>
                <a:cs typeface="Times New Roman" panose="02020603050405020304" pitchFamily="18" charset="0"/>
              </a:rPr>
              <a:t>Recommendation</a:t>
            </a:r>
          </a:p>
          <a:p>
            <a:pPr algn="ctr"/>
            <a:r>
              <a:rPr lang="en-US" sz="1200" b="1" i="1" dirty="0">
                <a:solidFill>
                  <a:schemeClr val="bg1"/>
                </a:solidFill>
                <a:latin typeface="Times New Roman" panose="02020603050405020304" pitchFamily="18" charset="0"/>
                <a:cs typeface="Times New Roman" panose="02020603050405020304" pitchFamily="18" charset="0"/>
              </a:rPr>
              <a:t>#1</a:t>
            </a:r>
          </a:p>
        </p:txBody>
      </p:sp>
      <p:sp>
        <p:nvSpPr>
          <p:cNvPr id="226" name="TextBox 225">
            <a:extLst>
              <a:ext uri="{FF2B5EF4-FFF2-40B4-BE49-F238E27FC236}">
                <a16:creationId xmlns:a16="http://schemas.microsoft.com/office/drawing/2014/main" id="{FCB77629-0722-4C34-07FC-0CA81CFF015C}"/>
              </a:ext>
            </a:extLst>
          </p:cNvPr>
          <p:cNvSpPr txBox="1"/>
          <p:nvPr/>
        </p:nvSpPr>
        <p:spPr>
          <a:xfrm>
            <a:off x="2501803" y="3535122"/>
            <a:ext cx="1343780" cy="461665"/>
          </a:xfrm>
          <a:prstGeom prst="rect">
            <a:avLst/>
          </a:prstGeom>
          <a:noFill/>
        </p:spPr>
        <p:txBody>
          <a:bodyPr wrap="square" rtlCol="0">
            <a:spAutoFit/>
          </a:bodyPr>
          <a:lstStyle/>
          <a:p>
            <a:r>
              <a:rPr lang="en-US" sz="1200" b="1" i="1" dirty="0">
                <a:solidFill>
                  <a:schemeClr val="bg1"/>
                </a:solidFill>
                <a:latin typeface="Times New Roman" panose="02020603050405020304" pitchFamily="18" charset="0"/>
                <a:cs typeface="Times New Roman" panose="02020603050405020304" pitchFamily="18" charset="0"/>
              </a:rPr>
              <a:t>Recommendation</a:t>
            </a:r>
          </a:p>
          <a:p>
            <a:pPr algn="ctr"/>
            <a:r>
              <a:rPr lang="en-US" sz="1200" b="1" i="1" dirty="0">
                <a:solidFill>
                  <a:schemeClr val="bg1"/>
                </a:solidFill>
                <a:latin typeface="Times New Roman" panose="02020603050405020304" pitchFamily="18" charset="0"/>
                <a:cs typeface="Times New Roman" panose="02020603050405020304" pitchFamily="18" charset="0"/>
              </a:rPr>
              <a:t>#2</a:t>
            </a:r>
          </a:p>
        </p:txBody>
      </p:sp>
      <p:sp>
        <p:nvSpPr>
          <p:cNvPr id="227" name="TextBox 226">
            <a:extLst>
              <a:ext uri="{FF2B5EF4-FFF2-40B4-BE49-F238E27FC236}">
                <a16:creationId xmlns:a16="http://schemas.microsoft.com/office/drawing/2014/main" id="{A678AF57-5BCA-1FAC-7F0C-A9088438D4AA}"/>
              </a:ext>
            </a:extLst>
          </p:cNvPr>
          <p:cNvSpPr txBox="1"/>
          <p:nvPr/>
        </p:nvSpPr>
        <p:spPr>
          <a:xfrm>
            <a:off x="4403082" y="3535122"/>
            <a:ext cx="1343780" cy="461665"/>
          </a:xfrm>
          <a:prstGeom prst="rect">
            <a:avLst/>
          </a:prstGeom>
          <a:noFill/>
        </p:spPr>
        <p:txBody>
          <a:bodyPr wrap="square" rtlCol="0">
            <a:spAutoFit/>
          </a:bodyPr>
          <a:lstStyle/>
          <a:p>
            <a:r>
              <a:rPr lang="en-US" sz="1200" b="1" i="1" dirty="0">
                <a:solidFill>
                  <a:schemeClr val="bg1"/>
                </a:solidFill>
                <a:latin typeface="Times New Roman" panose="02020603050405020304" pitchFamily="18" charset="0"/>
                <a:cs typeface="Times New Roman" panose="02020603050405020304" pitchFamily="18" charset="0"/>
              </a:rPr>
              <a:t>Recommendation</a:t>
            </a:r>
          </a:p>
          <a:p>
            <a:pPr algn="ctr"/>
            <a:r>
              <a:rPr lang="en-US" sz="1200" b="1" i="1" dirty="0">
                <a:solidFill>
                  <a:schemeClr val="bg1"/>
                </a:solidFill>
                <a:latin typeface="Times New Roman" panose="02020603050405020304" pitchFamily="18" charset="0"/>
                <a:cs typeface="Times New Roman" panose="02020603050405020304" pitchFamily="18" charset="0"/>
              </a:rPr>
              <a:t>#3</a:t>
            </a:r>
          </a:p>
        </p:txBody>
      </p:sp>
      <p:sp>
        <p:nvSpPr>
          <p:cNvPr id="228" name="TextBox 227">
            <a:extLst>
              <a:ext uri="{FF2B5EF4-FFF2-40B4-BE49-F238E27FC236}">
                <a16:creationId xmlns:a16="http://schemas.microsoft.com/office/drawing/2014/main" id="{605AA9E7-65A8-B5B7-4E69-1E26B46B2985}"/>
              </a:ext>
            </a:extLst>
          </p:cNvPr>
          <p:cNvSpPr txBox="1"/>
          <p:nvPr/>
        </p:nvSpPr>
        <p:spPr>
          <a:xfrm>
            <a:off x="6304361" y="3535122"/>
            <a:ext cx="1343780" cy="461665"/>
          </a:xfrm>
          <a:prstGeom prst="rect">
            <a:avLst/>
          </a:prstGeom>
          <a:noFill/>
        </p:spPr>
        <p:txBody>
          <a:bodyPr wrap="square" rtlCol="0">
            <a:spAutoFit/>
          </a:bodyPr>
          <a:lstStyle/>
          <a:p>
            <a:r>
              <a:rPr lang="en-US" sz="1200" b="1" i="1" dirty="0">
                <a:solidFill>
                  <a:schemeClr val="bg1"/>
                </a:solidFill>
                <a:latin typeface="Times New Roman" panose="02020603050405020304" pitchFamily="18" charset="0"/>
                <a:cs typeface="Times New Roman" panose="02020603050405020304" pitchFamily="18" charset="0"/>
              </a:rPr>
              <a:t>Recommendation</a:t>
            </a:r>
          </a:p>
          <a:p>
            <a:pPr algn="ctr"/>
            <a:r>
              <a:rPr lang="en-US" sz="1200" b="1" i="1" dirty="0">
                <a:solidFill>
                  <a:schemeClr val="bg1"/>
                </a:solidFill>
                <a:latin typeface="Times New Roman" panose="02020603050405020304" pitchFamily="18" charset="0"/>
                <a:cs typeface="Times New Roman" panose="02020603050405020304" pitchFamily="18" charset="0"/>
              </a:rPr>
              <a:t>#4</a:t>
            </a:r>
          </a:p>
        </p:txBody>
      </p:sp>
      <p:sp>
        <p:nvSpPr>
          <p:cNvPr id="229" name="TextBox 228">
            <a:extLst>
              <a:ext uri="{FF2B5EF4-FFF2-40B4-BE49-F238E27FC236}">
                <a16:creationId xmlns:a16="http://schemas.microsoft.com/office/drawing/2014/main" id="{83CE2113-4D06-3C81-F035-CB91AC7D7DB9}"/>
              </a:ext>
            </a:extLst>
          </p:cNvPr>
          <p:cNvSpPr txBox="1"/>
          <p:nvPr/>
        </p:nvSpPr>
        <p:spPr>
          <a:xfrm>
            <a:off x="8205640" y="3535122"/>
            <a:ext cx="1343780" cy="461665"/>
          </a:xfrm>
          <a:prstGeom prst="rect">
            <a:avLst/>
          </a:prstGeom>
          <a:noFill/>
        </p:spPr>
        <p:txBody>
          <a:bodyPr wrap="square" rtlCol="0">
            <a:spAutoFit/>
          </a:bodyPr>
          <a:lstStyle/>
          <a:p>
            <a:r>
              <a:rPr lang="en-US" sz="1200" b="1" i="1" dirty="0">
                <a:solidFill>
                  <a:schemeClr val="bg1"/>
                </a:solidFill>
                <a:latin typeface="Times New Roman" panose="02020603050405020304" pitchFamily="18" charset="0"/>
                <a:cs typeface="Times New Roman" panose="02020603050405020304" pitchFamily="18" charset="0"/>
              </a:rPr>
              <a:t>Recommendation</a:t>
            </a:r>
          </a:p>
          <a:p>
            <a:pPr algn="ctr"/>
            <a:r>
              <a:rPr lang="en-US" sz="1200" b="1" i="1" dirty="0">
                <a:solidFill>
                  <a:schemeClr val="bg1"/>
                </a:solidFill>
                <a:latin typeface="Times New Roman" panose="02020603050405020304" pitchFamily="18" charset="0"/>
                <a:cs typeface="Times New Roman" panose="02020603050405020304" pitchFamily="18" charset="0"/>
              </a:rPr>
              <a:t>#5</a:t>
            </a:r>
          </a:p>
        </p:txBody>
      </p:sp>
      <p:grpSp>
        <p:nvGrpSpPr>
          <p:cNvPr id="233" name="Group 232">
            <a:extLst>
              <a:ext uri="{FF2B5EF4-FFF2-40B4-BE49-F238E27FC236}">
                <a16:creationId xmlns:a16="http://schemas.microsoft.com/office/drawing/2014/main" id="{E40D5A96-27F5-0C7B-5117-030AC95FAA96}"/>
              </a:ext>
            </a:extLst>
          </p:cNvPr>
          <p:cNvGrpSpPr/>
          <p:nvPr/>
        </p:nvGrpSpPr>
        <p:grpSpPr>
          <a:xfrm>
            <a:off x="2390706" y="2222369"/>
            <a:ext cx="901122" cy="864000"/>
            <a:chOff x="537907" y="4579341"/>
            <a:chExt cx="901122" cy="864000"/>
          </a:xfrm>
        </p:grpSpPr>
        <p:sp>
          <p:nvSpPr>
            <p:cNvPr id="234" name="Oval 233">
              <a:extLst>
                <a:ext uri="{FF2B5EF4-FFF2-40B4-BE49-F238E27FC236}">
                  <a16:creationId xmlns:a16="http://schemas.microsoft.com/office/drawing/2014/main" id="{347337B8-4C11-8129-0434-730DA15AB3F0}"/>
                </a:ext>
              </a:extLst>
            </p:cNvPr>
            <p:cNvSpPr>
              <a:spLocks noChangeAspect="1"/>
            </p:cNvSpPr>
            <p:nvPr/>
          </p:nvSpPr>
          <p:spPr>
            <a:xfrm>
              <a:off x="537907" y="4579341"/>
              <a:ext cx="901122" cy="864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83598CF2-118D-584E-7E00-D23C2CBC98E4}"/>
                </a:ext>
              </a:extLst>
            </p:cNvPr>
            <p:cNvSpPr/>
            <p:nvPr/>
          </p:nvSpPr>
          <p:spPr>
            <a:xfrm>
              <a:off x="600523" y="4639377"/>
              <a:ext cx="775890" cy="74392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 name="Group 238">
            <a:extLst>
              <a:ext uri="{FF2B5EF4-FFF2-40B4-BE49-F238E27FC236}">
                <a16:creationId xmlns:a16="http://schemas.microsoft.com/office/drawing/2014/main" id="{0D8D7B85-7E75-6C87-5B0B-2082D94D4446}"/>
              </a:ext>
            </a:extLst>
          </p:cNvPr>
          <p:cNvGrpSpPr/>
          <p:nvPr/>
        </p:nvGrpSpPr>
        <p:grpSpPr>
          <a:xfrm>
            <a:off x="6244539" y="2287718"/>
            <a:ext cx="901122" cy="864000"/>
            <a:chOff x="537907" y="4579341"/>
            <a:chExt cx="901122" cy="864000"/>
          </a:xfrm>
        </p:grpSpPr>
        <p:sp>
          <p:nvSpPr>
            <p:cNvPr id="240" name="Oval 239">
              <a:extLst>
                <a:ext uri="{FF2B5EF4-FFF2-40B4-BE49-F238E27FC236}">
                  <a16:creationId xmlns:a16="http://schemas.microsoft.com/office/drawing/2014/main" id="{D44F9C44-8D69-A8B6-A35A-92A16B5298D0}"/>
                </a:ext>
              </a:extLst>
            </p:cNvPr>
            <p:cNvSpPr>
              <a:spLocks noChangeAspect="1"/>
            </p:cNvSpPr>
            <p:nvPr/>
          </p:nvSpPr>
          <p:spPr>
            <a:xfrm>
              <a:off x="537907" y="4579341"/>
              <a:ext cx="901122" cy="864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C413FA36-4B0F-D9E7-1FA3-64D9796DAF1D}"/>
                </a:ext>
              </a:extLst>
            </p:cNvPr>
            <p:cNvSpPr/>
            <p:nvPr/>
          </p:nvSpPr>
          <p:spPr>
            <a:xfrm>
              <a:off x="600523" y="4639377"/>
              <a:ext cx="775890" cy="74392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8" name="Group 257">
            <a:extLst>
              <a:ext uri="{FF2B5EF4-FFF2-40B4-BE49-F238E27FC236}">
                <a16:creationId xmlns:a16="http://schemas.microsoft.com/office/drawing/2014/main" id="{E14DDDDD-50DD-1CCF-1AD1-17DAFCD9D449}"/>
              </a:ext>
            </a:extLst>
          </p:cNvPr>
          <p:cNvGrpSpPr/>
          <p:nvPr/>
        </p:nvGrpSpPr>
        <p:grpSpPr>
          <a:xfrm>
            <a:off x="537907" y="4117652"/>
            <a:ext cx="8402589" cy="1156616"/>
            <a:chOff x="537907" y="4260873"/>
            <a:chExt cx="8402589" cy="1156616"/>
          </a:xfrm>
        </p:grpSpPr>
        <p:grpSp>
          <p:nvGrpSpPr>
            <p:cNvPr id="232" name="Group 231">
              <a:extLst>
                <a:ext uri="{FF2B5EF4-FFF2-40B4-BE49-F238E27FC236}">
                  <a16:creationId xmlns:a16="http://schemas.microsoft.com/office/drawing/2014/main" id="{00357F71-035F-3E16-EB9B-5829CD7A9D56}"/>
                </a:ext>
              </a:extLst>
            </p:cNvPr>
            <p:cNvGrpSpPr/>
            <p:nvPr/>
          </p:nvGrpSpPr>
          <p:grpSpPr>
            <a:xfrm>
              <a:off x="537907" y="4553489"/>
              <a:ext cx="901122" cy="864000"/>
              <a:chOff x="537907" y="4579341"/>
              <a:chExt cx="901122" cy="864000"/>
            </a:xfrm>
          </p:grpSpPr>
          <p:sp>
            <p:nvSpPr>
              <p:cNvPr id="231" name="Oval 230">
                <a:extLst>
                  <a:ext uri="{FF2B5EF4-FFF2-40B4-BE49-F238E27FC236}">
                    <a16:creationId xmlns:a16="http://schemas.microsoft.com/office/drawing/2014/main" id="{C2C03724-9530-7E5A-28D0-88509C1EF594}"/>
                  </a:ext>
                </a:extLst>
              </p:cNvPr>
              <p:cNvSpPr>
                <a:spLocks noChangeAspect="1"/>
              </p:cNvSpPr>
              <p:nvPr/>
            </p:nvSpPr>
            <p:spPr>
              <a:xfrm>
                <a:off x="537907" y="4579341"/>
                <a:ext cx="901122" cy="864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1410459E-8B23-F858-972F-CDCD31A7E0FD}"/>
                  </a:ext>
                </a:extLst>
              </p:cNvPr>
              <p:cNvSpPr/>
              <p:nvPr/>
            </p:nvSpPr>
            <p:spPr>
              <a:xfrm>
                <a:off x="600523" y="4639377"/>
                <a:ext cx="775890" cy="74392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6" name="Group 235">
              <a:extLst>
                <a:ext uri="{FF2B5EF4-FFF2-40B4-BE49-F238E27FC236}">
                  <a16:creationId xmlns:a16="http://schemas.microsoft.com/office/drawing/2014/main" id="{4DCB1BF7-75E6-3E0B-10D6-48D0ACFBD6A7}"/>
                </a:ext>
              </a:extLst>
            </p:cNvPr>
            <p:cNvGrpSpPr/>
            <p:nvPr/>
          </p:nvGrpSpPr>
          <p:grpSpPr>
            <a:xfrm>
              <a:off x="4288640" y="4553489"/>
              <a:ext cx="901122" cy="864000"/>
              <a:chOff x="537907" y="4579341"/>
              <a:chExt cx="901122" cy="864000"/>
            </a:xfrm>
          </p:grpSpPr>
          <p:sp>
            <p:nvSpPr>
              <p:cNvPr id="237" name="Oval 236">
                <a:extLst>
                  <a:ext uri="{FF2B5EF4-FFF2-40B4-BE49-F238E27FC236}">
                    <a16:creationId xmlns:a16="http://schemas.microsoft.com/office/drawing/2014/main" id="{E842A391-AC4A-5AED-5B5E-02A037538271}"/>
                  </a:ext>
                </a:extLst>
              </p:cNvPr>
              <p:cNvSpPr>
                <a:spLocks noChangeAspect="1"/>
              </p:cNvSpPr>
              <p:nvPr/>
            </p:nvSpPr>
            <p:spPr>
              <a:xfrm>
                <a:off x="537907" y="4579341"/>
                <a:ext cx="901122" cy="864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DE859B70-764E-4DE1-6D4A-30A7530E25D5}"/>
                  </a:ext>
                </a:extLst>
              </p:cNvPr>
              <p:cNvSpPr/>
              <p:nvPr/>
            </p:nvSpPr>
            <p:spPr>
              <a:xfrm>
                <a:off x="600523" y="4639377"/>
                <a:ext cx="775890" cy="74392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2" name="Group 241">
              <a:extLst>
                <a:ext uri="{FF2B5EF4-FFF2-40B4-BE49-F238E27FC236}">
                  <a16:creationId xmlns:a16="http://schemas.microsoft.com/office/drawing/2014/main" id="{3BA18E49-3B35-1685-7295-B89A119398CE}"/>
                </a:ext>
              </a:extLst>
            </p:cNvPr>
            <p:cNvGrpSpPr/>
            <p:nvPr/>
          </p:nvGrpSpPr>
          <p:grpSpPr>
            <a:xfrm>
              <a:off x="8039374" y="4553489"/>
              <a:ext cx="901122" cy="864000"/>
              <a:chOff x="537907" y="4579341"/>
              <a:chExt cx="901122" cy="864000"/>
            </a:xfrm>
            <a:solidFill>
              <a:schemeClr val="accent3"/>
            </a:solidFill>
          </p:grpSpPr>
          <p:sp>
            <p:nvSpPr>
              <p:cNvPr id="243" name="Oval 242">
                <a:extLst>
                  <a:ext uri="{FF2B5EF4-FFF2-40B4-BE49-F238E27FC236}">
                    <a16:creationId xmlns:a16="http://schemas.microsoft.com/office/drawing/2014/main" id="{05758223-E330-27C2-7CF4-1D6129048FD7}"/>
                  </a:ext>
                </a:extLst>
              </p:cNvPr>
              <p:cNvSpPr>
                <a:spLocks noChangeAspect="1"/>
              </p:cNvSpPr>
              <p:nvPr/>
            </p:nvSpPr>
            <p:spPr>
              <a:xfrm>
                <a:off x="537907" y="4579341"/>
                <a:ext cx="901122" cy="864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4" name="Oval 243">
                <a:extLst>
                  <a:ext uri="{FF2B5EF4-FFF2-40B4-BE49-F238E27FC236}">
                    <a16:creationId xmlns:a16="http://schemas.microsoft.com/office/drawing/2014/main" id="{26B6FC49-8BE7-F23D-CCB6-0350D08B6A4C}"/>
                  </a:ext>
                </a:extLst>
              </p:cNvPr>
              <p:cNvSpPr/>
              <p:nvPr/>
            </p:nvSpPr>
            <p:spPr>
              <a:xfrm>
                <a:off x="600523" y="4639377"/>
                <a:ext cx="775890" cy="74392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246" name="Straight Connector 245">
              <a:extLst>
                <a:ext uri="{FF2B5EF4-FFF2-40B4-BE49-F238E27FC236}">
                  <a16:creationId xmlns:a16="http://schemas.microsoft.com/office/drawing/2014/main" id="{50AC5430-6012-EA98-5671-2771C01C5A52}"/>
                </a:ext>
              </a:extLst>
            </p:cNvPr>
            <p:cNvCxnSpPr>
              <a:cxnSpLocks/>
              <a:endCxn id="231" idx="0"/>
            </p:cNvCxnSpPr>
            <p:nvPr/>
          </p:nvCxnSpPr>
          <p:spPr>
            <a:xfrm>
              <a:off x="988468" y="4260873"/>
              <a:ext cx="0" cy="29261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249" name="Straight Connector 248">
              <a:extLst>
                <a:ext uri="{FF2B5EF4-FFF2-40B4-BE49-F238E27FC236}">
                  <a16:creationId xmlns:a16="http://schemas.microsoft.com/office/drawing/2014/main" id="{3FA4D937-AF59-9B69-35DA-92D77B138073}"/>
                </a:ext>
              </a:extLst>
            </p:cNvPr>
            <p:cNvCxnSpPr>
              <a:cxnSpLocks/>
            </p:cNvCxnSpPr>
            <p:nvPr/>
          </p:nvCxnSpPr>
          <p:spPr>
            <a:xfrm>
              <a:off x="4739201" y="4260873"/>
              <a:ext cx="0" cy="29261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250" name="Straight Connector 249">
              <a:extLst>
                <a:ext uri="{FF2B5EF4-FFF2-40B4-BE49-F238E27FC236}">
                  <a16:creationId xmlns:a16="http://schemas.microsoft.com/office/drawing/2014/main" id="{D5AE462B-F8F9-C530-864F-5C46DCE4DF71}"/>
                </a:ext>
              </a:extLst>
            </p:cNvPr>
            <p:cNvCxnSpPr>
              <a:cxnSpLocks/>
            </p:cNvCxnSpPr>
            <p:nvPr/>
          </p:nvCxnSpPr>
          <p:spPr>
            <a:xfrm>
              <a:off x="8489934" y="4260873"/>
              <a:ext cx="0" cy="292616"/>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grpSp>
      <p:cxnSp>
        <p:nvCxnSpPr>
          <p:cNvPr id="251" name="Straight Connector 250">
            <a:extLst>
              <a:ext uri="{FF2B5EF4-FFF2-40B4-BE49-F238E27FC236}">
                <a16:creationId xmlns:a16="http://schemas.microsoft.com/office/drawing/2014/main" id="{6DBDADA7-8E8E-146A-AFC4-61DF27B28444}"/>
              </a:ext>
            </a:extLst>
          </p:cNvPr>
          <p:cNvCxnSpPr>
            <a:cxnSpLocks/>
          </p:cNvCxnSpPr>
          <p:nvPr/>
        </p:nvCxnSpPr>
        <p:spPr>
          <a:xfrm>
            <a:off x="2841267" y="3086369"/>
            <a:ext cx="0" cy="29261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252" name="Straight Connector 251">
            <a:extLst>
              <a:ext uri="{FF2B5EF4-FFF2-40B4-BE49-F238E27FC236}">
                <a16:creationId xmlns:a16="http://schemas.microsoft.com/office/drawing/2014/main" id="{FDA7FF20-9222-04C2-DA41-E2BA2E80D970}"/>
              </a:ext>
            </a:extLst>
          </p:cNvPr>
          <p:cNvCxnSpPr>
            <a:cxnSpLocks/>
          </p:cNvCxnSpPr>
          <p:nvPr/>
        </p:nvCxnSpPr>
        <p:spPr>
          <a:xfrm>
            <a:off x="6695100" y="3154198"/>
            <a:ext cx="0" cy="29261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253" name="TextBox 85">
            <a:extLst>
              <a:ext uri="{FF2B5EF4-FFF2-40B4-BE49-F238E27FC236}">
                <a16:creationId xmlns:a16="http://schemas.microsoft.com/office/drawing/2014/main" id="{583686DD-C72D-A9EF-0144-D3E13EAD4064}"/>
              </a:ext>
            </a:extLst>
          </p:cNvPr>
          <p:cNvSpPr txBox="1"/>
          <p:nvPr/>
        </p:nvSpPr>
        <p:spPr>
          <a:xfrm>
            <a:off x="-6213" y="2091361"/>
            <a:ext cx="2331181" cy="984885"/>
          </a:xfrm>
          <a:prstGeom prst="rect">
            <a:avLst/>
          </a:prstGeom>
        </p:spPr>
        <p:txBody>
          <a:bodyPr wrap="square" lIns="0" tIns="0" rIns="0" bIns="0" rtlCol="0" anchor="t">
            <a:spAutoFit/>
          </a:bodyPr>
          <a:lstStyle/>
          <a:p>
            <a:pPr algn="ctr"/>
            <a:r>
              <a:rPr lang="en-US" sz="1600">
                <a:solidFill>
                  <a:srgbClr val="000000"/>
                </a:solidFill>
                <a:latin typeface="Times New Roman" panose="02020603050405020304" pitchFamily="18" charset="0"/>
                <a:ea typeface="Times New Roman Italics"/>
                <a:cs typeface="Times New Roman" panose="02020603050405020304" pitchFamily="18" charset="0"/>
                <a:sym typeface="Times New Roman Italics"/>
              </a:rPr>
              <a:t>Fund applied policy research on AI governance failures in Brazil’s public sector​</a:t>
            </a:r>
          </a:p>
        </p:txBody>
      </p:sp>
      <p:sp>
        <p:nvSpPr>
          <p:cNvPr id="254" name="TextBox 85">
            <a:extLst>
              <a:ext uri="{FF2B5EF4-FFF2-40B4-BE49-F238E27FC236}">
                <a16:creationId xmlns:a16="http://schemas.microsoft.com/office/drawing/2014/main" id="{D4B018A1-2FB9-A3D5-6109-D7FF3669A7D7}"/>
              </a:ext>
            </a:extLst>
          </p:cNvPr>
          <p:cNvSpPr txBox="1"/>
          <p:nvPr/>
        </p:nvSpPr>
        <p:spPr>
          <a:xfrm>
            <a:off x="1626103" y="4255077"/>
            <a:ext cx="2331181" cy="984885"/>
          </a:xfrm>
          <a:prstGeom prst="rect">
            <a:avLst/>
          </a:prstGeom>
        </p:spPr>
        <p:txBody>
          <a:bodyPr wrap="square" lIns="0" tIns="0" rIns="0" bIns="0" rtlCol="0" anchor="t">
            <a:spAutoFit/>
          </a:bodyPr>
          <a:lstStyle/>
          <a:p>
            <a:pPr algn="ctr"/>
            <a:r>
              <a:rPr lang="en-US" sz="1600">
                <a:solidFill>
                  <a:srgbClr val="000000"/>
                </a:solidFill>
                <a:latin typeface="Times New Roman" panose="02020603050405020304" pitchFamily="18" charset="0"/>
                <a:ea typeface="Times New Roman Italics"/>
                <a:cs typeface="Times New Roman" panose="02020603050405020304" pitchFamily="18" charset="0"/>
                <a:sym typeface="Times New Roman Italics"/>
              </a:rPr>
              <a:t>Fund executive education for state and municipal public managers on AI governance​</a:t>
            </a:r>
          </a:p>
        </p:txBody>
      </p:sp>
      <p:sp>
        <p:nvSpPr>
          <p:cNvPr id="255" name="TextBox 85">
            <a:extLst>
              <a:ext uri="{FF2B5EF4-FFF2-40B4-BE49-F238E27FC236}">
                <a16:creationId xmlns:a16="http://schemas.microsoft.com/office/drawing/2014/main" id="{7C524A4C-0B5D-4E72-0D44-A9547CC19899}"/>
              </a:ext>
            </a:extLst>
          </p:cNvPr>
          <p:cNvSpPr txBox="1"/>
          <p:nvPr/>
        </p:nvSpPr>
        <p:spPr>
          <a:xfrm>
            <a:off x="3658415" y="2091360"/>
            <a:ext cx="2331181" cy="984885"/>
          </a:xfrm>
          <a:prstGeom prst="rect">
            <a:avLst/>
          </a:prstGeom>
        </p:spPr>
        <p:txBody>
          <a:bodyPr wrap="square" lIns="0" tIns="0" rIns="0" bIns="0" rtlCol="0" anchor="t">
            <a:spAutoFit/>
          </a:bodyPr>
          <a:lstStyle/>
          <a:p>
            <a:pPr algn="ctr"/>
            <a:r>
              <a:rPr lang="en-US" sz="1600">
                <a:solidFill>
                  <a:srgbClr val="000000"/>
                </a:solidFill>
                <a:latin typeface="Times New Roman" panose="02020603050405020304" pitchFamily="18" charset="0"/>
                <a:ea typeface="Times New Roman Italics"/>
                <a:cs typeface="Times New Roman" panose="02020603050405020304" pitchFamily="18" charset="0"/>
                <a:sym typeface="Times New Roman Italics"/>
              </a:rPr>
              <a:t>Provide multi-year institutional funding for civil society AI oversight and accountability ​</a:t>
            </a:r>
          </a:p>
        </p:txBody>
      </p:sp>
      <p:sp>
        <p:nvSpPr>
          <p:cNvPr id="256" name="TextBox 85">
            <a:extLst>
              <a:ext uri="{FF2B5EF4-FFF2-40B4-BE49-F238E27FC236}">
                <a16:creationId xmlns:a16="http://schemas.microsoft.com/office/drawing/2014/main" id="{987A8D58-9DCD-1206-C78F-72426146D18E}"/>
              </a:ext>
            </a:extLst>
          </p:cNvPr>
          <p:cNvSpPr txBox="1"/>
          <p:nvPr/>
        </p:nvSpPr>
        <p:spPr>
          <a:xfrm>
            <a:off x="5521118" y="4298086"/>
            <a:ext cx="2331181" cy="984885"/>
          </a:xfrm>
          <a:prstGeom prst="rect">
            <a:avLst/>
          </a:prstGeom>
        </p:spPr>
        <p:txBody>
          <a:bodyPr wrap="square" lIns="0" tIns="0" rIns="0" bIns="0" rtlCol="0" anchor="t">
            <a:spAutoFit/>
          </a:bodyPr>
          <a:lstStyle/>
          <a:p>
            <a:pPr marL="0" lvl="1" indent="0" algn="ctr"/>
            <a:r>
              <a:rPr lang="en-US" sz="1600">
                <a:solidFill>
                  <a:srgbClr val="000000"/>
                </a:solidFill>
                <a:latin typeface="Times New Roman" panose="02020603050405020304" pitchFamily="18" charset="0"/>
                <a:ea typeface="Times New Roman Italics"/>
                <a:cs typeface="Times New Roman" panose="02020603050405020304" pitchFamily="18" charset="0"/>
                <a:sym typeface="Times New Roman Italics"/>
              </a:rPr>
              <a:t>Support responsible AI adoption in public education with a youth well-being lens ​</a:t>
            </a:r>
          </a:p>
        </p:txBody>
      </p:sp>
      <p:sp>
        <p:nvSpPr>
          <p:cNvPr id="257" name="TextBox 85">
            <a:extLst>
              <a:ext uri="{FF2B5EF4-FFF2-40B4-BE49-F238E27FC236}">
                <a16:creationId xmlns:a16="http://schemas.microsoft.com/office/drawing/2014/main" id="{8D66ED63-DF59-92C3-989A-2834A0BB42DD}"/>
              </a:ext>
            </a:extLst>
          </p:cNvPr>
          <p:cNvSpPr txBox="1"/>
          <p:nvPr/>
        </p:nvSpPr>
        <p:spPr>
          <a:xfrm>
            <a:off x="7558835" y="2142092"/>
            <a:ext cx="1853618" cy="984885"/>
          </a:xfrm>
          <a:prstGeom prst="rect">
            <a:avLst/>
          </a:prstGeom>
        </p:spPr>
        <p:txBody>
          <a:bodyPr wrap="square" lIns="0" tIns="0" rIns="0" bIns="0" rtlCol="0" anchor="t">
            <a:spAutoFit/>
          </a:bodyPr>
          <a:lstStyle/>
          <a:p>
            <a:pPr marL="0" lvl="1" indent="0" algn="ctr"/>
            <a:r>
              <a:rPr lang="en-US" sz="1600">
                <a:solidFill>
                  <a:srgbClr val="000000"/>
                </a:solidFill>
                <a:latin typeface="Times New Roman" panose="02020603050405020304" pitchFamily="18" charset="0"/>
                <a:ea typeface="Times New Roman Italics"/>
                <a:cs typeface="Times New Roman" panose="02020603050405020304" pitchFamily="18" charset="0"/>
                <a:sym typeface="Times New Roman Italics"/>
              </a:rPr>
              <a:t>Support data governance and interoperability infrastructure​</a:t>
            </a:r>
          </a:p>
        </p:txBody>
      </p:sp>
      <p:sp>
        <p:nvSpPr>
          <p:cNvPr id="264" name="Freeform 64">
            <a:extLst>
              <a:ext uri="{FF2B5EF4-FFF2-40B4-BE49-F238E27FC236}">
                <a16:creationId xmlns:a16="http://schemas.microsoft.com/office/drawing/2014/main" id="{CC792445-7BCB-1BCF-B3CE-0649CB1CD61C}"/>
              </a:ext>
            </a:extLst>
          </p:cNvPr>
          <p:cNvSpPr>
            <a:spLocks noChangeAspect="1"/>
          </p:cNvSpPr>
          <p:nvPr/>
        </p:nvSpPr>
        <p:spPr>
          <a:xfrm>
            <a:off x="704689" y="4616211"/>
            <a:ext cx="540000" cy="463725"/>
          </a:xfrm>
          <a:custGeom>
            <a:avLst/>
            <a:gdLst/>
            <a:ahLst/>
            <a:cxnLst/>
            <a:rect l="l" t="t" r="r" b="b"/>
            <a:pathLst>
              <a:path w="1009776" h="867145">
                <a:moveTo>
                  <a:pt x="0" y="0"/>
                </a:moveTo>
                <a:lnTo>
                  <a:pt x="1009776" y="0"/>
                </a:lnTo>
                <a:lnTo>
                  <a:pt x="1009776" y="867145"/>
                </a:lnTo>
                <a:lnTo>
                  <a:pt x="0" y="86714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65" name="Freeform 65">
            <a:extLst>
              <a:ext uri="{FF2B5EF4-FFF2-40B4-BE49-F238E27FC236}">
                <a16:creationId xmlns:a16="http://schemas.microsoft.com/office/drawing/2014/main" id="{E086719D-21D0-0655-DE88-BE1600103FBC}"/>
              </a:ext>
            </a:extLst>
          </p:cNvPr>
          <p:cNvSpPr>
            <a:spLocks noChangeAspect="1"/>
          </p:cNvSpPr>
          <p:nvPr/>
        </p:nvSpPr>
        <p:spPr>
          <a:xfrm>
            <a:off x="2561047" y="2359560"/>
            <a:ext cx="540000" cy="540000"/>
          </a:xfrm>
          <a:custGeom>
            <a:avLst/>
            <a:gdLst/>
            <a:ahLst/>
            <a:cxnLst/>
            <a:rect l="l" t="t" r="r" b="b"/>
            <a:pathLst>
              <a:path w="958700" h="958700">
                <a:moveTo>
                  <a:pt x="0" y="0"/>
                </a:moveTo>
                <a:lnTo>
                  <a:pt x="958700" y="0"/>
                </a:lnTo>
                <a:lnTo>
                  <a:pt x="958700" y="958700"/>
                </a:lnTo>
                <a:lnTo>
                  <a:pt x="0" y="9587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66" name="TextBox 46">
            <a:extLst>
              <a:ext uri="{FF2B5EF4-FFF2-40B4-BE49-F238E27FC236}">
                <a16:creationId xmlns:a16="http://schemas.microsoft.com/office/drawing/2014/main" id="{E978AB3E-17FE-D101-F949-D636A9B46E08}"/>
              </a:ext>
            </a:extLst>
          </p:cNvPr>
          <p:cNvSpPr txBox="1"/>
          <p:nvPr/>
        </p:nvSpPr>
        <p:spPr>
          <a:xfrm>
            <a:off x="4524217" y="5898889"/>
            <a:ext cx="1205860" cy="1275429"/>
          </a:xfrm>
          <a:prstGeom prst="rect">
            <a:avLst/>
          </a:prstGeom>
        </p:spPr>
        <p:txBody>
          <a:bodyPr lIns="50800" tIns="50800" rIns="50800" bIns="50800" rtlCol="0" anchor="ctr"/>
          <a:lstStyle/>
          <a:p>
            <a:pPr algn="ctr">
              <a:lnSpc>
                <a:spcPts val="2659"/>
              </a:lnSpc>
            </a:pPr>
            <a:endParaRPr/>
          </a:p>
        </p:txBody>
      </p:sp>
      <p:sp>
        <p:nvSpPr>
          <p:cNvPr id="267" name="Freeform 66">
            <a:extLst>
              <a:ext uri="{FF2B5EF4-FFF2-40B4-BE49-F238E27FC236}">
                <a16:creationId xmlns:a16="http://schemas.microsoft.com/office/drawing/2014/main" id="{4B42817B-2940-2886-6981-9E44A95587EE}"/>
              </a:ext>
            </a:extLst>
          </p:cNvPr>
          <p:cNvSpPr>
            <a:spLocks noChangeAspect="1"/>
          </p:cNvSpPr>
          <p:nvPr/>
        </p:nvSpPr>
        <p:spPr>
          <a:xfrm>
            <a:off x="4463774" y="4564846"/>
            <a:ext cx="540000" cy="590971"/>
          </a:xfrm>
          <a:custGeom>
            <a:avLst/>
            <a:gdLst/>
            <a:ahLst/>
            <a:cxnLst/>
            <a:rect l="l" t="t" r="r" b="b"/>
            <a:pathLst>
              <a:path w="872386" h="954732">
                <a:moveTo>
                  <a:pt x="0" y="0"/>
                </a:moveTo>
                <a:lnTo>
                  <a:pt x="872386" y="0"/>
                </a:lnTo>
                <a:lnTo>
                  <a:pt x="872386" y="954732"/>
                </a:lnTo>
                <a:lnTo>
                  <a:pt x="0" y="9547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68" name="Freeform 67">
            <a:extLst>
              <a:ext uri="{FF2B5EF4-FFF2-40B4-BE49-F238E27FC236}">
                <a16:creationId xmlns:a16="http://schemas.microsoft.com/office/drawing/2014/main" id="{894B8233-D5F7-82A6-65E2-7DE1799DF4B4}"/>
              </a:ext>
            </a:extLst>
          </p:cNvPr>
          <p:cNvSpPr>
            <a:spLocks noChangeAspect="1"/>
          </p:cNvSpPr>
          <p:nvPr/>
        </p:nvSpPr>
        <p:spPr>
          <a:xfrm>
            <a:off x="6436251" y="2461958"/>
            <a:ext cx="540000" cy="570675"/>
          </a:xfrm>
          <a:custGeom>
            <a:avLst/>
            <a:gdLst/>
            <a:ahLst/>
            <a:cxnLst/>
            <a:rect l="l" t="t" r="r" b="b"/>
            <a:pathLst>
              <a:path w="1102134" h="1164739">
                <a:moveTo>
                  <a:pt x="0" y="0"/>
                </a:moveTo>
                <a:lnTo>
                  <a:pt x="1102134" y="0"/>
                </a:lnTo>
                <a:lnTo>
                  <a:pt x="1102134" y="1164739"/>
                </a:lnTo>
                <a:lnTo>
                  <a:pt x="0" y="116473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69" name="Freeform 68">
            <a:extLst>
              <a:ext uri="{FF2B5EF4-FFF2-40B4-BE49-F238E27FC236}">
                <a16:creationId xmlns:a16="http://schemas.microsoft.com/office/drawing/2014/main" id="{F4DDF083-6792-AB9C-975B-0563ED70CAD0}"/>
              </a:ext>
            </a:extLst>
          </p:cNvPr>
          <p:cNvSpPr>
            <a:spLocks noChangeAspect="1"/>
          </p:cNvSpPr>
          <p:nvPr/>
        </p:nvSpPr>
        <p:spPr>
          <a:xfrm>
            <a:off x="8219934" y="4590199"/>
            <a:ext cx="540000" cy="578313"/>
          </a:xfrm>
          <a:custGeom>
            <a:avLst/>
            <a:gdLst/>
            <a:ahLst/>
            <a:cxnLst/>
            <a:rect l="l" t="t" r="r" b="b"/>
            <a:pathLst>
              <a:path w="857838" h="918702">
                <a:moveTo>
                  <a:pt x="0" y="0"/>
                </a:moveTo>
                <a:lnTo>
                  <a:pt x="857838" y="0"/>
                </a:lnTo>
                <a:lnTo>
                  <a:pt x="857838" y="918702"/>
                </a:lnTo>
                <a:lnTo>
                  <a:pt x="0" y="9187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extLst>
      <p:ext uri="{BB962C8B-B14F-4D97-AF65-F5344CB8AC3E}">
        <p14:creationId xmlns:p14="http://schemas.microsoft.com/office/powerpoint/2010/main" val="4097530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8000"/>
            <a:lum/>
          </a:blip>
          <a:srcRect/>
          <a:stretch>
            <a:fillRect t="-9000" b="-9000"/>
          </a:stretch>
        </a:blipFill>
        <a:effectLst/>
      </p:bgPr>
    </p:bg>
    <p:spTree>
      <p:nvGrpSpPr>
        <p:cNvPr id="1" name="">
          <a:extLst>
            <a:ext uri="{FF2B5EF4-FFF2-40B4-BE49-F238E27FC236}">
              <a16:creationId xmlns:a16="http://schemas.microsoft.com/office/drawing/2014/main" id="{DC5C2911-3106-411C-0714-CF0C3A74EFE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BA2F7FC-9CFB-FCFF-B1FD-60C8F85E3219}"/>
              </a:ext>
            </a:extLst>
          </p:cNvPr>
          <p:cNvSpPr/>
          <p:nvPr/>
        </p:nvSpPr>
        <p:spPr>
          <a:xfrm rot="5400000">
            <a:off x="1523999" y="-1547831"/>
            <a:ext cx="6858001" cy="9953663"/>
          </a:xfrm>
          <a:prstGeom prst="rect">
            <a:avLst/>
          </a:prstGeom>
          <a:solidFill>
            <a:schemeClr val="accent6">
              <a:lumMod val="75000"/>
              <a:alpha val="5845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3" name="Rectangle 2">
            <a:extLst>
              <a:ext uri="{FF2B5EF4-FFF2-40B4-BE49-F238E27FC236}">
                <a16:creationId xmlns:a16="http://schemas.microsoft.com/office/drawing/2014/main" id="{EA4FE1A1-2B6D-E493-75E5-DD73F4158487}"/>
              </a:ext>
            </a:extLst>
          </p:cNvPr>
          <p:cNvSpPr/>
          <p:nvPr/>
        </p:nvSpPr>
        <p:spPr>
          <a:xfrm rot="5400000">
            <a:off x="1512086" y="-1535915"/>
            <a:ext cx="6857998" cy="9929831"/>
          </a:xfrm>
          <a:prstGeom prst="rect">
            <a:avLst/>
          </a:prstGeom>
          <a:gradFill flip="none" rotWithShape="1">
            <a:gsLst>
              <a:gs pos="0">
                <a:srgbClr val="FFFD78">
                  <a:alpha val="0"/>
                </a:srgbClr>
              </a:gs>
              <a:gs pos="16000">
                <a:srgbClr val="FFFD78">
                  <a:alpha val="15000"/>
                </a:srgbClr>
              </a:gs>
              <a:gs pos="33000">
                <a:srgbClr val="FFFD78">
                  <a:alpha val="15000"/>
                </a:srgbClr>
              </a:gs>
              <a:gs pos="49000">
                <a:srgbClr val="FFC000">
                  <a:alpha val="25000"/>
                </a:srgbClr>
              </a:gs>
              <a:gs pos="81000">
                <a:srgbClr val="FFC000">
                  <a:alpha val="62126"/>
                </a:srgbClr>
              </a:gs>
              <a:gs pos="65000">
                <a:srgbClr val="FFC000">
                  <a:alpha val="50000"/>
                </a:srgbClr>
              </a:gs>
              <a:gs pos="100000">
                <a:srgbClr val="FFC000">
                  <a:alpha val="51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7" name="Chevron 6">
            <a:extLst>
              <a:ext uri="{FF2B5EF4-FFF2-40B4-BE49-F238E27FC236}">
                <a16:creationId xmlns:a16="http://schemas.microsoft.com/office/drawing/2014/main" id="{5724FE39-78D0-57CB-7CC9-55E47185DB33}"/>
              </a:ext>
            </a:extLst>
          </p:cNvPr>
          <p:cNvSpPr/>
          <p:nvPr/>
        </p:nvSpPr>
        <p:spPr>
          <a:xfrm>
            <a:off x="1792465" y="-2"/>
            <a:ext cx="3160535" cy="6858002"/>
          </a:xfrm>
          <a:prstGeom prst="chevron">
            <a:avLst/>
          </a:prstGeom>
          <a:solidFill>
            <a:schemeClr val="bg1">
              <a:lumMod val="95000"/>
              <a:alpha val="139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solidFill>
                <a:schemeClr val="tx1"/>
              </a:solidFill>
            </a:endParaRPr>
          </a:p>
        </p:txBody>
      </p:sp>
      <p:sp>
        <p:nvSpPr>
          <p:cNvPr id="4" name="Chevron 3">
            <a:extLst>
              <a:ext uri="{FF2B5EF4-FFF2-40B4-BE49-F238E27FC236}">
                <a16:creationId xmlns:a16="http://schemas.microsoft.com/office/drawing/2014/main" id="{C384CF67-2991-7E20-7AA4-9B5B7CA91898}"/>
              </a:ext>
            </a:extLst>
          </p:cNvPr>
          <p:cNvSpPr/>
          <p:nvPr/>
        </p:nvSpPr>
        <p:spPr>
          <a:xfrm>
            <a:off x="32259" y="-5"/>
            <a:ext cx="3160535" cy="6858002"/>
          </a:xfrm>
          <a:prstGeom prst="chevron">
            <a:avLst/>
          </a:prstGeom>
          <a:solidFill>
            <a:schemeClr val="bg1">
              <a:lumMod val="95000"/>
              <a:alpha val="139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solidFill>
                <a:schemeClr val="tx1"/>
              </a:solidFill>
            </a:endParaRPr>
          </a:p>
        </p:txBody>
      </p:sp>
      <p:sp>
        <p:nvSpPr>
          <p:cNvPr id="10" name="Title 1">
            <a:extLst>
              <a:ext uri="{FF2B5EF4-FFF2-40B4-BE49-F238E27FC236}">
                <a16:creationId xmlns:a16="http://schemas.microsoft.com/office/drawing/2014/main" id="{5F6F5E02-558A-70B4-D8E4-E183F178C924}"/>
              </a:ext>
            </a:extLst>
          </p:cNvPr>
          <p:cNvSpPr txBox="1">
            <a:spLocks/>
          </p:cNvSpPr>
          <p:nvPr/>
        </p:nvSpPr>
        <p:spPr>
          <a:xfrm>
            <a:off x="1129902" y="2032100"/>
            <a:ext cx="5986515" cy="22224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a:solidFill>
                  <a:schemeClr val="accent1">
                    <a:lumMod val="75000"/>
                  </a:schemeClr>
                </a:solidFill>
                <a:latin typeface="Times New Roman" panose="02020603050405020304" pitchFamily="18" charset="0"/>
                <a:cs typeface="Times New Roman" panose="02020603050405020304" pitchFamily="18" charset="0"/>
              </a:rPr>
              <a:t>Methodology &amp; Approach</a:t>
            </a:r>
          </a:p>
        </p:txBody>
      </p:sp>
    </p:spTree>
    <p:extLst>
      <p:ext uri="{BB962C8B-B14F-4D97-AF65-F5344CB8AC3E}">
        <p14:creationId xmlns:p14="http://schemas.microsoft.com/office/powerpoint/2010/main" val="1856646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D3647012-5DB5-62C0-BB07-8CBF01A2433A}"/>
              </a:ext>
            </a:extLst>
          </p:cNvPr>
          <p:cNvCxnSpPr>
            <a:cxnSpLocks/>
          </p:cNvCxnSpPr>
          <p:nvPr/>
        </p:nvCxnSpPr>
        <p:spPr>
          <a:xfrm>
            <a:off x="5053584" y="1392382"/>
            <a:ext cx="0" cy="4758047"/>
          </a:xfrm>
          <a:prstGeom prst="line">
            <a:avLst/>
          </a:prstGeom>
          <a:ln>
            <a:solidFill>
              <a:schemeClr val="tx1">
                <a:lumMod val="65000"/>
                <a:lumOff val="35000"/>
              </a:schemeClr>
            </a:solidFill>
            <a:headEnd type="oval" w="med" len="med"/>
            <a:tailEnd type="oval" w="med" len="med"/>
          </a:ln>
        </p:spPr>
        <p:style>
          <a:lnRef idx="2">
            <a:schemeClr val="dk1"/>
          </a:lnRef>
          <a:fillRef idx="0">
            <a:schemeClr val="dk1"/>
          </a:fillRef>
          <a:effectRef idx="1">
            <a:schemeClr val="dk1"/>
          </a:effectRef>
          <a:fontRef idx="minor">
            <a:schemeClr val="tx1"/>
          </a:fontRef>
        </p:style>
      </p:cxnSp>
      <p:grpSp>
        <p:nvGrpSpPr>
          <p:cNvPr id="75" name="Group 74">
            <a:extLst>
              <a:ext uri="{FF2B5EF4-FFF2-40B4-BE49-F238E27FC236}">
                <a16:creationId xmlns:a16="http://schemas.microsoft.com/office/drawing/2014/main" id="{3E8FAB56-B475-7534-53D0-B4A380BA5BCA}"/>
              </a:ext>
            </a:extLst>
          </p:cNvPr>
          <p:cNvGrpSpPr/>
          <p:nvPr/>
        </p:nvGrpSpPr>
        <p:grpSpPr>
          <a:xfrm>
            <a:off x="392665" y="1639451"/>
            <a:ext cx="2993127" cy="1736030"/>
            <a:chOff x="0" y="0"/>
            <a:chExt cx="848214" cy="520882"/>
          </a:xfrm>
        </p:grpSpPr>
        <p:sp>
          <p:nvSpPr>
            <p:cNvPr id="76" name="Freeform 75">
              <a:extLst>
                <a:ext uri="{FF2B5EF4-FFF2-40B4-BE49-F238E27FC236}">
                  <a16:creationId xmlns:a16="http://schemas.microsoft.com/office/drawing/2014/main" id="{16AD6239-6F0F-0DB0-3757-0A065F0EA31C}"/>
                </a:ext>
              </a:extLst>
            </p:cNvPr>
            <p:cNvSpPr/>
            <p:nvPr/>
          </p:nvSpPr>
          <p:spPr>
            <a:xfrm>
              <a:off x="0" y="0"/>
              <a:ext cx="848214" cy="520882"/>
            </a:xfrm>
            <a:custGeom>
              <a:avLst/>
              <a:gdLst/>
              <a:ahLst/>
              <a:cxnLst/>
              <a:rect l="l" t="t" r="r" b="b"/>
              <a:pathLst>
                <a:path w="848214" h="520882">
                  <a:moveTo>
                    <a:pt x="0" y="0"/>
                  </a:moveTo>
                  <a:lnTo>
                    <a:pt x="848214" y="0"/>
                  </a:lnTo>
                  <a:lnTo>
                    <a:pt x="848214" y="520882"/>
                  </a:lnTo>
                  <a:lnTo>
                    <a:pt x="0" y="520882"/>
                  </a:lnTo>
                  <a:close/>
                </a:path>
              </a:pathLst>
            </a:custGeom>
            <a:solidFill>
              <a:srgbClr val="8ED973">
                <a:alpha val="49804"/>
              </a:srgbClr>
            </a:solidFill>
          </p:spPr>
          <p:txBody>
            <a:bodyPr/>
            <a:lstStyle/>
            <a:p>
              <a:endParaRPr lang="en-US" sz="1463" dirty="0">
                <a:latin typeface="Times New Roman" panose="02020603050405020304" pitchFamily="18" charset="0"/>
                <a:cs typeface="Times New Roman" panose="02020603050405020304" pitchFamily="18" charset="0"/>
              </a:endParaRPr>
            </a:p>
          </p:txBody>
        </p:sp>
        <p:sp>
          <p:nvSpPr>
            <p:cNvPr id="77" name="TextBox 76">
              <a:extLst>
                <a:ext uri="{FF2B5EF4-FFF2-40B4-BE49-F238E27FC236}">
                  <a16:creationId xmlns:a16="http://schemas.microsoft.com/office/drawing/2014/main" id="{7778F0B0-CC87-6DFA-8BC3-2E7D25692624}"/>
                </a:ext>
              </a:extLst>
            </p:cNvPr>
            <p:cNvSpPr txBox="1"/>
            <p:nvPr/>
          </p:nvSpPr>
          <p:spPr>
            <a:xfrm>
              <a:off x="0" y="-28575"/>
              <a:ext cx="848214" cy="549457"/>
            </a:xfrm>
            <a:prstGeom prst="rect">
              <a:avLst/>
            </a:prstGeom>
          </p:spPr>
          <p:txBody>
            <a:bodyPr lIns="42023" tIns="42023" rIns="42023" bIns="42023" rtlCol="0" anchor="ctr"/>
            <a:lstStyle/>
            <a:p>
              <a:pPr algn="ctr">
                <a:lnSpc>
                  <a:spcPts val="1672"/>
                </a:lnSpc>
              </a:pPr>
              <a:endParaRPr sz="1463">
                <a:latin typeface="Times New Roman" panose="02020603050405020304" pitchFamily="18" charset="0"/>
                <a:cs typeface="Times New Roman" panose="02020603050405020304" pitchFamily="18" charset="0"/>
              </a:endParaRPr>
            </a:p>
          </p:txBody>
        </p:sp>
      </p:grpSp>
      <p:sp>
        <p:nvSpPr>
          <p:cNvPr id="45" name="Freeform 44">
            <a:extLst>
              <a:ext uri="{FF2B5EF4-FFF2-40B4-BE49-F238E27FC236}">
                <a16:creationId xmlns:a16="http://schemas.microsoft.com/office/drawing/2014/main" id="{484A018F-5315-A52C-242B-73BBDBA4EBA1}"/>
              </a:ext>
            </a:extLst>
          </p:cNvPr>
          <p:cNvSpPr/>
          <p:nvPr/>
        </p:nvSpPr>
        <p:spPr>
          <a:xfrm rot="10800000">
            <a:off x="5154259" y="2974268"/>
            <a:ext cx="1767600" cy="1746000"/>
          </a:xfrm>
          <a:custGeom>
            <a:avLst/>
            <a:gdLst/>
            <a:ahLst/>
            <a:cxnLst/>
            <a:rect l="l" t="t" r="r" b="b"/>
            <a:pathLst>
              <a:path w="1345901" h="925359">
                <a:moveTo>
                  <a:pt x="0" y="0"/>
                </a:moveTo>
                <a:lnTo>
                  <a:pt x="1345901" y="0"/>
                </a:lnTo>
                <a:lnTo>
                  <a:pt x="1345901" y="925359"/>
                </a:lnTo>
                <a:lnTo>
                  <a:pt x="0" y="925359"/>
                </a:lnTo>
                <a:close/>
              </a:path>
            </a:pathLst>
          </a:custGeom>
          <a:solidFill>
            <a:srgbClr val="FFD77C"/>
          </a:solidFill>
        </p:spPr>
        <p:txBody>
          <a:bodyPr/>
          <a:lstStyle/>
          <a:p>
            <a:endParaRPr lang="en-US" sz="1463">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B6BEA876-E245-3378-476A-0E4121E77D7A}"/>
              </a:ext>
            </a:extLst>
          </p:cNvPr>
          <p:cNvSpPr txBox="1"/>
          <p:nvPr/>
        </p:nvSpPr>
        <p:spPr>
          <a:xfrm>
            <a:off x="644678" y="850152"/>
            <a:ext cx="8616644" cy="411779"/>
          </a:xfrm>
          <a:prstGeom prst="rect">
            <a:avLst/>
          </a:prstGeom>
        </p:spPr>
        <p:txBody>
          <a:bodyPr wrap="square" lIns="0" tIns="0" rIns="0" bIns="0" rtlCol="0" anchor="t">
            <a:spAutoFit/>
          </a:bodyPr>
          <a:lstStyle/>
          <a:p>
            <a:pPr>
              <a:lnSpc>
                <a:spcPts val="3479"/>
              </a:lnSpc>
            </a:pPr>
            <a:r>
              <a:rPr lang="en-US" sz="2500" b="1">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Research Design </a:t>
            </a:r>
          </a:p>
        </p:txBody>
      </p:sp>
      <p:grpSp>
        <p:nvGrpSpPr>
          <p:cNvPr id="48" name="Group 2">
            <a:extLst>
              <a:ext uri="{FF2B5EF4-FFF2-40B4-BE49-F238E27FC236}">
                <a16:creationId xmlns:a16="http://schemas.microsoft.com/office/drawing/2014/main" id="{112876DB-C782-AF15-CE73-7C4400B0A346}"/>
              </a:ext>
            </a:extLst>
          </p:cNvPr>
          <p:cNvGrpSpPr/>
          <p:nvPr/>
        </p:nvGrpSpPr>
        <p:grpSpPr>
          <a:xfrm>
            <a:off x="3232381" y="1633770"/>
            <a:ext cx="1740692" cy="1741710"/>
            <a:chOff x="0" y="0"/>
            <a:chExt cx="1364459" cy="925359"/>
          </a:xfrm>
        </p:grpSpPr>
        <p:sp>
          <p:nvSpPr>
            <p:cNvPr id="49" name="Freeform 3">
              <a:extLst>
                <a:ext uri="{FF2B5EF4-FFF2-40B4-BE49-F238E27FC236}">
                  <a16:creationId xmlns:a16="http://schemas.microsoft.com/office/drawing/2014/main" id="{EC04D339-203F-204D-8392-77EB5B969F58}"/>
                </a:ext>
              </a:extLst>
            </p:cNvPr>
            <p:cNvSpPr/>
            <p:nvPr/>
          </p:nvSpPr>
          <p:spPr>
            <a:xfrm>
              <a:off x="0" y="0"/>
              <a:ext cx="1364459" cy="925359"/>
            </a:xfrm>
            <a:custGeom>
              <a:avLst/>
              <a:gdLst/>
              <a:ahLst/>
              <a:cxnLst/>
              <a:rect l="l" t="t" r="r" b="b"/>
              <a:pathLst>
                <a:path w="1364459" h="925359">
                  <a:moveTo>
                    <a:pt x="0" y="0"/>
                  </a:moveTo>
                  <a:lnTo>
                    <a:pt x="1364459" y="0"/>
                  </a:lnTo>
                  <a:lnTo>
                    <a:pt x="1364459" y="925359"/>
                  </a:lnTo>
                  <a:lnTo>
                    <a:pt x="0" y="925359"/>
                  </a:lnTo>
                  <a:close/>
                </a:path>
              </a:pathLst>
            </a:custGeom>
            <a:solidFill>
              <a:srgbClr val="8ED973"/>
            </a:solidFill>
          </p:spPr>
          <p:txBody>
            <a:bodyPr/>
            <a:lstStyle/>
            <a:p>
              <a:endParaRPr lang="en-US" sz="1463">
                <a:latin typeface="Times New Roman" panose="02020603050405020304" pitchFamily="18" charset="0"/>
                <a:cs typeface="Times New Roman" panose="02020603050405020304" pitchFamily="18" charset="0"/>
              </a:endParaRPr>
            </a:p>
          </p:txBody>
        </p:sp>
        <p:sp>
          <p:nvSpPr>
            <p:cNvPr id="50" name="TextBox 4">
              <a:extLst>
                <a:ext uri="{FF2B5EF4-FFF2-40B4-BE49-F238E27FC236}">
                  <a16:creationId xmlns:a16="http://schemas.microsoft.com/office/drawing/2014/main" id="{B30EDE77-A239-97B1-F0EA-A0BCF7663A30}"/>
                </a:ext>
              </a:extLst>
            </p:cNvPr>
            <p:cNvSpPr txBox="1"/>
            <p:nvPr/>
          </p:nvSpPr>
          <p:spPr>
            <a:xfrm>
              <a:off x="0" y="-9525"/>
              <a:ext cx="1364459" cy="934884"/>
            </a:xfrm>
            <a:prstGeom prst="rect">
              <a:avLst/>
            </a:prstGeom>
          </p:spPr>
          <p:txBody>
            <a:bodyPr lIns="25641" tIns="25641" rIns="25641" bIns="25641" rtlCol="0" anchor="ctr"/>
            <a:lstStyle/>
            <a:p>
              <a:pPr algn="ctr">
                <a:lnSpc>
                  <a:spcPts val="972"/>
                </a:lnSpc>
              </a:pPr>
              <a:endParaRPr sz="1463">
                <a:latin typeface="Times New Roman" panose="02020603050405020304" pitchFamily="18" charset="0"/>
                <a:cs typeface="Times New Roman" panose="02020603050405020304" pitchFamily="18" charset="0"/>
              </a:endParaRPr>
            </a:p>
          </p:txBody>
        </p:sp>
      </p:grpSp>
      <p:grpSp>
        <p:nvGrpSpPr>
          <p:cNvPr id="51" name="Group 5">
            <a:extLst>
              <a:ext uri="{FF2B5EF4-FFF2-40B4-BE49-F238E27FC236}">
                <a16:creationId xmlns:a16="http://schemas.microsoft.com/office/drawing/2014/main" id="{25EF32DE-E163-4A26-95BF-8A87D71CEAC9}"/>
              </a:ext>
            </a:extLst>
          </p:cNvPr>
          <p:cNvGrpSpPr/>
          <p:nvPr/>
        </p:nvGrpSpPr>
        <p:grpSpPr>
          <a:xfrm>
            <a:off x="392665" y="4271145"/>
            <a:ext cx="2854525" cy="1764050"/>
            <a:chOff x="-82136" y="-28575"/>
            <a:chExt cx="930350" cy="692564"/>
          </a:xfrm>
        </p:grpSpPr>
        <p:sp>
          <p:nvSpPr>
            <p:cNvPr id="52" name="Freeform 51">
              <a:extLst>
                <a:ext uri="{FF2B5EF4-FFF2-40B4-BE49-F238E27FC236}">
                  <a16:creationId xmlns:a16="http://schemas.microsoft.com/office/drawing/2014/main" id="{3A20C7BC-2C79-2BAC-0D81-87E70EC0D6DA}"/>
                </a:ext>
              </a:extLst>
            </p:cNvPr>
            <p:cNvSpPr/>
            <p:nvPr/>
          </p:nvSpPr>
          <p:spPr>
            <a:xfrm>
              <a:off x="-82136" y="-28575"/>
              <a:ext cx="930350" cy="692564"/>
            </a:xfrm>
            <a:custGeom>
              <a:avLst/>
              <a:gdLst/>
              <a:ahLst/>
              <a:cxnLst/>
              <a:rect l="l" t="t" r="r" b="b"/>
              <a:pathLst>
                <a:path w="848214" h="520882">
                  <a:moveTo>
                    <a:pt x="0" y="0"/>
                  </a:moveTo>
                  <a:lnTo>
                    <a:pt x="848214" y="0"/>
                  </a:lnTo>
                  <a:lnTo>
                    <a:pt x="848214" y="520882"/>
                  </a:lnTo>
                  <a:lnTo>
                    <a:pt x="0" y="520882"/>
                  </a:lnTo>
                  <a:close/>
                </a:path>
              </a:pathLst>
            </a:custGeom>
            <a:solidFill>
              <a:srgbClr val="E0F2FD">
                <a:alpha val="49804"/>
              </a:srgbClr>
            </a:solidFill>
          </p:spPr>
          <p:txBody>
            <a:bodyPr/>
            <a:lstStyle/>
            <a:p>
              <a:endParaRPr lang="en-US" sz="1463" dirty="0">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94F1D0FD-8822-8E7E-016C-3C16970B8A65}"/>
                </a:ext>
              </a:extLst>
            </p:cNvPr>
            <p:cNvSpPr txBox="1"/>
            <p:nvPr/>
          </p:nvSpPr>
          <p:spPr>
            <a:xfrm>
              <a:off x="0" y="-28575"/>
              <a:ext cx="848214" cy="549457"/>
            </a:xfrm>
            <a:prstGeom prst="rect">
              <a:avLst/>
            </a:prstGeom>
          </p:spPr>
          <p:txBody>
            <a:bodyPr lIns="42023" tIns="42023" rIns="42023" bIns="42023" rtlCol="0" anchor="ctr"/>
            <a:lstStyle/>
            <a:p>
              <a:pPr algn="ctr">
                <a:lnSpc>
                  <a:spcPts val="1672"/>
                </a:lnSpc>
              </a:pPr>
              <a:endParaRPr sz="1463">
                <a:latin typeface="Times New Roman" panose="02020603050405020304" pitchFamily="18" charset="0"/>
                <a:cs typeface="Times New Roman" panose="02020603050405020304" pitchFamily="18" charset="0"/>
              </a:endParaRPr>
            </a:p>
          </p:txBody>
        </p:sp>
      </p:grpSp>
      <p:sp>
        <p:nvSpPr>
          <p:cNvPr id="55" name="Freeform 54">
            <a:extLst>
              <a:ext uri="{FF2B5EF4-FFF2-40B4-BE49-F238E27FC236}">
                <a16:creationId xmlns:a16="http://schemas.microsoft.com/office/drawing/2014/main" id="{F15CF424-24BF-972E-9FE6-42358C8931BA}"/>
              </a:ext>
            </a:extLst>
          </p:cNvPr>
          <p:cNvSpPr/>
          <p:nvPr/>
        </p:nvSpPr>
        <p:spPr>
          <a:xfrm>
            <a:off x="3221442" y="4273858"/>
            <a:ext cx="1767109" cy="1746000"/>
          </a:xfrm>
          <a:custGeom>
            <a:avLst/>
            <a:gdLst/>
            <a:ahLst/>
            <a:cxnLst/>
            <a:rect l="l" t="t" r="r" b="b"/>
            <a:pathLst>
              <a:path w="1364459" h="925359">
                <a:moveTo>
                  <a:pt x="0" y="0"/>
                </a:moveTo>
                <a:lnTo>
                  <a:pt x="1364459" y="0"/>
                </a:lnTo>
                <a:lnTo>
                  <a:pt x="1364459" y="925359"/>
                </a:lnTo>
                <a:lnTo>
                  <a:pt x="0" y="925359"/>
                </a:lnTo>
                <a:close/>
              </a:path>
            </a:pathLst>
          </a:custGeom>
          <a:solidFill>
            <a:srgbClr val="BCD8F0"/>
          </a:solidFill>
        </p:spPr>
        <p:txBody>
          <a:bodyPr/>
          <a:lstStyle/>
          <a:p>
            <a:endParaRPr lang="en-US" sz="1463">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1F37B1D1-5CB7-FE76-D095-D485CFBFB3FC}"/>
              </a:ext>
            </a:extLst>
          </p:cNvPr>
          <p:cNvSpPr txBox="1"/>
          <p:nvPr/>
        </p:nvSpPr>
        <p:spPr>
          <a:xfrm>
            <a:off x="2669574" y="4258307"/>
            <a:ext cx="2304900" cy="1526400"/>
          </a:xfrm>
          <a:prstGeom prst="rect">
            <a:avLst/>
          </a:prstGeom>
        </p:spPr>
        <p:txBody>
          <a:bodyPr lIns="25641" tIns="25641" rIns="25641" bIns="25641" rtlCol="0" anchor="ctr"/>
          <a:lstStyle/>
          <a:p>
            <a:pPr>
              <a:lnSpc>
                <a:spcPts val="972"/>
              </a:lnSpc>
            </a:pPr>
            <a:endParaRPr sz="1463">
              <a:latin typeface="Times New Roman" panose="02020603050405020304" pitchFamily="18" charset="0"/>
              <a:cs typeface="Times New Roman" panose="02020603050405020304" pitchFamily="18" charset="0"/>
            </a:endParaRPr>
          </a:p>
        </p:txBody>
      </p:sp>
      <p:grpSp>
        <p:nvGrpSpPr>
          <p:cNvPr id="57" name="Group 56">
            <a:extLst>
              <a:ext uri="{FF2B5EF4-FFF2-40B4-BE49-F238E27FC236}">
                <a16:creationId xmlns:a16="http://schemas.microsoft.com/office/drawing/2014/main" id="{2083837E-80D3-9B2D-807E-57E86E3424A9}"/>
              </a:ext>
            </a:extLst>
          </p:cNvPr>
          <p:cNvGrpSpPr/>
          <p:nvPr/>
        </p:nvGrpSpPr>
        <p:grpSpPr>
          <a:xfrm>
            <a:off x="6887777" y="2980064"/>
            <a:ext cx="2699843" cy="1746000"/>
            <a:chOff x="-17850" y="-36062"/>
            <a:chExt cx="866064" cy="556944"/>
          </a:xfrm>
        </p:grpSpPr>
        <p:sp>
          <p:nvSpPr>
            <p:cNvPr id="58" name="Freeform 57">
              <a:extLst>
                <a:ext uri="{FF2B5EF4-FFF2-40B4-BE49-F238E27FC236}">
                  <a16:creationId xmlns:a16="http://schemas.microsoft.com/office/drawing/2014/main" id="{0973EDC8-3D57-4C15-E60F-E9AE0354EBFF}"/>
                </a:ext>
              </a:extLst>
            </p:cNvPr>
            <p:cNvSpPr/>
            <p:nvPr/>
          </p:nvSpPr>
          <p:spPr>
            <a:xfrm>
              <a:off x="-17850" y="-36062"/>
              <a:ext cx="848214" cy="555095"/>
            </a:xfrm>
            <a:custGeom>
              <a:avLst/>
              <a:gdLst/>
              <a:ahLst/>
              <a:cxnLst/>
              <a:rect l="l" t="t" r="r" b="b"/>
              <a:pathLst>
                <a:path w="848214" h="520882">
                  <a:moveTo>
                    <a:pt x="0" y="0"/>
                  </a:moveTo>
                  <a:lnTo>
                    <a:pt x="848214" y="0"/>
                  </a:lnTo>
                  <a:lnTo>
                    <a:pt x="848214" y="520882"/>
                  </a:lnTo>
                  <a:lnTo>
                    <a:pt x="0" y="520882"/>
                  </a:lnTo>
                  <a:close/>
                </a:path>
              </a:pathLst>
            </a:custGeom>
            <a:solidFill>
              <a:srgbClr val="FFD77C">
                <a:alpha val="49804"/>
              </a:srgbClr>
            </a:solidFill>
          </p:spPr>
          <p:txBody>
            <a:bodyPr/>
            <a:lstStyle/>
            <a:p>
              <a:endParaRPr lang="en-US" sz="1463">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99D3FF6B-7FEA-5326-31A2-CB1E1F064C6F}"/>
                </a:ext>
              </a:extLst>
            </p:cNvPr>
            <p:cNvSpPr txBox="1"/>
            <p:nvPr/>
          </p:nvSpPr>
          <p:spPr>
            <a:xfrm>
              <a:off x="0" y="-28575"/>
              <a:ext cx="848214" cy="549457"/>
            </a:xfrm>
            <a:prstGeom prst="rect">
              <a:avLst/>
            </a:prstGeom>
          </p:spPr>
          <p:txBody>
            <a:bodyPr lIns="42023" tIns="42023" rIns="42023" bIns="42023" rtlCol="0" anchor="ctr"/>
            <a:lstStyle/>
            <a:p>
              <a:pPr algn="ctr">
                <a:lnSpc>
                  <a:spcPts val="1672"/>
                </a:lnSpc>
              </a:pPr>
              <a:endParaRPr sz="1463">
                <a:latin typeface="Times New Roman" panose="02020603050405020304" pitchFamily="18" charset="0"/>
                <a:cs typeface="Times New Roman" panose="02020603050405020304" pitchFamily="18" charset="0"/>
              </a:endParaRPr>
            </a:p>
          </p:txBody>
        </p:sp>
      </p:grpSp>
      <p:sp>
        <p:nvSpPr>
          <p:cNvPr id="60" name="TextBox 59">
            <a:extLst>
              <a:ext uri="{FF2B5EF4-FFF2-40B4-BE49-F238E27FC236}">
                <a16:creationId xmlns:a16="http://schemas.microsoft.com/office/drawing/2014/main" id="{530F96D4-813F-0BBD-B834-6D5221E71DD6}"/>
              </a:ext>
            </a:extLst>
          </p:cNvPr>
          <p:cNvSpPr txBox="1"/>
          <p:nvPr/>
        </p:nvSpPr>
        <p:spPr>
          <a:xfrm rot="10800000">
            <a:off x="5114858" y="3193729"/>
            <a:ext cx="2304900" cy="1278205"/>
          </a:xfrm>
          <a:prstGeom prst="rect">
            <a:avLst/>
          </a:prstGeom>
        </p:spPr>
        <p:txBody>
          <a:bodyPr lIns="26014" tIns="26014" rIns="26014" bIns="26014" rtlCol="0" anchor="ctr"/>
          <a:lstStyle/>
          <a:p>
            <a:pPr algn="ctr">
              <a:lnSpc>
                <a:spcPts val="972"/>
              </a:lnSpc>
            </a:pPr>
            <a:endParaRPr sz="1463">
              <a:latin typeface="Times New Roman" panose="02020603050405020304" pitchFamily="18" charset="0"/>
              <a:cs typeface="Times New Roman" panose="02020603050405020304" pitchFamily="18" charset="0"/>
            </a:endParaRPr>
          </a:p>
        </p:txBody>
      </p:sp>
      <p:grpSp>
        <p:nvGrpSpPr>
          <p:cNvPr id="61" name="Group 60">
            <a:extLst>
              <a:ext uri="{FF2B5EF4-FFF2-40B4-BE49-F238E27FC236}">
                <a16:creationId xmlns:a16="http://schemas.microsoft.com/office/drawing/2014/main" id="{60A8DF6D-DF97-E133-3A96-B3E573B69A31}"/>
              </a:ext>
            </a:extLst>
          </p:cNvPr>
          <p:cNvGrpSpPr/>
          <p:nvPr/>
        </p:nvGrpSpPr>
        <p:grpSpPr>
          <a:xfrm>
            <a:off x="4664166" y="1639450"/>
            <a:ext cx="650926" cy="487429"/>
            <a:chOff x="0" y="0"/>
            <a:chExt cx="866456" cy="812800"/>
          </a:xfrm>
        </p:grpSpPr>
        <p:sp>
          <p:nvSpPr>
            <p:cNvPr id="62" name="Freeform 61">
              <a:extLst>
                <a:ext uri="{FF2B5EF4-FFF2-40B4-BE49-F238E27FC236}">
                  <a16:creationId xmlns:a16="http://schemas.microsoft.com/office/drawing/2014/main" id="{4655D876-F4A0-AF21-3482-31F7ACF02A58}"/>
                </a:ext>
              </a:extLst>
            </p:cNvPr>
            <p:cNvSpPr/>
            <p:nvPr/>
          </p:nvSpPr>
          <p:spPr>
            <a:xfrm>
              <a:off x="0" y="0"/>
              <a:ext cx="866456" cy="812800"/>
            </a:xfrm>
            <a:custGeom>
              <a:avLst/>
              <a:gdLst/>
              <a:ahLst/>
              <a:cxnLst/>
              <a:rect l="l" t="t" r="r" b="b"/>
              <a:pathLst>
                <a:path w="866456" h="812800">
                  <a:moveTo>
                    <a:pt x="433228" y="0"/>
                  </a:moveTo>
                  <a:cubicBezTo>
                    <a:pt x="193963" y="0"/>
                    <a:pt x="0" y="181951"/>
                    <a:pt x="0" y="406400"/>
                  </a:cubicBezTo>
                  <a:cubicBezTo>
                    <a:pt x="0" y="630849"/>
                    <a:pt x="193963" y="812800"/>
                    <a:pt x="433228" y="812800"/>
                  </a:cubicBezTo>
                  <a:cubicBezTo>
                    <a:pt x="672493" y="812800"/>
                    <a:pt x="866456" y="630849"/>
                    <a:pt x="866456" y="406400"/>
                  </a:cubicBezTo>
                  <a:cubicBezTo>
                    <a:pt x="866456" y="181951"/>
                    <a:pt x="672493" y="0"/>
                    <a:pt x="433228" y="0"/>
                  </a:cubicBezTo>
                  <a:close/>
                </a:path>
              </a:pathLst>
            </a:custGeom>
            <a:solidFill>
              <a:srgbClr val="8ED973"/>
            </a:solidFill>
          </p:spPr>
          <p:txBody>
            <a:bodyPr/>
            <a:lstStyle/>
            <a:p>
              <a:endParaRPr lang="en-US" sz="1463">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B1DFABB7-2265-7E72-7346-00F0C12676A3}"/>
                </a:ext>
              </a:extLst>
            </p:cNvPr>
            <p:cNvSpPr txBox="1"/>
            <p:nvPr/>
          </p:nvSpPr>
          <p:spPr>
            <a:xfrm>
              <a:off x="81230" y="66675"/>
              <a:ext cx="703995" cy="669925"/>
            </a:xfrm>
            <a:prstGeom prst="rect">
              <a:avLst/>
            </a:prstGeom>
          </p:spPr>
          <p:txBody>
            <a:bodyPr lIns="18700" tIns="18700" rIns="18700" bIns="18700" rtlCol="0" anchor="ctr"/>
            <a:lstStyle/>
            <a:p>
              <a:pPr algn="ctr">
                <a:lnSpc>
                  <a:spcPts val="694"/>
                </a:lnSpc>
              </a:pPr>
              <a:endParaRPr sz="1463">
                <a:latin typeface="Times New Roman" panose="02020603050405020304" pitchFamily="18" charset="0"/>
                <a:cs typeface="Times New Roman" panose="02020603050405020304" pitchFamily="18" charset="0"/>
              </a:endParaRPr>
            </a:p>
          </p:txBody>
        </p:sp>
      </p:grpSp>
      <p:sp>
        <p:nvSpPr>
          <p:cNvPr id="64" name="TextBox 63">
            <a:extLst>
              <a:ext uri="{FF2B5EF4-FFF2-40B4-BE49-F238E27FC236}">
                <a16:creationId xmlns:a16="http://schemas.microsoft.com/office/drawing/2014/main" id="{484A56DB-B36C-885C-3429-3A338E645505}"/>
              </a:ext>
            </a:extLst>
          </p:cNvPr>
          <p:cNvSpPr txBox="1"/>
          <p:nvPr/>
        </p:nvSpPr>
        <p:spPr>
          <a:xfrm>
            <a:off x="4633841" y="1676975"/>
            <a:ext cx="650926" cy="329064"/>
          </a:xfrm>
          <a:prstGeom prst="rect">
            <a:avLst/>
          </a:prstGeom>
        </p:spPr>
        <p:txBody>
          <a:bodyPr lIns="0" tIns="0" rIns="0" bIns="0" rtlCol="0" anchor="t">
            <a:spAutoFit/>
          </a:bodyPr>
          <a:lstStyle/>
          <a:p>
            <a:pPr algn="ctr">
              <a:lnSpc>
                <a:spcPts val="2783"/>
              </a:lnSpc>
              <a:spcBef>
                <a:spcPct val="0"/>
              </a:spcBef>
            </a:pPr>
            <a:r>
              <a:rPr lang="en-US" sz="1987"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01</a:t>
            </a:r>
          </a:p>
        </p:txBody>
      </p:sp>
      <p:grpSp>
        <p:nvGrpSpPr>
          <p:cNvPr id="65" name="Group 64">
            <a:extLst>
              <a:ext uri="{FF2B5EF4-FFF2-40B4-BE49-F238E27FC236}">
                <a16:creationId xmlns:a16="http://schemas.microsoft.com/office/drawing/2014/main" id="{0DFD72D4-C1F2-EEF7-9B9A-3171548A2E7E}"/>
              </a:ext>
            </a:extLst>
          </p:cNvPr>
          <p:cNvGrpSpPr/>
          <p:nvPr/>
        </p:nvGrpSpPr>
        <p:grpSpPr>
          <a:xfrm>
            <a:off x="4818129" y="2972734"/>
            <a:ext cx="657443" cy="487429"/>
            <a:chOff x="81230" y="42234"/>
            <a:chExt cx="875130" cy="812800"/>
          </a:xfrm>
        </p:grpSpPr>
        <p:sp>
          <p:nvSpPr>
            <p:cNvPr id="66" name="Freeform 65">
              <a:extLst>
                <a:ext uri="{FF2B5EF4-FFF2-40B4-BE49-F238E27FC236}">
                  <a16:creationId xmlns:a16="http://schemas.microsoft.com/office/drawing/2014/main" id="{C4E40D18-B7FB-CAFB-E086-835EB77CB6CA}"/>
                </a:ext>
              </a:extLst>
            </p:cNvPr>
            <p:cNvSpPr/>
            <p:nvPr/>
          </p:nvSpPr>
          <p:spPr>
            <a:xfrm>
              <a:off x="89904" y="42234"/>
              <a:ext cx="866456" cy="812800"/>
            </a:xfrm>
            <a:custGeom>
              <a:avLst/>
              <a:gdLst/>
              <a:ahLst/>
              <a:cxnLst/>
              <a:rect l="l" t="t" r="r" b="b"/>
              <a:pathLst>
                <a:path w="866456" h="812800">
                  <a:moveTo>
                    <a:pt x="433228" y="0"/>
                  </a:moveTo>
                  <a:cubicBezTo>
                    <a:pt x="193963" y="0"/>
                    <a:pt x="0" y="181951"/>
                    <a:pt x="0" y="406400"/>
                  </a:cubicBezTo>
                  <a:cubicBezTo>
                    <a:pt x="0" y="630849"/>
                    <a:pt x="193963" y="812800"/>
                    <a:pt x="433228" y="812800"/>
                  </a:cubicBezTo>
                  <a:cubicBezTo>
                    <a:pt x="672493" y="812800"/>
                    <a:pt x="866456" y="630849"/>
                    <a:pt x="866456" y="406400"/>
                  </a:cubicBezTo>
                  <a:cubicBezTo>
                    <a:pt x="866456" y="181951"/>
                    <a:pt x="672493" y="0"/>
                    <a:pt x="433228" y="0"/>
                  </a:cubicBezTo>
                  <a:close/>
                </a:path>
              </a:pathLst>
            </a:custGeom>
            <a:solidFill>
              <a:srgbClr val="FFD77C"/>
            </a:solidFill>
          </p:spPr>
          <p:txBody>
            <a:bodyPr/>
            <a:lstStyle/>
            <a:p>
              <a:endParaRPr lang="en-US" sz="1463">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D917E849-B395-539F-884C-73AD6302A891}"/>
                </a:ext>
              </a:extLst>
            </p:cNvPr>
            <p:cNvSpPr txBox="1"/>
            <p:nvPr/>
          </p:nvSpPr>
          <p:spPr>
            <a:xfrm>
              <a:off x="81230" y="66675"/>
              <a:ext cx="703995" cy="669925"/>
            </a:xfrm>
            <a:prstGeom prst="rect">
              <a:avLst/>
            </a:prstGeom>
          </p:spPr>
          <p:txBody>
            <a:bodyPr lIns="18700" tIns="18700" rIns="18700" bIns="18700" rtlCol="0" anchor="ctr"/>
            <a:lstStyle/>
            <a:p>
              <a:pPr algn="ctr">
                <a:lnSpc>
                  <a:spcPts val="694"/>
                </a:lnSpc>
              </a:pPr>
              <a:endParaRPr sz="1463">
                <a:latin typeface="Times New Roman" panose="02020603050405020304" pitchFamily="18" charset="0"/>
                <a:cs typeface="Times New Roman" panose="02020603050405020304" pitchFamily="18" charset="0"/>
              </a:endParaRPr>
            </a:p>
          </p:txBody>
        </p:sp>
      </p:grpSp>
      <p:sp>
        <p:nvSpPr>
          <p:cNvPr id="68" name="TextBox 67">
            <a:extLst>
              <a:ext uri="{FF2B5EF4-FFF2-40B4-BE49-F238E27FC236}">
                <a16:creationId xmlns:a16="http://schemas.microsoft.com/office/drawing/2014/main" id="{62099F14-A847-70CA-68FB-AC99B64A8B6C}"/>
              </a:ext>
            </a:extLst>
          </p:cNvPr>
          <p:cNvSpPr txBox="1"/>
          <p:nvPr/>
        </p:nvSpPr>
        <p:spPr>
          <a:xfrm>
            <a:off x="4728121" y="3025584"/>
            <a:ext cx="650926" cy="329064"/>
          </a:xfrm>
          <a:prstGeom prst="rect">
            <a:avLst/>
          </a:prstGeom>
        </p:spPr>
        <p:txBody>
          <a:bodyPr lIns="0" tIns="0" rIns="0" bIns="0" rtlCol="0" anchor="t">
            <a:spAutoFit/>
          </a:bodyPr>
          <a:lstStyle/>
          <a:p>
            <a:pPr algn="ctr">
              <a:lnSpc>
                <a:spcPts val="2783"/>
              </a:lnSpc>
              <a:spcBef>
                <a:spcPct val="0"/>
              </a:spcBef>
            </a:pPr>
            <a:r>
              <a:rPr lang="en-US" sz="1987"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02</a:t>
            </a:r>
          </a:p>
        </p:txBody>
      </p:sp>
      <p:grpSp>
        <p:nvGrpSpPr>
          <p:cNvPr id="69" name="Group 68">
            <a:extLst>
              <a:ext uri="{FF2B5EF4-FFF2-40B4-BE49-F238E27FC236}">
                <a16:creationId xmlns:a16="http://schemas.microsoft.com/office/drawing/2014/main" id="{F10707AA-9FBB-2046-945D-39A6089BFDA3}"/>
              </a:ext>
            </a:extLst>
          </p:cNvPr>
          <p:cNvGrpSpPr/>
          <p:nvPr/>
        </p:nvGrpSpPr>
        <p:grpSpPr>
          <a:xfrm>
            <a:off x="4664166" y="4271145"/>
            <a:ext cx="650926" cy="487429"/>
            <a:chOff x="0" y="0"/>
            <a:chExt cx="866456" cy="812800"/>
          </a:xfrm>
          <a:solidFill>
            <a:srgbClr val="BCD8F0"/>
          </a:solidFill>
        </p:grpSpPr>
        <p:sp>
          <p:nvSpPr>
            <p:cNvPr id="70" name="Freeform 69">
              <a:extLst>
                <a:ext uri="{FF2B5EF4-FFF2-40B4-BE49-F238E27FC236}">
                  <a16:creationId xmlns:a16="http://schemas.microsoft.com/office/drawing/2014/main" id="{92BE62E5-CD59-8EAB-F180-C68640004866}"/>
                </a:ext>
              </a:extLst>
            </p:cNvPr>
            <p:cNvSpPr/>
            <p:nvPr/>
          </p:nvSpPr>
          <p:spPr>
            <a:xfrm>
              <a:off x="0" y="0"/>
              <a:ext cx="866456" cy="812800"/>
            </a:xfrm>
            <a:custGeom>
              <a:avLst/>
              <a:gdLst/>
              <a:ahLst/>
              <a:cxnLst/>
              <a:rect l="l" t="t" r="r" b="b"/>
              <a:pathLst>
                <a:path w="866456" h="812800">
                  <a:moveTo>
                    <a:pt x="433228" y="0"/>
                  </a:moveTo>
                  <a:cubicBezTo>
                    <a:pt x="193963" y="0"/>
                    <a:pt x="0" y="181951"/>
                    <a:pt x="0" y="406400"/>
                  </a:cubicBezTo>
                  <a:cubicBezTo>
                    <a:pt x="0" y="630849"/>
                    <a:pt x="193963" y="812800"/>
                    <a:pt x="433228" y="812800"/>
                  </a:cubicBezTo>
                  <a:cubicBezTo>
                    <a:pt x="672493" y="812800"/>
                    <a:pt x="866456" y="630849"/>
                    <a:pt x="866456" y="406400"/>
                  </a:cubicBezTo>
                  <a:cubicBezTo>
                    <a:pt x="866456" y="181951"/>
                    <a:pt x="672493" y="0"/>
                    <a:pt x="433228" y="0"/>
                  </a:cubicBezTo>
                  <a:close/>
                </a:path>
              </a:pathLst>
            </a:custGeom>
            <a:grpFill/>
          </p:spPr>
          <p:txBody>
            <a:bodyPr/>
            <a:lstStyle/>
            <a:p>
              <a:endParaRPr lang="en-US" sz="1463">
                <a:latin typeface="Times New Roman" panose="02020603050405020304" pitchFamily="18" charset="0"/>
                <a:cs typeface="Times New Roman" panose="02020603050405020304" pitchFamily="18" charset="0"/>
              </a:endParaRPr>
            </a:p>
          </p:txBody>
        </p:sp>
        <p:sp>
          <p:nvSpPr>
            <p:cNvPr id="71" name="TextBox 70">
              <a:extLst>
                <a:ext uri="{FF2B5EF4-FFF2-40B4-BE49-F238E27FC236}">
                  <a16:creationId xmlns:a16="http://schemas.microsoft.com/office/drawing/2014/main" id="{98C3D363-E9FF-B113-FC75-0E08B29FC4F7}"/>
                </a:ext>
              </a:extLst>
            </p:cNvPr>
            <p:cNvSpPr txBox="1"/>
            <p:nvPr/>
          </p:nvSpPr>
          <p:spPr>
            <a:xfrm>
              <a:off x="81230" y="66675"/>
              <a:ext cx="703995" cy="669925"/>
            </a:xfrm>
            <a:prstGeom prst="rect">
              <a:avLst/>
            </a:prstGeom>
            <a:grpFill/>
          </p:spPr>
          <p:txBody>
            <a:bodyPr lIns="18700" tIns="18700" rIns="18700" bIns="18700" rtlCol="0" anchor="ctr"/>
            <a:lstStyle/>
            <a:p>
              <a:pPr algn="ctr">
                <a:lnSpc>
                  <a:spcPts val="694"/>
                </a:lnSpc>
              </a:pPr>
              <a:endParaRPr sz="1463">
                <a:latin typeface="Times New Roman" panose="02020603050405020304" pitchFamily="18" charset="0"/>
                <a:cs typeface="Times New Roman" panose="02020603050405020304" pitchFamily="18" charset="0"/>
              </a:endParaRPr>
            </a:p>
          </p:txBody>
        </p:sp>
      </p:grpSp>
      <p:sp>
        <p:nvSpPr>
          <p:cNvPr id="72" name="TextBox 71">
            <a:extLst>
              <a:ext uri="{FF2B5EF4-FFF2-40B4-BE49-F238E27FC236}">
                <a16:creationId xmlns:a16="http://schemas.microsoft.com/office/drawing/2014/main" id="{BA692C71-03AB-757D-E583-BFAADCB6FB7E}"/>
              </a:ext>
            </a:extLst>
          </p:cNvPr>
          <p:cNvSpPr txBox="1"/>
          <p:nvPr/>
        </p:nvSpPr>
        <p:spPr>
          <a:xfrm>
            <a:off x="4664166" y="4320970"/>
            <a:ext cx="650926" cy="329064"/>
          </a:xfrm>
          <a:prstGeom prst="rect">
            <a:avLst/>
          </a:prstGeom>
        </p:spPr>
        <p:txBody>
          <a:bodyPr lIns="0" tIns="0" rIns="0" bIns="0" rtlCol="0" anchor="t">
            <a:spAutoFit/>
          </a:bodyPr>
          <a:lstStyle/>
          <a:p>
            <a:pPr algn="ctr">
              <a:lnSpc>
                <a:spcPts val="2783"/>
              </a:lnSpc>
              <a:spcBef>
                <a:spcPct val="0"/>
              </a:spcBef>
            </a:pPr>
            <a:r>
              <a:rPr lang="en-US" sz="1987" b="1">
                <a:solidFill>
                  <a:srgbClr val="000000"/>
                </a:solidFill>
                <a:latin typeface="Times New Roman" panose="02020603050405020304" pitchFamily="18" charset="0"/>
                <a:ea typeface="Times New Roman Bold"/>
                <a:cs typeface="Times New Roman" panose="02020603050405020304" pitchFamily="18" charset="0"/>
                <a:sym typeface="Times New Roman Bold"/>
              </a:rPr>
              <a:t>03</a:t>
            </a:r>
          </a:p>
        </p:txBody>
      </p:sp>
      <p:grpSp>
        <p:nvGrpSpPr>
          <p:cNvPr id="14" name="Group 13">
            <a:extLst>
              <a:ext uri="{FF2B5EF4-FFF2-40B4-BE49-F238E27FC236}">
                <a16:creationId xmlns:a16="http://schemas.microsoft.com/office/drawing/2014/main" id="{2901F26C-4659-AF18-E33C-5B75F649A7B0}"/>
              </a:ext>
            </a:extLst>
          </p:cNvPr>
          <p:cNvGrpSpPr/>
          <p:nvPr/>
        </p:nvGrpSpPr>
        <p:grpSpPr>
          <a:xfrm>
            <a:off x="3338351" y="1868441"/>
            <a:ext cx="1489736" cy="1247563"/>
            <a:chOff x="3338351" y="1868441"/>
            <a:chExt cx="1489736" cy="1247563"/>
          </a:xfrm>
        </p:grpSpPr>
        <p:sp>
          <p:nvSpPr>
            <p:cNvPr id="73" name="TextBox 72">
              <a:extLst>
                <a:ext uri="{FF2B5EF4-FFF2-40B4-BE49-F238E27FC236}">
                  <a16:creationId xmlns:a16="http://schemas.microsoft.com/office/drawing/2014/main" id="{34515BCE-4899-A641-4BCF-0820032B939B}"/>
                </a:ext>
              </a:extLst>
            </p:cNvPr>
            <p:cNvSpPr txBox="1"/>
            <p:nvPr/>
          </p:nvSpPr>
          <p:spPr>
            <a:xfrm>
              <a:off x="3338351" y="2346563"/>
              <a:ext cx="1447765" cy="769441"/>
            </a:xfrm>
            <a:prstGeom prst="rect">
              <a:avLst/>
            </a:prstGeom>
          </p:spPr>
          <p:txBody>
            <a:bodyPr wrap="square" lIns="0" tIns="0" rIns="0" bIns="0" rtlCol="0" anchor="t">
              <a:spAutoFit/>
            </a:bodyPr>
            <a:lstStyle/>
            <a:p>
              <a:pPr>
                <a:lnSpc>
                  <a:spcPts val="1244"/>
                </a:lnSpc>
                <a:spcBef>
                  <a:spcPts val="200"/>
                </a:spcBef>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Established the landscape of public-interest AI in Brazil to identify strengths and structural gaps.</a:t>
              </a:r>
            </a:p>
          </p:txBody>
        </p:sp>
        <p:sp>
          <p:nvSpPr>
            <p:cNvPr id="74" name="TextBox 73">
              <a:extLst>
                <a:ext uri="{FF2B5EF4-FFF2-40B4-BE49-F238E27FC236}">
                  <a16:creationId xmlns:a16="http://schemas.microsoft.com/office/drawing/2014/main" id="{C466EDF7-C2B3-D83A-210F-2C66FA812AE5}"/>
                </a:ext>
              </a:extLst>
            </p:cNvPr>
            <p:cNvSpPr txBox="1"/>
            <p:nvPr/>
          </p:nvSpPr>
          <p:spPr>
            <a:xfrm>
              <a:off x="3361791" y="1868441"/>
              <a:ext cx="1466296" cy="230832"/>
            </a:xfrm>
            <a:prstGeom prst="rect">
              <a:avLst/>
            </a:prstGeom>
          </p:spPr>
          <p:txBody>
            <a:bodyPr lIns="0" tIns="0" rIns="0" bIns="0" rtlCol="0" anchor="t">
              <a:spAutoFit/>
            </a:bodyPr>
            <a:lstStyle/>
            <a:p>
              <a:pPr marL="0" lvl="1">
                <a:lnSpc>
                  <a:spcPts val="1771"/>
                </a:lnSpc>
                <a:spcBef>
                  <a:spcPct val="0"/>
                </a:spcBef>
              </a:pPr>
              <a:r>
                <a:rPr lang="en-US" sz="1625"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MAP</a:t>
              </a:r>
            </a:p>
          </p:txBody>
        </p:sp>
      </p:grpSp>
      <p:sp>
        <p:nvSpPr>
          <p:cNvPr id="78" name="TextBox 77">
            <a:extLst>
              <a:ext uri="{FF2B5EF4-FFF2-40B4-BE49-F238E27FC236}">
                <a16:creationId xmlns:a16="http://schemas.microsoft.com/office/drawing/2014/main" id="{2A365B50-B96F-5A16-A16A-2C4C365A2BF0}"/>
              </a:ext>
            </a:extLst>
          </p:cNvPr>
          <p:cNvSpPr txBox="1"/>
          <p:nvPr/>
        </p:nvSpPr>
        <p:spPr>
          <a:xfrm>
            <a:off x="451935" y="1752557"/>
            <a:ext cx="2722587" cy="1486207"/>
          </a:xfrm>
          <a:prstGeom prst="rect">
            <a:avLst/>
          </a:prstGeom>
        </p:spPr>
        <p:txBody>
          <a:bodyPr wrap="square" lIns="0" tIns="0" rIns="0" bIns="0" rtlCol="0" anchor="t">
            <a:noAutofit/>
          </a:bodyPr>
          <a:lstStyle/>
          <a:p>
            <a:pPr marL="258589" lvl="1" indent="-171450">
              <a:spcBef>
                <a:spcPts val="800"/>
              </a:spcBef>
              <a:spcAft>
                <a:spcPts val="800"/>
              </a:spcAft>
              <a:buFont typeface="Arial" panose="020B0604020202020204" pitchFamily="34" charset="0"/>
              <a:buChar char="•"/>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Reviewed Brazil’s key AI regulations (PL 2338/2023, LGPD, EBIA)</a:t>
            </a:r>
          </a:p>
          <a:p>
            <a:pPr marL="258589" lvl="1" indent="-171450">
              <a:spcBef>
                <a:spcPts val="800"/>
              </a:spcBef>
              <a:spcAft>
                <a:spcPts val="800"/>
              </a:spcAft>
              <a:buFont typeface="Arial" panose="020B0604020202020204" pitchFamily="34" charset="0"/>
              <a:buChar char="•"/>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Mapped cross-sector landscape</a:t>
            </a:r>
          </a:p>
          <a:p>
            <a:pPr marL="258589" lvl="1" indent="-171450">
              <a:spcBef>
                <a:spcPts val="800"/>
              </a:spcBef>
              <a:spcAft>
                <a:spcPts val="800"/>
              </a:spcAft>
              <a:buFont typeface="Arial" panose="020B0604020202020204" pitchFamily="34" charset="0"/>
              <a:buChar char="•"/>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Applied global AI readiness frameworks such as OECD, Oxford Insights, </a:t>
            </a:r>
            <a:r>
              <a:rPr lang="en-US" sz="1200" dirty="0" err="1">
                <a:solidFill>
                  <a:srgbClr val="000000"/>
                </a:solidFill>
                <a:latin typeface="Times New Roman" panose="02020603050405020304" pitchFamily="18" charset="0"/>
                <a:ea typeface="Times New Roman"/>
                <a:cs typeface="Times New Roman" panose="02020603050405020304" pitchFamily="18" charset="0"/>
                <a:sym typeface="Times New Roman"/>
              </a:rPr>
              <a:t>etc</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to define best practices</a:t>
            </a:r>
          </a:p>
        </p:txBody>
      </p:sp>
      <p:sp>
        <p:nvSpPr>
          <p:cNvPr id="79" name="TextBox 78">
            <a:extLst>
              <a:ext uri="{FF2B5EF4-FFF2-40B4-BE49-F238E27FC236}">
                <a16:creationId xmlns:a16="http://schemas.microsoft.com/office/drawing/2014/main" id="{38521DB8-648E-5285-D4C6-553C36123FB9}"/>
              </a:ext>
            </a:extLst>
          </p:cNvPr>
          <p:cNvSpPr txBox="1"/>
          <p:nvPr/>
        </p:nvSpPr>
        <p:spPr>
          <a:xfrm>
            <a:off x="416831" y="4315472"/>
            <a:ext cx="2728837" cy="1736704"/>
          </a:xfrm>
          <a:prstGeom prst="rect">
            <a:avLst/>
          </a:prstGeom>
        </p:spPr>
        <p:txBody>
          <a:bodyPr wrap="square" lIns="0" tIns="0" rIns="0" bIns="0" rtlCol="0" anchor="t">
            <a:noAutofit/>
          </a:bodyPr>
          <a:lstStyle>
            <a:defPPr>
              <a:defRPr lang="en-US"/>
            </a:defPPr>
            <a:lvl2pPr marL="258589" lvl="1" indent="-171450">
              <a:spcBef>
                <a:spcPts val="800"/>
              </a:spcBef>
              <a:spcAft>
                <a:spcPts val="800"/>
              </a:spcAft>
              <a:buFont typeface="Arial" panose="020B0604020202020204" pitchFamily="34" charset="0"/>
              <a:buChar char="•"/>
              <a:defRPr sz="1200">
                <a:solidFill>
                  <a:srgbClr val="000000"/>
                </a:solidFill>
                <a:latin typeface="Times New Roman" panose="02020603050405020304" pitchFamily="18" charset="0"/>
                <a:ea typeface="Times New Roman"/>
                <a:cs typeface="Times New Roman" panose="02020603050405020304" pitchFamily="18" charset="0"/>
              </a:defRPr>
            </a:lvl2pPr>
          </a:lstStyle>
          <a:p>
            <a:pPr lvl="1">
              <a:spcBef>
                <a:spcPts val="600"/>
              </a:spcBef>
              <a:spcAft>
                <a:spcPts val="600"/>
              </a:spcAft>
            </a:pPr>
            <a:r>
              <a:rPr lang="en-US" dirty="0">
                <a:sym typeface="Times New Roman"/>
              </a:rPr>
              <a:t>Identified intervention areas: institutional capacity, data governance, and civil society strengthening </a:t>
            </a:r>
          </a:p>
          <a:p>
            <a:pPr lvl="1">
              <a:spcBef>
                <a:spcPts val="600"/>
              </a:spcBef>
              <a:spcAft>
                <a:spcPts val="600"/>
              </a:spcAft>
            </a:pPr>
            <a:r>
              <a:rPr lang="en-US" dirty="0">
                <a:sym typeface="Times New Roman"/>
              </a:rPr>
              <a:t>Mapped near-term, and longer-term impact opportunities </a:t>
            </a:r>
          </a:p>
          <a:p>
            <a:pPr lvl="1">
              <a:spcBef>
                <a:spcPts val="600"/>
              </a:spcBef>
              <a:spcAft>
                <a:spcPts val="600"/>
              </a:spcAft>
            </a:pPr>
            <a:r>
              <a:rPr lang="en-US" dirty="0">
                <a:sym typeface="Times New Roman"/>
              </a:rPr>
              <a:t>Defined an engagement strategy for BRAVA</a:t>
            </a:r>
          </a:p>
        </p:txBody>
      </p:sp>
      <p:sp>
        <p:nvSpPr>
          <p:cNvPr id="82" name="TextBox 81">
            <a:extLst>
              <a:ext uri="{FF2B5EF4-FFF2-40B4-BE49-F238E27FC236}">
                <a16:creationId xmlns:a16="http://schemas.microsoft.com/office/drawing/2014/main" id="{744E8984-72C2-DB25-92BE-F69D9DD3FCBA}"/>
              </a:ext>
            </a:extLst>
          </p:cNvPr>
          <p:cNvSpPr txBox="1"/>
          <p:nvPr/>
        </p:nvSpPr>
        <p:spPr>
          <a:xfrm>
            <a:off x="5213104" y="3403477"/>
            <a:ext cx="1486693" cy="230832"/>
          </a:xfrm>
          <a:prstGeom prst="rect">
            <a:avLst/>
          </a:prstGeom>
        </p:spPr>
        <p:txBody>
          <a:bodyPr lIns="0" tIns="0" rIns="0" bIns="0" rtlCol="0" anchor="t">
            <a:spAutoFit/>
          </a:bodyPr>
          <a:lstStyle/>
          <a:p>
            <a:pPr marL="0" lvl="1" algn="r">
              <a:lnSpc>
                <a:spcPts val="1771"/>
              </a:lnSpc>
              <a:spcBef>
                <a:spcPct val="0"/>
              </a:spcBef>
            </a:pPr>
            <a:r>
              <a:rPr lang="en-US" sz="1625"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ASSESS</a:t>
            </a:r>
          </a:p>
        </p:txBody>
      </p:sp>
      <p:sp>
        <p:nvSpPr>
          <p:cNvPr id="83" name="TextBox 82">
            <a:extLst>
              <a:ext uri="{FF2B5EF4-FFF2-40B4-BE49-F238E27FC236}">
                <a16:creationId xmlns:a16="http://schemas.microsoft.com/office/drawing/2014/main" id="{B0A016ED-8487-213C-F634-6430656C5948}"/>
              </a:ext>
            </a:extLst>
          </p:cNvPr>
          <p:cNvSpPr txBox="1"/>
          <p:nvPr/>
        </p:nvSpPr>
        <p:spPr>
          <a:xfrm>
            <a:off x="5248759" y="3951397"/>
            <a:ext cx="1502312" cy="461665"/>
          </a:xfrm>
          <a:prstGeom prst="rect">
            <a:avLst/>
          </a:prstGeom>
        </p:spPr>
        <p:txBody>
          <a:bodyPr lIns="0" tIns="0" rIns="0" bIns="0" rtlCol="0" anchor="t">
            <a:spAutoFit/>
          </a:bodyPr>
          <a:lstStyle/>
          <a:p>
            <a:pPr algn="r">
              <a:lnSpc>
                <a:spcPts val="1239"/>
              </a:lnSpc>
              <a:spcBef>
                <a:spcPct val="0"/>
              </a:spcBef>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Desk research findings were validated through stakeholder interviews.</a:t>
            </a:r>
          </a:p>
        </p:txBody>
      </p:sp>
      <p:grpSp>
        <p:nvGrpSpPr>
          <p:cNvPr id="13" name="Group 12">
            <a:extLst>
              <a:ext uri="{FF2B5EF4-FFF2-40B4-BE49-F238E27FC236}">
                <a16:creationId xmlns:a16="http://schemas.microsoft.com/office/drawing/2014/main" id="{0C7E82B0-3410-0987-E22C-12B1FC5538DD}"/>
              </a:ext>
            </a:extLst>
          </p:cNvPr>
          <p:cNvGrpSpPr/>
          <p:nvPr/>
        </p:nvGrpSpPr>
        <p:grpSpPr>
          <a:xfrm>
            <a:off x="3374575" y="4766968"/>
            <a:ext cx="1479906" cy="1112544"/>
            <a:chOff x="3374575" y="4766968"/>
            <a:chExt cx="1479906" cy="1112544"/>
          </a:xfrm>
        </p:grpSpPr>
        <p:sp>
          <p:nvSpPr>
            <p:cNvPr id="81" name="TextBox 80">
              <a:extLst>
                <a:ext uri="{FF2B5EF4-FFF2-40B4-BE49-F238E27FC236}">
                  <a16:creationId xmlns:a16="http://schemas.microsoft.com/office/drawing/2014/main" id="{6DC3AE00-7833-167F-DA3E-ADE2DC85D642}"/>
                </a:ext>
              </a:extLst>
            </p:cNvPr>
            <p:cNvSpPr txBox="1"/>
            <p:nvPr/>
          </p:nvSpPr>
          <p:spPr>
            <a:xfrm>
              <a:off x="3374575" y="5263959"/>
              <a:ext cx="1440728" cy="615553"/>
            </a:xfrm>
            <a:prstGeom prst="rect">
              <a:avLst/>
            </a:prstGeom>
          </p:spPr>
          <p:txBody>
            <a:bodyPr wrap="square" lIns="0" tIns="0" rIns="0" bIns="0" rtlCol="0" anchor="t">
              <a:spAutoFit/>
            </a:bodyPr>
            <a:lstStyle/>
            <a:p>
              <a:pPr>
                <a:lnSpc>
                  <a:spcPts val="1239"/>
                </a:lnSpc>
                <a:spcBef>
                  <a:spcPct val="0"/>
                </a:spcBef>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Translated findings into targeted investment recommendations.</a:t>
              </a:r>
            </a:p>
          </p:txBody>
        </p:sp>
        <p:sp>
          <p:nvSpPr>
            <p:cNvPr id="84" name="TextBox 83">
              <a:extLst>
                <a:ext uri="{FF2B5EF4-FFF2-40B4-BE49-F238E27FC236}">
                  <a16:creationId xmlns:a16="http://schemas.microsoft.com/office/drawing/2014/main" id="{E884C091-C963-E975-3DFA-E375FD650C8B}"/>
                </a:ext>
              </a:extLst>
            </p:cNvPr>
            <p:cNvSpPr txBox="1"/>
            <p:nvPr/>
          </p:nvSpPr>
          <p:spPr>
            <a:xfrm>
              <a:off x="3385793" y="4766968"/>
              <a:ext cx="1468688" cy="230832"/>
            </a:xfrm>
            <a:prstGeom prst="rect">
              <a:avLst/>
            </a:prstGeom>
          </p:spPr>
          <p:txBody>
            <a:bodyPr wrap="square" lIns="0" tIns="0" rIns="0" bIns="0" rtlCol="0" anchor="t">
              <a:spAutoFit/>
            </a:bodyPr>
            <a:lstStyle/>
            <a:p>
              <a:pPr marL="0" lvl="1">
                <a:lnSpc>
                  <a:spcPts val="1771"/>
                </a:lnSpc>
                <a:spcBef>
                  <a:spcPct val="0"/>
                </a:spcBef>
              </a:pPr>
              <a:r>
                <a:rPr lang="en-US" sz="1625"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RECOMMEND</a:t>
              </a:r>
            </a:p>
          </p:txBody>
        </p:sp>
      </p:grpSp>
      <p:grpSp>
        <p:nvGrpSpPr>
          <p:cNvPr id="18" name="Group 17">
            <a:extLst>
              <a:ext uri="{FF2B5EF4-FFF2-40B4-BE49-F238E27FC236}">
                <a16:creationId xmlns:a16="http://schemas.microsoft.com/office/drawing/2014/main" id="{05C7E93A-0DD1-0541-C5E5-9D0B5555B8B8}"/>
              </a:ext>
            </a:extLst>
          </p:cNvPr>
          <p:cNvGrpSpPr/>
          <p:nvPr/>
        </p:nvGrpSpPr>
        <p:grpSpPr>
          <a:xfrm>
            <a:off x="6956915" y="3043160"/>
            <a:ext cx="2577826" cy="1606874"/>
            <a:chOff x="6956915" y="3043160"/>
            <a:chExt cx="2556419" cy="1387400"/>
          </a:xfrm>
        </p:grpSpPr>
        <p:sp>
          <p:nvSpPr>
            <p:cNvPr id="86" name="Rectangle 85">
              <a:extLst>
                <a:ext uri="{FF2B5EF4-FFF2-40B4-BE49-F238E27FC236}">
                  <a16:creationId xmlns:a16="http://schemas.microsoft.com/office/drawing/2014/main" id="{2368FF39-93A5-E890-D11C-843CBB4407E6}"/>
                </a:ext>
              </a:extLst>
            </p:cNvPr>
            <p:cNvSpPr/>
            <p:nvPr/>
          </p:nvSpPr>
          <p:spPr>
            <a:xfrm>
              <a:off x="6956916" y="3043160"/>
              <a:ext cx="2556418" cy="428106"/>
            </a:xfrm>
            <a:prstGeom prst="rect">
              <a:avLst/>
            </a:prstGeom>
            <a:solidFill>
              <a:srgbClr val="FFF2D7">
                <a:alpha val="8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8</a:t>
              </a:r>
              <a:r>
                <a:rPr lang="en-US" sz="10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public-sector AI use cases across</a:t>
              </a:r>
              <a:r>
                <a:rPr lang="en-US" sz="1200" b="1"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4</a:t>
              </a:r>
              <a:r>
                <a:rPr lang="en-US" sz="10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partnership models</a:t>
              </a:r>
            </a:p>
          </p:txBody>
        </p:sp>
        <p:grpSp>
          <p:nvGrpSpPr>
            <p:cNvPr id="6" name="Group 5">
              <a:extLst>
                <a:ext uri="{FF2B5EF4-FFF2-40B4-BE49-F238E27FC236}">
                  <a16:creationId xmlns:a16="http://schemas.microsoft.com/office/drawing/2014/main" id="{122E9C56-0928-BA40-46FA-9D24953D40F5}"/>
                </a:ext>
              </a:extLst>
            </p:cNvPr>
            <p:cNvGrpSpPr/>
            <p:nvPr/>
          </p:nvGrpSpPr>
          <p:grpSpPr>
            <a:xfrm>
              <a:off x="6956915" y="3504677"/>
              <a:ext cx="2553675" cy="519140"/>
              <a:chOff x="7153029" y="3652382"/>
              <a:chExt cx="2423552" cy="373332"/>
            </a:xfrm>
          </p:grpSpPr>
          <p:sp>
            <p:nvSpPr>
              <p:cNvPr id="87" name="Rectangle 86">
                <a:extLst>
                  <a:ext uri="{FF2B5EF4-FFF2-40B4-BE49-F238E27FC236}">
                    <a16:creationId xmlns:a16="http://schemas.microsoft.com/office/drawing/2014/main" id="{EAFD6C46-F331-95E8-5AEE-054257585C86}"/>
                  </a:ext>
                </a:extLst>
              </p:cNvPr>
              <p:cNvSpPr/>
              <p:nvPr/>
            </p:nvSpPr>
            <p:spPr>
              <a:xfrm>
                <a:off x="7153029" y="3652382"/>
                <a:ext cx="1121535" cy="373332"/>
              </a:xfrm>
              <a:prstGeom prst="rect">
                <a:avLst/>
              </a:prstGeom>
              <a:solidFill>
                <a:srgbClr val="FFF2D7">
                  <a:alpha val="8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86833" lvl="1">
                  <a:lnSpc>
                    <a:spcPts val="1125"/>
                  </a:lnSpc>
                </a:pPr>
                <a:r>
                  <a:rPr lang="en-US" sz="14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6</a:t>
                </a:r>
                <a:r>
                  <a:rPr lang="en-US" sz="9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governance pillars for evaluation</a:t>
                </a:r>
              </a:p>
            </p:txBody>
          </p:sp>
          <p:sp>
            <p:nvSpPr>
              <p:cNvPr id="89" name="Rectangle 88">
                <a:extLst>
                  <a:ext uri="{FF2B5EF4-FFF2-40B4-BE49-F238E27FC236}">
                    <a16:creationId xmlns:a16="http://schemas.microsoft.com/office/drawing/2014/main" id="{E94AB29D-BD61-11A8-09C3-812BA107123C}"/>
                  </a:ext>
                </a:extLst>
              </p:cNvPr>
              <p:cNvSpPr/>
              <p:nvPr/>
            </p:nvSpPr>
            <p:spPr>
              <a:xfrm>
                <a:off x="8329235" y="3652382"/>
                <a:ext cx="1247346" cy="373332"/>
              </a:xfrm>
              <a:prstGeom prst="rect">
                <a:avLst/>
              </a:prstGeom>
              <a:solidFill>
                <a:srgbClr val="FFF2D7">
                  <a:alpha val="8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86833" lvl="1">
                  <a:lnSpc>
                    <a:spcPts val="1125"/>
                  </a:lnSpc>
                </a:pPr>
                <a:r>
                  <a:rPr lang="en-US" sz="14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3</a:t>
                </a:r>
                <a:r>
                  <a:rPr lang="en-US" sz="9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global benchmarking examples</a:t>
                </a:r>
              </a:p>
            </p:txBody>
          </p:sp>
        </p:grpSp>
        <p:grpSp>
          <p:nvGrpSpPr>
            <p:cNvPr id="4" name="Group 3">
              <a:extLst>
                <a:ext uri="{FF2B5EF4-FFF2-40B4-BE49-F238E27FC236}">
                  <a16:creationId xmlns:a16="http://schemas.microsoft.com/office/drawing/2014/main" id="{2D577B65-F204-FBB9-B9AF-6A16BD9CC2F4}"/>
                </a:ext>
              </a:extLst>
            </p:cNvPr>
            <p:cNvGrpSpPr/>
            <p:nvPr/>
          </p:nvGrpSpPr>
          <p:grpSpPr>
            <a:xfrm>
              <a:off x="6956916" y="4057228"/>
              <a:ext cx="2553674" cy="373332"/>
              <a:chOff x="7149975" y="4190889"/>
              <a:chExt cx="2462961" cy="373332"/>
            </a:xfrm>
          </p:grpSpPr>
          <p:sp>
            <p:nvSpPr>
              <p:cNvPr id="90" name="Rectangle 89">
                <a:extLst>
                  <a:ext uri="{FF2B5EF4-FFF2-40B4-BE49-F238E27FC236}">
                    <a16:creationId xmlns:a16="http://schemas.microsoft.com/office/drawing/2014/main" id="{A7EDF58E-86BF-8F12-FAB7-858716C6D7F4}"/>
                  </a:ext>
                </a:extLst>
              </p:cNvPr>
              <p:cNvSpPr/>
              <p:nvPr/>
            </p:nvSpPr>
            <p:spPr>
              <a:xfrm>
                <a:off x="7149975" y="4190889"/>
                <a:ext cx="1036498" cy="373332"/>
              </a:xfrm>
              <a:prstGeom prst="rect">
                <a:avLst/>
              </a:prstGeom>
              <a:solidFill>
                <a:srgbClr val="FFF2D7">
                  <a:alpha val="8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86833" lvl="1">
                  <a:lnSpc>
                    <a:spcPts val="1125"/>
                  </a:lnSpc>
                </a:pPr>
                <a:r>
                  <a:rPr lang="en-US" sz="14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3</a:t>
                </a:r>
                <a:r>
                  <a:rPr lang="en-US" sz="9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client interviews</a:t>
                </a:r>
              </a:p>
            </p:txBody>
          </p:sp>
          <p:sp>
            <p:nvSpPr>
              <p:cNvPr id="91" name="Rectangle 90">
                <a:extLst>
                  <a:ext uri="{FF2B5EF4-FFF2-40B4-BE49-F238E27FC236}">
                    <a16:creationId xmlns:a16="http://schemas.microsoft.com/office/drawing/2014/main" id="{0FE0FF47-5783-1834-40CD-F7465966BE0A}"/>
                  </a:ext>
                </a:extLst>
              </p:cNvPr>
              <p:cNvSpPr/>
              <p:nvPr/>
            </p:nvSpPr>
            <p:spPr>
              <a:xfrm>
                <a:off x="8239695" y="4190889"/>
                <a:ext cx="1373241" cy="373332"/>
              </a:xfrm>
              <a:prstGeom prst="rect">
                <a:avLst/>
              </a:prstGeom>
              <a:solidFill>
                <a:srgbClr val="FFF2D7">
                  <a:alpha val="8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86833" lvl="1">
                  <a:lnSpc>
                    <a:spcPts val="1125"/>
                  </a:lnSpc>
                </a:pPr>
                <a:r>
                  <a:rPr lang="en-US" sz="14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16</a:t>
                </a:r>
                <a:r>
                  <a:rPr lang="en-US" sz="900" b="1" dirty="0">
                    <a:solidFill>
                      <a:schemeClr val="accent3"/>
                    </a:solidFill>
                    <a:latin typeface="Times New Roman" panose="02020603050405020304" pitchFamily="18" charset="0"/>
                    <a:ea typeface="Times New Roman"/>
                    <a:cs typeface="Times New Roman" panose="02020603050405020304" pitchFamily="18" charset="0"/>
                    <a:sym typeface="Times New Roman"/>
                  </a:rPr>
                  <a:t> </a:t>
                </a:r>
                <a:r>
                  <a:rPr lang="en-US" sz="1100" dirty="0">
                    <a:solidFill>
                      <a:srgbClr val="000000"/>
                    </a:solidFill>
                    <a:latin typeface="Times New Roman" panose="02020603050405020304" pitchFamily="18" charset="0"/>
                    <a:ea typeface="Times New Roman"/>
                    <a:cs typeface="Times New Roman" panose="02020603050405020304" pitchFamily="18" charset="0"/>
                    <a:sym typeface="Times New Roman"/>
                  </a:rPr>
                  <a:t>global external in-depth interviews</a:t>
                </a:r>
              </a:p>
            </p:txBody>
          </p:sp>
        </p:grpSp>
      </p:grpSp>
      <p:pic>
        <p:nvPicPr>
          <p:cNvPr id="3" name="Graphic 2" descr="Document outline">
            <a:extLst>
              <a:ext uri="{FF2B5EF4-FFF2-40B4-BE49-F238E27FC236}">
                <a16:creationId xmlns:a16="http://schemas.microsoft.com/office/drawing/2014/main" id="{E1280D4B-04F1-3702-C753-D3ADEC08BD1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49126" y="4302849"/>
            <a:ext cx="468000" cy="468000"/>
          </a:xfrm>
          <a:prstGeom prst="rect">
            <a:avLst/>
          </a:prstGeom>
        </p:spPr>
      </p:pic>
      <p:pic>
        <p:nvPicPr>
          <p:cNvPr id="5" name="Graphic 4" descr="Abacus outline">
            <a:extLst>
              <a:ext uri="{FF2B5EF4-FFF2-40B4-BE49-F238E27FC236}">
                <a16:creationId xmlns:a16="http://schemas.microsoft.com/office/drawing/2014/main" id="{67E509FF-74C6-2B99-F004-E192BAFC06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10108" y="3207562"/>
            <a:ext cx="540000" cy="540000"/>
          </a:xfrm>
          <a:prstGeom prst="rect">
            <a:avLst/>
          </a:prstGeom>
        </p:spPr>
      </p:pic>
      <p:pic>
        <p:nvPicPr>
          <p:cNvPr id="7" name="Graphic 6" descr="Map with pin outline">
            <a:extLst>
              <a:ext uri="{FF2B5EF4-FFF2-40B4-BE49-F238E27FC236}">
                <a16:creationId xmlns:a16="http://schemas.microsoft.com/office/drawing/2014/main" id="{0C75B41C-2775-6C48-73D0-32E0CCBBB9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36144" y="1653694"/>
            <a:ext cx="540000" cy="540000"/>
          </a:xfrm>
          <a:prstGeom prst="rect">
            <a:avLst/>
          </a:prstGeom>
        </p:spPr>
      </p:pic>
    </p:spTree>
    <p:extLst>
      <p:ext uri="{BB962C8B-B14F-4D97-AF65-F5344CB8AC3E}">
        <p14:creationId xmlns:p14="http://schemas.microsoft.com/office/powerpoint/2010/main" val="1468804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C55B0-7478-7D24-7960-ECDB32B6144C}"/>
            </a:ext>
          </a:extLst>
        </p:cNvPr>
        <p:cNvGrpSpPr/>
        <p:nvPr/>
      </p:nvGrpSpPr>
      <p:grpSpPr>
        <a:xfrm>
          <a:off x="0" y="0"/>
          <a:ext cx="0" cy="0"/>
          <a:chOff x="0" y="0"/>
          <a:chExt cx="0" cy="0"/>
        </a:xfrm>
      </p:grpSpPr>
      <p:sp>
        <p:nvSpPr>
          <p:cNvPr id="216" name="Oval 215">
            <a:extLst>
              <a:ext uri="{FF2B5EF4-FFF2-40B4-BE49-F238E27FC236}">
                <a16:creationId xmlns:a16="http://schemas.microsoft.com/office/drawing/2014/main" id="{836FD10E-4690-0525-AD94-3DA9E8A43F3C}"/>
              </a:ext>
            </a:extLst>
          </p:cNvPr>
          <p:cNvSpPr/>
          <p:nvPr/>
        </p:nvSpPr>
        <p:spPr>
          <a:xfrm>
            <a:off x="7553441" y="1368003"/>
            <a:ext cx="789460" cy="726464"/>
          </a:xfrm>
          <a:prstGeom prst="ellipse">
            <a:avLst/>
          </a:prstGeom>
          <a:solidFill>
            <a:srgbClr val="DAF2D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a:extLst>
              <a:ext uri="{FF2B5EF4-FFF2-40B4-BE49-F238E27FC236}">
                <a16:creationId xmlns:a16="http://schemas.microsoft.com/office/drawing/2014/main" id="{963AFC5C-E3CA-8A73-DFB7-C1650D6FEEE4}"/>
              </a:ext>
            </a:extLst>
          </p:cNvPr>
          <p:cNvSpPr/>
          <p:nvPr/>
        </p:nvSpPr>
        <p:spPr>
          <a:xfrm>
            <a:off x="4486975" y="1368003"/>
            <a:ext cx="789460" cy="726464"/>
          </a:xfrm>
          <a:prstGeom prst="ellipse">
            <a:avLst/>
          </a:prstGeom>
          <a:solidFill>
            <a:srgbClr val="E0F2F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a:extLst>
              <a:ext uri="{FF2B5EF4-FFF2-40B4-BE49-F238E27FC236}">
                <a16:creationId xmlns:a16="http://schemas.microsoft.com/office/drawing/2014/main" id="{8D1A3C04-1AD1-E721-3BC1-2BE843286958}"/>
              </a:ext>
            </a:extLst>
          </p:cNvPr>
          <p:cNvSpPr/>
          <p:nvPr/>
        </p:nvSpPr>
        <p:spPr>
          <a:xfrm>
            <a:off x="1564446" y="1368003"/>
            <a:ext cx="789460" cy="726464"/>
          </a:xfrm>
          <a:prstGeom prst="ellipse">
            <a:avLst/>
          </a:prstGeom>
          <a:solidFill>
            <a:srgbClr val="FDE1B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01C4622B-A91A-7E6C-D63D-67CAB91298DB}"/>
              </a:ext>
            </a:extLst>
          </p:cNvPr>
          <p:cNvSpPr/>
          <p:nvPr/>
        </p:nvSpPr>
        <p:spPr>
          <a:xfrm>
            <a:off x="614884" y="2237905"/>
            <a:ext cx="2666801" cy="3571880"/>
          </a:xfrm>
          <a:prstGeom prst="rect">
            <a:avLst/>
          </a:prstGeom>
          <a:solidFill>
            <a:srgbClr val="FDE1B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108000" rIns="180000" rtlCol="0" anchor="t"/>
          <a:lstStyle/>
          <a:p>
            <a:pPr>
              <a:spcBef>
                <a:spcPts val="800"/>
              </a:spcBef>
              <a:spcAft>
                <a:spcPts val="800"/>
              </a:spcAft>
            </a:pPr>
            <a:r>
              <a:rPr lang="en-US" sz="1200" dirty="0">
                <a:solidFill>
                  <a:schemeClr val="tx1"/>
                </a:solidFill>
                <a:latin typeface="Times New Roman" panose="02020603050405020304" pitchFamily="18" charset="0"/>
                <a:cs typeface="Times New Roman" panose="02020603050405020304" pitchFamily="18" charset="0"/>
              </a:rPr>
              <a:t>Applied </a:t>
            </a:r>
            <a:r>
              <a:rPr lang="en-US" sz="1200" b="1" dirty="0">
                <a:solidFill>
                  <a:schemeClr val="tx1"/>
                </a:solidFill>
                <a:latin typeface="Times New Roman" panose="02020603050405020304" pitchFamily="18" charset="0"/>
                <a:cs typeface="Times New Roman" panose="02020603050405020304" pitchFamily="18" charset="0"/>
              </a:rPr>
              <a:t>leading global frameworks to assess </a:t>
            </a:r>
            <a:r>
              <a:rPr lang="en-US" sz="1200" dirty="0">
                <a:solidFill>
                  <a:schemeClr val="tx1"/>
                </a:solidFill>
                <a:latin typeface="Times New Roman" panose="02020603050405020304" pitchFamily="18" charset="0"/>
                <a:cs typeface="Times New Roman" panose="02020603050405020304" pitchFamily="18" charset="0"/>
              </a:rPr>
              <a:t>Brazil’s AI ecosystem and readiness. </a:t>
            </a:r>
          </a:p>
          <a:p>
            <a:pPr>
              <a:spcBef>
                <a:spcPts val="800"/>
              </a:spcBef>
              <a:spcAft>
                <a:spcPts val="800"/>
              </a:spcAft>
            </a:pPr>
            <a:r>
              <a:rPr lang="en-US" sz="1200" dirty="0">
                <a:solidFill>
                  <a:schemeClr val="tx1"/>
                </a:solidFill>
                <a:latin typeface="Times New Roman" panose="02020603050405020304" pitchFamily="18" charset="0"/>
                <a:cs typeface="Times New Roman" panose="02020603050405020304" pitchFamily="18" charset="0"/>
              </a:rPr>
              <a:t>Utilized these to construct a partnership evaluation framework based on governance best practices: </a:t>
            </a:r>
          </a:p>
          <a:p>
            <a:pPr marL="171450" indent="-171450">
              <a:spcBef>
                <a:spcPts val="400"/>
              </a:spcBef>
              <a:spcAft>
                <a:spcPts val="400"/>
              </a:spcAft>
              <a:buFont typeface="Arial" panose="020B0604020202020204" pitchFamily="34" charset="0"/>
              <a:buChar char="•"/>
            </a:pPr>
            <a:r>
              <a:rPr lang="en-US" sz="1200" dirty="0">
                <a:solidFill>
                  <a:schemeClr val="tx1"/>
                </a:solidFill>
                <a:latin typeface="Times New Roman" panose="02020603050405020304" pitchFamily="18" charset="0"/>
                <a:cs typeface="Times New Roman" panose="02020603050405020304" pitchFamily="18" charset="0"/>
              </a:rPr>
              <a:t>Oxford Insights Government AI Readiness Index </a:t>
            </a:r>
          </a:p>
          <a:p>
            <a:pPr marL="171450" indent="-171450">
              <a:spcBef>
                <a:spcPts val="400"/>
              </a:spcBef>
              <a:spcAft>
                <a:spcPts val="400"/>
              </a:spcAft>
              <a:buFont typeface="Arial" panose="020B0604020202020204" pitchFamily="34" charset="0"/>
              <a:buChar char="•"/>
            </a:pPr>
            <a:r>
              <a:rPr lang="en-US" sz="1200" dirty="0">
                <a:solidFill>
                  <a:schemeClr val="tx1"/>
                </a:solidFill>
                <a:latin typeface="Times New Roman" panose="02020603050405020304" pitchFamily="18" charset="0"/>
                <a:cs typeface="Times New Roman" panose="02020603050405020304" pitchFamily="18" charset="0"/>
              </a:rPr>
              <a:t>OECD Framework </a:t>
            </a:r>
          </a:p>
          <a:p>
            <a:pPr marL="171450" indent="-171450">
              <a:spcBef>
                <a:spcPts val="400"/>
              </a:spcBef>
              <a:spcAft>
                <a:spcPts val="400"/>
              </a:spcAft>
              <a:buFont typeface="Arial" panose="020B0604020202020204" pitchFamily="34" charset="0"/>
              <a:buChar char="•"/>
            </a:pPr>
            <a:r>
              <a:rPr lang="en-US" sz="1200" dirty="0">
                <a:solidFill>
                  <a:schemeClr val="tx1"/>
                </a:solidFill>
                <a:latin typeface="Times New Roman" panose="02020603050405020304" pitchFamily="18" charset="0"/>
                <a:cs typeface="Times New Roman" panose="02020603050405020304" pitchFamily="18" charset="0"/>
              </a:rPr>
              <a:t>UNESCO Readiness Assessment Methodology (RAM) </a:t>
            </a:r>
          </a:p>
        </p:txBody>
      </p:sp>
      <p:sp>
        <p:nvSpPr>
          <p:cNvPr id="194" name="Rectangle 193">
            <a:extLst>
              <a:ext uri="{FF2B5EF4-FFF2-40B4-BE49-F238E27FC236}">
                <a16:creationId xmlns:a16="http://schemas.microsoft.com/office/drawing/2014/main" id="{0FBB9075-DB8C-01D2-2B4C-16B378E05F87}"/>
              </a:ext>
            </a:extLst>
          </p:cNvPr>
          <p:cNvSpPr/>
          <p:nvPr/>
        </p:nvSpPr>
        <p:spPr>
          <a:xfrm>
            <a:off x="6596346" y="2237905"/>
            <a:ext cx="2666801" cy="3571880"/>
          </a:xfrm>
          <a:prstGeom prst="rect">
            <a:avLst/>
          </a:prstGeom>
          <a:solidFill>
            <a:srgbClr val="DAF2D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108000" rIns="180000" rtlCol="0" anchor="t"/>
          <a:lstStyle/>
          <a:p>
            <a:pPr>
              <a:spcBef>
                <a:spcPts val="800"/>
              </a:spcBef>
              <a:spcAft>
                <a:spcPts val="800"/>
              </a:spcAft>
            </a:pPr>
            <a:r>
              <a:rPr lang="en-US" sz="1200" dirty="0">
                <a:solidFill>
                  <a:schemeClr val="tx1"/>
                </a:solidFill>
                <a:latin typeface="Times New Roman" panose="02020603050405020304" pitchFamily="18" charset="0"/>
                <a:cs typeface="Times New Roman" panose="02020603050405020304" pitchFamily="18" charset="0"/>
              </a:rPr>
              <a:t>Utilized secondary to research shortlist target interviewees and design questionnaires across three functions:</a:t>
            </a:r>
          </a:p>
          <a:p>
            <a:pPr marL="171450" indent="-171450">
              <a:spcBef>
                <a:spcPts val="400"/>
              </a:spcBef>
              <a:spcAft>
                <a:spcPts val="400"/>
              </a:spcAft>
              <a:buFont typeface="Arial" panose="020B0604020202020204" pitchFamily="34" charset="0"/>
              <a:buChar char="•"/>
            </a:pPr>
            <a:r>
              <a:rPr lang="en-US" sz="1200" b="1" dirty="0">
                <a:solidFill>
                  <a:schemeClr val="tx1"/>
                </a:solidFill>
                <a:latin typeface="Times New Roman" panose="02020603050405020304" pitchFamily="18" charset="0"/>
                <a:cs typeface="Times New Roman" panose="02020603050405020304" pitchFamily="18" charset="0"/>
              </a:rPr>
              <a:t> Validated </a:t>
            </a:r>
            <a:r>
              <a:rPr lang="en-US" sz="1200" dirty="0">
                <a:solidFill>
                  <a:schemeClr val="tx1"/>
                </a:solidFill>
                <a:latin typeface="Times New Roman" panose="02020603050405020304" pitchFamily="18" charset="0"/>
                <a:cs typeface="Times New Roman" panose="02020603050405020304" pitchFamily="18" charset="0"/>
              </a:rPr>
              <a:t>key findings on Brazil’s AI landscape, gaps, and priority sectors</a:t>
            </a:r>
          </a:p>
          <a:p>
            <a:pPr marL="171450" indent="-171450">
              <a:spcBef>
                <a:spcPts val="400"/>
              </a:spcBef>
              <a:spcAft>
                <a:spcPts val="400"/>
              </a:spcAft>
              <a:buFont typeface="Arial" panose="020B0604020202020204" pitchFamily="34" charset="0"/>
              <a:buChar char="•"/>
            </a:pPr>
            <a:r>
              <a:rPr lang="en-US" sz="1200" b="1" dirty="0">
                <a:solidFill>
                  <a:schemeClr val="tx1"/>
                </a:solidFill>
                <a:latin typeface="Times New Roman" panose="02020603050405020304" pitchFamily="18" charset="0"/>
                <a:cs typeface="Times New Roman" panose="02020603050405020304" pitchFamily="18" charset="0"/>
              </a:rPr>
              <a:t>Benchmarked </a:t>
            </a:r>
            <a:r>
              <a:rPr lang="en-US" sz="1200" dirty="0">
                <a:solidFill>
                  <a:schemeClr val="tx1"/>
                </a:solidFill>
                <a:latin typeface="Times New Roman" panose="02020603050405020304" pitchFamily="18" charset="0"/>
                <a:cs typeface="Times New Roman" panose="02020603050405020304" pitchFamily="18" charset="0"/>
              </a:rPr>
              <a:t>global funders to assess investment and philanthropic trends</a:t>
            </a:r>
          </a:p>
          <a:p>
            <a:pPr marL="171450" indent="-171450">
              <a:spcBef>
                <a:spcPts val="400"/>
              </a:spcBef>
              <a:spcAft>
                <a:spcPts val="400"/>
              </a:spcAft>
              <a:buFont typeface="Arial" panose="020B0604020202020204" pitchFamily="34" charset="0"/>
              <a:buChar char="•"/>
            </a:pPr>
            <a:r>
              <a:rPr lang="en-US" sz="1200" b="1" dirty="0">
                <a:solidFill>
                  <a:schemeClr val="tx1"/>
                </a:solidFill>
                <a:latin typeface="Times New Roman" panose="02020603050405020304" pitchFamily="18" charset="0"/>
                <a:cs typeface="Times New Roman" panose="02020603050405020304" pitchFamily="18" charset="0"/>
              </a:rPr>
              <a:t>Engagement </a:t>
            </a:r>
            <a:r>
              <a:rPr lang="en-US" sz="1200" dirty="0">
                <a:solidFill>
                  <a:schemeClr val="tx1"/>
                </a:solidFill>
                <a:latin typeface="Times New Roman" panose="02020603050405020304" pitchFamily="18" charset="0"/>
                <a:cs typeface="Times New Roman" panose="02020603050405020304" pitchFamily="18" charset="0"/>
              </a:rPr>
              <a:t>opportunities identified by assess potential partners against BRAVA’s priorities</a:t>
            </a:r>
          </a:p>
        </p:txBody>
      </p:sp>
      <p:sp>
        <p:nvSpPr>
          <p:cNvPr id="28" name="TextBox 27">
            <a:extLst>
              <a:ext uri="{FF2B5EF4-FFF2-40B4-BE49-F238E27FC236}">
                <a16:creationId xmlns:a16="http://schemas.microsoft.com/office/drawing/2014/main" id="{EF7D86AC-44A5-0EA0-8A3D-E470D0315180}"/>
              </a:ext>
            </a:extLst>
          </p:cNvPr>
          <p:cNvSpPr txBox="1"/>
          <p:nvPr/>
        </p:nvSpPr>
        <p:spPr>
          <a:xfrm>
            <a:off x="614884" y="805945"/>
            <a:ext cx="8356018" cy="411779"/>
          </a:xfrm>
          <a:prstGeom prst="rect">
            <a:avLst/>
          </a:prstGeom>
        </p:spPr>
        <p:txBody>
          <a:bodyPr wrap="square" lIns="0" tIns="0" rIns="0" bIns="0" rtlCol="0" anchor="t">
            <a:spAutoFit/>
          </a:bodyPr>
          <a:lstStyle/>
          <a:p>
            <a:pPr>
              <a:lnSpc>
                <a:spcPts val="3479"/>
              </a:lnSpc>
            </a:pPr>
            <a:r>
              <a:rPr lang="en-US" sz="2500" b="1">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Secondary Research Approach</a:t>
            </a:r>
          </a:p>
        </p:txBody>
      </p:sp>
      <p:sp>
        <p:nvSpPr>
          <p:cNvPr id="152" name="Rectangle 151">
            <a:extLst>
              <a:ext uri="{FF2B5EF4-FFF2-40B4-BE49-F238E27FC236}">
                <a16:creationId xmlns:a16="http://schemas.microsoft.com/office/drawing/2014/main" id="{7D41DE0C-3C9E-EF90-4D42-22D77589E627}"/>
              </a:ext>
            </a:extLst>
          </p:cNvPr>
          <p:cNvSpPr/>
          <p:nvPr/>
        </p:nvSpPr>
        <p:spPr>
          <a:xfrm>
            <a:off x="6596347" y="1734627"/>
            <a:ext cx="2666801" cy="433188"/>
          </a:xfrm>
          <a:prstGeom prst="rect">
            <a:avLst/>
          </a:prstGeom>
          <a:solidFill>
            <a:srgbClr val="DAF2D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     Interview Functions Identified</a:t>
            </a:r>
          </a:p>
        </p:txBody>
      </p:sp>
      <p:sp>
        <p:nvSpPr>
          <p:cNvPr id="154" name="Rectangle 153">
            <a:extLst>
              <a:ext uri="{FF2B5EF4-FFF2-40B4-BE49-F238E27FC236}">
                <a16:creationId xmlns:a16="http://schemas.microsoft.com/office/drawing/2014/main" id="{51DEA8FB-25FF-E359-5241-15BE71845D9C}"/>
              </a:ext>
            </a:extLst>
          </p:cNvPr>
          <p:cNvSpPr/>
          <p:nvPr/>
        </p:nvSpPr>
        <p:spPr>
          <a:xfrm>
            <a:off x="3611062" y="1734627"/>
            <a:ext cx="2666801" cy="433188"/>
          </a:xfrm>
          <a:prstGeom prst="rect">
            <a:avLst/>
          </a:prstGeom>
          <a:solidFill>
            <a:srgbClr val="E0F2F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  Variety of Sources Assessed</a:t>
            </a:r>
          </a:p>
        </p:txBody>
      </p:sp>
      <p:sp>
        <p:nvSpPr>
          <p:cNvPr id="155" name="Rectangle 154">
            <a:extLst>
              <a:ext uri="{FF2B5EF4-FFF2-40B4-BE49-F238E27FC236}">
                <a16:creationId xmlns:a16="http://schemas.microsoft.com/office/drawing/2014/main" id="{E6A7D64C-8CAA-657A-D53D-E277F45118DC}"/>
              </a:ext>
            </a:extLst>
          </p:cNvPr>
          <p:cNvSpPr/>
          <p:nvPr/>
        </p:nvSpPr>
        <p:spPr>
          <a:xfrm>
            <a:off x="625776" y="1734627"/>
            <a:ext cx="2666801" cy="433188"/>
          </a:xfrm>
          <a:prstGeom prst="rect">
            <a:avLst/>
          </a:prstGeom>
          <a:solidFill>
            <a:srgbClr val="FDE1B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Key Frameworks Utilized</a:t>
            </a:r>
          </a:p>
        </p:txBody>
      </p:sp>
      <p:grpSp>
        <p:nvGrpSpPr>
          <p:cNvPr id="166" name="Group 165">
            <a:extLst>
              <a:ext uri="{FF2B5EF4-FFF2-40B4-BE49-F238E27FC236}">
                <a16:creationId xmlns:a16="http://schemas.microsoft.com/office/drawing/2014/main" id="{F6356517-35D6-19EE-9EDF-21B6128A9641}"/>
              </a:ext>
            </a:extLst>
          </p:cNvPr>
          <p:cNvGrpSpPr/>
          <p:nvPr/>
        </p:nvGrpSpPr>
        <p:grpSpPr>
          <a:xfrm>
            <a:off x="664634" y="1609320"/>
            <a:ext cx="386191" cy="313765"/>
            <a:chOff x="690350" y="5114971"/>
            <a:chExt cx="386191" cy="313765"/>
          </a:xfrm>
        </p:grpSpPr>
        <p:sp>
          <p:nvSpPr>
            <p:cNvPr id="169" name="Trapezium 168">
              <a:extLst>
                <a:ext uri="{FF2B5EF4-FFF2-40B4-BE49-F238E27FC236}">
                  <a16:creationId xmlns:a16="http://schemas.microsoft.com/office/drawing/2014/main" id="{C2F22AAD-91BC-21A9-27E0-A988C5E28FE5}"/>
                </a:ext>
              </a:extLst>
            </p:cNvPr>
            <p:cNvSpPr/>
            <p:nvPr/>
          </p:nvSpPr>
          <p:spPr>
            <a:xfrm>
              <a:off x="817287" y="5114971"/>
              <a:ext cx="259254" cy="121916"/>
            </a:xfrm>
            <a:prstGeom prst="trapezoid">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ff-page Connector 169">
              <a:extLst>
                <a:ext uri="{FF2B5EF4-FFF2-40B4-BE49-F238E27FC236}">
                  <a16:creationId xmlns:a16="http://schemas.microsoft.com/office/drawing/2014/main" id="{EA3DAECC-7884-6970-BD2B-120ED2E05EE6}"/>
                </a:ext>
              </a:extLst>
            </p:cNvPr>
            <p:cNvSpPr/>
            <p:nvPr/>
          </p:nvSpPr>
          <p:spPr>
            <a:xfrm>
              <a:off x="690350" y="5114971"/>
              <a:ext cx="319638" cy="313765"/>
            </a:xfrm>
            <a:prstGeom prst="flowChartOffpageConnector">
              <a:avLst/>
            </a:prstGeom>
            <a:solidFill>
              <a:srgbClr val="FCD5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1</a:t>
              </a:r>
            </a:p>
          </p:txBody>
        </p:sp>
      </p:grpSp>
      <p:grpSp>
        <p:nvGrpSpPr>
          <p:cNvPr id="175" name="Group 174">
            <a:extLst>
              <a:ext uri="{FF2B5EF4-FFF2-40B4-BE49-F238E27FC236}">
                <a16:creationId xmlns:a16="http://schemas.microsoft.com/office/drawing/2014/main" id="{9E9DCC3A-C075-1F27-6642-B4F62F829909}"/>
              </a:ext>
            </a:extLst>
          </p:cNvPr>
          <p:cNvGrpSpPr/>
          <p:nvPr/>
        </p:nvGrpSpPr>
        <p:grpSpPr>
          <a:xfrm>
            <a:off x="3642812" y="1609319"/>
            <a:ext cx="386191" cy="313765"/>
            <a:chOff x="690350" y="5114971"/>
            <a:chExt cx="386191" cy="313765"/>
          </a:xfrm>
        </p:grpSpPr>
        <p:sp>
          <p:nvSpPr>
            <p:cNvPr id="176" name="Trapezium 175">
              <a:extLst>
                <a:ext uri="{FF2B5EF4-FFF2-40B4-BE49-F238E27FC236}">
                  <a16:creationId xmlns:a16="http://schemas.microsoft.com/office/drawing/2014/main" id="{0BF2F281-9564-01E9-76D0-0F97A8C28553}"/>
                </a:ext>
              </a:extLst>
            </p:cNvPr>
            <p:cNvSpPr/>
            <p:nvPr/>
          </p:nvSpPr>
          <p:spPr>
            <a:xfrm>
              <a:off x="817287" y="5114971"/>
              <a:ext cx="259254" cy="121916"/>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ff-page Connector 176">
              <a:extLst>
                <a:ext uri="{FF2B5EF4-FFF2-40B4-BE49-F238E27FC236}">
                  <a16:creationId xmlns:a16="http://schemas.microsoft.com/office/drawing/2014/main" id="{E695B58D-7113-63F5-B784-CDDBA22F2C1E}"/>
                </a:ext>
              </a:extLst>
            </p:cNvPr>
            <p:cNvSpPr/>
            <p:nvPr/>
          </p:nvSpPr>
          <p:spPr>
            <a:xfrm>
              <a:off x="690350" y="5114971"/>
              <a:ext cx="319638" cy="313765"/>
            </a:xfrm>
            <a:prstGeom prst="flowChartOffpageConnector">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2</a:t>
              </a:r>
            </a:p>
          </p:txBody>
        </p:sp>
      </p:grpSp>
      <p:grpSp>
        <p:nvGrpSpPr>
          <p:cNvPr id="188" name="Group 187">
            <a:extLst>
              <a:ext uri="{FF2B5EF4-FFF2-40B4-BE49-F238E27FC236}">
                <a16:creationId xmlns:a16="http://schemas.microsoft.com/office/drawing/2014/main" id="{4D22DA5A-A481-8E93-7426-B82198F42D6B}"/>
              </a:ext>
            </a:extLst>
          </p:cNvPr>
          <p:cNvGrpSpPr/>
          <p:nvPr/>
        </p:nvGrpSpPr>
        <p:grpSpPr>
          <a:xfrm>
            <a:off x="6656973" y="1609319"/>
            <a:ext cx="386191" cy="313765"/>
            <a:chOff x="690350" y="5114971"/>
            <a:chExt cx="386191" cy="313765"/>
          </a:xfrm>
        </p:grpSpPr>
        <p:sp>
          <p:nvSpPr>
            <p:cNvPr id="190" name="Trapezium 189">
              <a:extLst>
                <a:ext uri="{FF2B5EF4-FFF2-40B4-BE49-F238E27FC236}">
                  <a16:creationId xmlns:a16="http://schemas.microsoft.com/office/drawing/2014/main" id="{99C3F4A8-B669-9945-6E58-38E8FA8E6B6E}"/>
                </a:ext>
              </a:extLst>
            </p:cNvPr>
            <p:cNvSpPr/>
            <p:nvPr/>
          </p:nvSpPr>
          <p:spPr>
            <a:xfrm>
              <a:off x="817287" y="5114971"/>
              <a:ext cx="259254" cy="121916"/>
            </a:xfrm>
            <a:prstGeom prst="trapezoid">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ff-page Connector 191">
              <a:extLst>
                <a:ext uri="{FF2B5EF4-FFF2-40B4-BE49-F238E27FC236}">
                  <a16:creationId xmlns:a16="http://schemas.microsoft.com/office/drawing/2014/main" id="{48D9EE13-3206-230D-B690-8A48C2A84AB4}"/>
                </a:ext>
              </a:extLst>
            </p:cNvPr>
            <p:cNvSpPr/>
            <p:nvPr/>
          </p:nvSpPr>
          <p:spPr>
            <a:xfrm>
              <a:off x="690350" y="5114971"/>
              <a:ext cx="319638" cy="313765"/>
            </a:xfrm>
            <a:prstGeom prst="flowChartOffpageConnector">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3</a:t>
              </a:r>
            </a:p>
          </p:txBody>
        </p:sp>
      </p:grpSp>
      <p:sp>
        <p:nvSpPr>
          <p:cNvPr id="193" name="Freeform 70">
            <a:extLst>
              <a:ext uri="{FF2B5EF4-FFF2-40B4-BE49-F238E27FC236}">
                <a16:creationId xmlns:a16="http://schemas.microsoft.com/office/drawing/2014/main" id="{3F63070F-462D-5DDE-BE31-66033C22F5EE}"/>
              </a:ext>
            </a:extLst>
          </p:cNvPr>
          <p:cNvSpPr>
            <a:spLocks noChangeAspect="1"/>
          </p:cNvSpPr>
          <p:nvPr/>
        </p:nvSpPr>
        <p:spPr>
          <a:xfrm>
            <a:off x="7738532" y="1446454"/>
            <a:ext cx="377426" cy="370416"/>
          </a:xfrm>
          <a:custGeom>
            <a:avLst/>
            <a:gdLst/>
            <a:ahLst/>
            <a:cxnLst/>
            <a:rect l="l" t="t" r="r" b="b"/>
            <a:pathLst>
              <a:path w="648433" h="648433">
                <a:moveTo>
                  <a:pt x="0" y="0"/>
                </a:moveTo>
                <a:lnTo>
                  <a:pt x="648433" y="0"/>
                </a:lnTo>
                <a:lnTo>
                  <a:pt x="648433" y="648433"/>
                </a:lnTo>
                <a:lnTo>
                  <a:pt x="0" y="6484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97" name="Rectangle 196">
            <a:extLst>
              <a:ext uri="{FF2B5EF4-FFF2-40B4-BE49-F238E27FC236}">
                <a16:creationId xmlns:a16="http://schemas.microsoft.com/office/drawing/2014/main" id="{4D1019CD-6FBA-62AF-23AF-863422F5717A}"/>
              </a:ext>
            </a:extLst>
          </p:cNvPr>
          <p:cNvSpPr/>
          <p:nvPr/>
        </p:nvSpPr>
        <p:spPr>
          <a:xfrm>
            <a:off x="3605615" y="2237905"/>
            <a:ext cx="2666801" cy="3571880"/>
          </a:xfrm>
          <a:prstGeom prst="rect">
            <a:avLst/>
          </a:prstGeom>
          <a:solidFill>
            <a:srgbClr val="E0F2F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108000" rIns="180000" rtlCol="0" anchor="t"/>
          <a:lstStyle/>
          <a:p>
            <a:pPr>
              <a:spcBef>
                <a:spcPts val="800"/>
              </a:spcBef>
              <a:spcAft>
                <a:spcPts val="800"/>
              </a:spcAft>
            </a:pPr>
            <a:r>
              <a:rPr lang="en-US" sz="1200" dirty="0">
                <a:solidFill>
                  <a:schemeClr val="tx1"/>
                </a:solidFill>
                <a:latin typeface="Times New Roman" panose="02020603050405020304" pitchFamily="18" charset="0"/>
                <a:cs typeface="Times New Roman" panose="02020603050405020304" pitchFamily="18" charset="0"/>
              </a:rPr>
              <a:t>Built a </a:t>
            </a:r>
            <a:r>
              <a:rPr lang="en-US" sz="1200" b="1" dirty="0">
                <a:solidFill>
                  <a:schemeClr val="tx1"/>
                </a:solidFill>
                <a:latin typeface="Times New Roman" panose="02020603050405020304" pitchFamily="18" charset="0"/>
                <a:cs typeface="Times New Roman" panose="02020603050405020304" pitchFamily="18" charset="0"/>
              </a:rPr>
              <a:t>reliable secondary-source repository</a:t>
            </a:r>
            <a:r>
              <a:rPr lang="en-US" sz="1200" dirty="0">
                <a:solidFill>
                  <a:schemeClr val="tx1"/>
                </a:solidFill>
                <a:latin typeface="Times New Roman" panose="02020603050405020304" pitchFamily="18" charset="0"/>
                <a:cs typeface="Times New Roman" panose="02020603050405020304" pitchFamily="18" charset="0"/>
              </a:rPr>
              <a:t> to support comprehensive mapping of Brazil’s AI landscape.</a:t>
            </a:r>
          </a:p>
          <a:p>
            <a:pPr>
              <a:spcBef>
                <a:spcPts val="800"/>
              </a:spcBef>
              <a:spcAft>
                <a:spcPts val="800"/>
              </a:spcAft>
            </a:pPr>
            <a:r>
              <a:rPr lang="en-US" sz="1200" dirty="0">
                <a:solidFill>
                  <a:schemeClr val="tx1"/>
                </a:solidFill>
                <a:latin typeface="Times New Roman" panose="02020603050405020304" pitchFamily="18" charset="0"/>
                <a:cs typeface="Times New Roman" panose="02020603050405020304" pitchFamily="18" charset="0"/>
              </a:rPr>
              <a:t>Key categories of sources included: </a:t>
            </a:r>
          </a:p>
          <a:p>
            <a:pPr marL="171450" indent="-171450">
              <a:spcBef>
                <a:spcPts val="400"/>
              </a:spcBef>
              <a:spcAft>
                <a:spcPts val="400"/>
              </a:spcAft>
              <a:buFont typeface="Arial" panose="020B0604020202020204" pitchFamily="34" charset="0"/>
              <a:buChar char="•"/>
            </a:pPr>
            <a:r>
              <a:rPr lang="en-US" sz="1200" dirty="0">
                <a:solidFill>
                  <a:schemeClr val="tx1"/>
                </a:solidFill>
                <a:latin typeface="Times New Roman" panose="02020603050405020304" pitchFamily="18" charset="0"/>
                <a:cs typeface="Times New Roman" panose="02020603050405020304" pitchFamily="18" charset="0"/>
              </a:rPr>
              <a:t>International governance frameworks and index reports </a:t>
            </a:r>
          </a:p>
          <a:p>
            <a:pPr marL="171450" indent="-171450">
              <a:spcBef>
                <a:spcPts val="400"/>
              </a:spcBef>
              <a:spcAft>
                <a:spcPts val="400"/>
              </a:spcAft>
              <a:buFont typeface="Arial" panose="020B0604020202020204" pitchFamily="34" charset="0"/>
              <a:buChar char="•"/>
            </a:pPr>
            <a:r>
              <a:rPr lang="en-US" sz="1200" dirty="0">
                <a:solidFill>
                  <a:schemeClr val="tx1"/>
                </a:solidFill>
                <a:latin typeface="Times New Roman" panose="02020603050405020304" pitchFamily="18" charset="0"/>
                <a:cs typeface="Times New Roman" panose="02020603050405020304" pitchFamily="18" charset="0"/>
              </a:rPr>
              <a:t>Legislative and regulatory documents </a:t>
            </a:r>
          </a:p>
          <a:p>
            <a:pPr marL="171450" indent="-171450">
              <a:spcBef>
                <a:spcPts val="400"/>
              </a:spcBef>
              <a:spcAft>
                <a:spcPts val="400"/>
              </a:spcAft>
              <a:buFont typeface="Arial" panose="020B0604020202020204" pitchFamily="34" charset="0"/>
              <a:buChar char="•"/>
            </a:pPr>
            <a:r>
              <a:rPr lang="en-US" sz="1200" dirty="0">
                <a:solidFill>
                  <a:schemeClr val="tx1"/>
                </a:solidFill>
                <a:latin typeface="Times New Roman" panose="02020603050405020304" pitchFamily="18" charset="0"/>
                <a:cs typeface="Times New Roman" panose="02020603050405020304" pitchFamily="18" charset="0"/>
              </a:rPr>
              <a:t>Academic and applied research </a:t>
            </a:r>
          </a:p>
          <a:p>
            <a:pPr marL="171450" indent="-171450">
              <a:spcBef>
                <a:spcPts val="400"/>
              </a:spcBef>
              <a:spcAft>
                <a:spcPts val="400"/>
              </a:spcAft>
              <a:buFont typeface="Arial" panose="020B0604020202020204" pitchFamily="34" charset="0"/>
              <a:buChar char="•"/>
            </a:pPr>
            <a:r>
              <a:rPr lang="en-US" sz="1200" dirty="0">
                <a:solidFill>
                  <a:schemeClr val="tx1"/>
                </a:solidFill>
                <a:latin typeface="Times New Roman" panose="02020603050405020304" pitchFamily="18" charset="0"/>
                <a:cs typeface="Times New Roman" panose="02020603050405020304" pitchFamily="18" charset="0"/>
              </a:rPr>
              <a:t>Internal BRAVA documents </a:t>
            </a:r>
          </a:p>
        </p:txBody>
      </p:sp>
      <p:sp>
        <p:nvSpPr>
          <p:cNvPr id="199" name="Freeform 68">
            <a:extLst>
              <a:ext uri="{FF2B5EF4-FFF2-40B4-BE49-F238E27FC236}">
                <a16:creationId xmlns:a16="http://schemas.microsoft.com/office/drawing/2014/main" id="{C3745643-21CD-8EBF-E47A-669956A76A4F}"/>
              </a:ext>
            </a:extLst>
          </p:cNvPr>
          <p:cNvSpPr/>
          <p:nvPr/>
        </p:nvSpPr>
        <p:spPr>
          <a:xfrm>
            <a:off x="4735688" y="1489830"/>
            <a:ext cx="406653" cy="349414"/>
          </a:xfrm>
          <a:custGeom>
            <a:avLst/>
            <a:gdLst/>
            <a:ahLst/>
            <a:cxnLst/>
            <a:rect l="l" t="t" r="r" b="b"/>
            <a:pathLst>
              <a:path w="690149" h="537061">
                <a:moveTo>
                  <a:pt x="0" y="0"/>
                </a:moveTo>
                <a:lnTo>
                  <a:pt x="690148" y="0"/>
                </a:lnTo>
                <a:lnTo>
                  <a:pt x="690148" y="537061"/>
                </a:lnTo>
                <a:lnTo>
                  <a:pt x="0" y="53706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0" name="Freeform 69">
            <a:extLst>
              <a:ext uri="{FF2B5EF4-FFF2-40B4-BE49-F238E27FC236}">
                <a16:creationId xmlns:a16="http://schemas.microsoft.com/office/drawing/2014/main" id="{BC95CB6F-BC36-6A54-496B-48667C244233}"/>
              </a:ext>
            </a:extLst>
          </p:cNvPr>
          <p:cNvSpPr>
            <a:spLocks noChangeAspect="1"/>
          </p:cNvSpPr>
          <p:nvPr/>
        </p:nvSpPr>
        <p:spPr>
          <a:xfrm>
            <a:off x="1767551" y="1422725"/>
            <a:ext cx="301311" cy="404445"/>
          </a:xfrm>
          <a:custGeom>
            <a:avLst/>
            <a:gdLst/>
            <a:ahLst/>
            <a:cxnLst/>
            <a:rect l="l" t="t" r="r" b="b"/>
            <a:pathLst>
              <a:path w="600903" h="806582">
                <a:moveTo>
                  <a:pt x="0" y="0"/>
                </a:moveTo>
                <a:lnTo>
                  <a:pt x="600904" y="0"/>
                </a:lnTo>
                <a:lnTo>
                  <a:pt x="600904" y="806582"/>
                </a:lnTo>
                <a:lnTo>
                  <a:pt x="0" y="8065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3908878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48985-DBA5-4816-2409-57E963059415}"/>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E7FE897A-787A-E1A6-9DCA-FD0A090006AE}"/>
              </a:ext>
            </a:extLst>
          </p:cNvPr>
          <p:cNvSpPr txBox="1"/>
          <p:nvPr/>
        </p:nvSpPr>
        <p:spPr>
          <a:xfrm>
            <a:off x="614884" y="805945"/>
            <a:ext cx="8356018" cy="411779"/>
          </a:xfrm>
          <a:prstGeom prst="rect">
            <a:avLst/>
          </a:prstGeom>
        </p:spPr>
        <p:txBody>
          <a:bodyPr wrap="square" lIns="0" tIns="0" rIns="0" bIns="0" rtlCol="0" anchor="t">
            <a:spAutoFit/>
          </a:bodyPr>
          <a:lstStyle/>
          <a:p>
            <a:pPr>
              <a:lnSpc>
                <a:spcPts val="3479"/>
              </a:lnSpc>
            </a:pPr>
            <a:r>
              <a:rPr lang="en-US" sz="2500" b="1">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Primary Research Approach</a:t>
            </a:r>
          </a:p>
        </p:txBody>
      </p:sp>
      <p:grpSp>
        <p:nvGrpSpPr>
          <p:cNvPr id="15" name="Group 14">
            <a:extLst>
              <a:ext uri="{FF2B5EF4-FFF2-40B4-BE49-F238E27FC236}">
                <a16:creationId xmlns:a16="http://schemas.microsoft.com/office/drawing/2014/main" id="{A4C86915-AE70-9B62-1629-E904AF38845B}"/>
              </a:ext>
            </a:extLst>
          </p:cNvPr>
          <p:cNvGrpSpPr/>
          <p:nvPr/>
        </p:nvGrpSpPr>
        <p:grpSpPr>
          <a:xfrm>
            <a:off x="591550" y="1432961"/>
            <a:ext cx="8680725" cy="799611"/>
            <a:chOff x="591553" y="1721194"/>
            <a:chExt cx="8680725" cy="799611"/>
          </a:xfrm>
        </p:grpSpPr>
        <p:sp>
          <p:nvSpPr>
            <p:cNvPr id="43" name="Freeform 24">
              <a:extLst>
                <a:ext uri="{FF2B5EF4-FFF2-40B4-BE49-F238E27FC236}">
                  <a16:creationId xmlns:a16="http://schemas.microsoft.com/office/drawing/2014/main" id="{C9CF757F-5CEE-D07C-4A3C-770AFC24C1D4}"/>
                </a:ext>
              </a:extLst>
            </p:cNvPr>
            <p:cNvSpPr/>
            <p:nvPr/>
          </p:nvSpPr>
          <p:spPr>
            <a:xfrm>
              <a:off x="2712587" y="1784473"/>
              <a:ext cx="6559690" cy="736332"/>
            </a:xfrm>
            <a:custGeom>
              <a:avLst/>
              <a:gdLst/>
              <a:ahLst/>
              <a:cxnLst/>
              <a:rect l="l" t="t" r="r" b="b"/>
              <a:pathLst>
                <a:path w="2503158" h="443344">
                  <a:moveTo>
                    <a:pt x="0" y="0"/>
                  </a:moveTo>
                  <a:lnTo>
                    <a:pt x="2503158" y="0"/>
                  </a:lnTo>
                  <a:lnTo>
                    <a:pt x="2503158" y="443344"/>
                  </a:lnTo>
                  <a:lnTo>
                    <a:pt x="0" y="443344"/>
                  </a:lnTo>
                  <a:close/>
                </a:path>
              </a:pathLst>
            </a:custGeom>
            <a:solidFill>
              <a:srgbClr val="8ED973">
                <a:alpha val="29804"/>
              </a:srgbClr>
            </a:solidFill>
          </p:spPr>
          <p:txBody>
            <a:bodyPr/>
            <a:lstStyle/>
            <a:p>
              <a:endParaRPr lang="en-US" sz="1463"/>
            </a:p>
          </p:txBody>
        </p:sp>
        <p:grpSp>
          <p:nvGrpSpPr>
            <p:cNvPr id="22" name="Group 17">
              <a:extLst>
                <a:ext uri="{FF2B5EF4-FFF2-40B4-BE49-F238E27FC236}">
                  <a16:creationId xmlns:a16="http://schemas.microsoft.com/office/drawing/2014/main" id="{E673EBBA-77F1-C8DF-52F1-8E5D365D785E}"/>
                </a:ext>
              </a:extLst>
            </p:cNvPr>
            <p:cNvGrpSpPr/>
            <p:nvPr/>
          </p:nvGrpSpPr>
          <p:grpSpPr>
            <a:xfrm>
              <a:off x="1046046" y="1784473"/>
              <a:ext cx="1586385" cy="736332"/>
              <a:chOff x="0" y="0"/>
              <a:chExt cx="726139" cy="443344"/>
            </a:xfrm>
          </p:grpSpPr>
          <p:sp>
            <p:nvSpPr>
              <p:cNvPr id="23" name="Freeform 18">
                <a:extLst>
                  <a:ext uri="{FF2B5EF4-FFF2-40B4-BE49-F238E27FC236}">
                    <a16:creationId xmlns:a16="http://schemas.microsoft.com/office/drawing/2014/main" id="{3BD443BF-7A6F-69F1-CC3B-E148CB9C6B2A}"/>
                  </a:ext>
                </a:extLst>
              </p:cNvPr>
              <p:cNvSpPr/>
              <p:nvPr/>
            </p:nvSpPr>
            <p:spPr>
              <a:xfrm>
                <a:off x="0" y="0"/>
                <a:ext cx="726139" cy="443344"/>
              </a:xfrm>
              <a:custGeom>
                <a:avLst/>
                <a:gdLst/>
                <a:ahLst/>
                <a:cxnLst/>
                <a:rect l="l" t="t" r="r" b="b"/>
                <a:pathLst>
                  <a:path w="726139" h="443344">
                    <a:moveTo>
                      <a:pt x="0" y="0"/>
                    </a:moveTo>
                    <a:lnTo>
                      <a:pt x="726139" y="0"/>
                    </a:lnTo>
                    <a:lnTo>
                      <a:pt x="726139" y="443344"/>
                    </a:lnTo>
                    <a:lnTo>
                      <a:pt x="0" y="443344"/>
                    </a:lnTo>
                    <a:close/>
                  </a:path>
                </a:pathLst>
              </a:custGeom>
              <a:solidFill>
                <a:srgbClr val="8ED973"/>
              </a:solidFill>
            </p:spPr>
            <p:txBody>
              <a:bodyPr/>
              <a:lstStyle/>
              <a:p>
                <a:endParaRPr lang="en-US" sz="1463"/>
              </a:p>
            </p:txBody>
          </p:sp>
          <p:sp>
            <p:nvSpPr>
              <p:cNvPr id="24" name="TextBox 19">
                <a:extLst>
                  <a:ext uri="{FF2B5EF4-FFF2-40B4-BE49-F238E27FC236}">
                    <a16:creationId xmlns:a16="http://schemas.microsoft.com/office/drawing/2014/main" id="{796B10B5-1DD2-84FD-43DE-904BFC2CA171}"/>
                  </a:ext>
                </a:extLst>
              </p:cNvPr>
              <p:cNvSpPr txBox="1"/>
              <p:nvPr/>
            </p:nvSpPr>
            <p:spPr>
              <a:xfrm>
                <a:off x="0" y="-38100"/>
                <a:ext cx="726139" cy="481444"/>
              </a:xfrm>
              <a:prstGeom prst="rect">
                <a:avLst/>
              </a:prstGeom>
            </p:spPr>
            <p:txBody>
              <a:bodyPr lIns="41275" tIns="41275" rIns="41275" bIns="41275" rtlCol="0" anchor="ctr"/>
              <a:lstStyle/>
              <a:p>
                <a:pPr algn="ctr">
                  <a:lnSpc>
                    <a:spcPts val="1593"/>
                  </a:lnSpc>
                </a:pPr>
                <a:endParaRPr sz="1463"/>
              </a:p>
            </p:txBody>
          </p:sp>
        </p:grpSp>
        <p:grpSp>
          <p:nvGrpSpPr>
            <p:cNvPr id="45" name="Group 26">
              <a:extLst>
                <a:ext uri="{FF2B5EF4-FFF2-40B4-BE49-F238E27FC236}">
                  <a16:creationId xmlns:a16="http://schemas.microsoft.com/office/drawing/2014/main" id="{8D96480C-F478-B9DD-7D6E-F291C6FE09D1}"/>
                </a:ext>
              </a:extLst>
            </p:cNvPr>
            <p:cNvGrpSpPr/>
            <p:nvPr/>
          </p:nvGrpSpPr>
          <p:grpSpPr>
            <a:xfrm>
              <a:off x="591553" y="1905302"/>
              <a:ext cx="659014" cy="494674"/>
              <a:chOff x="0" y="0"/>
              <a:chExt cx="1899920" cy="1899920"/>
            </a:xfrm>
          </p:grpSpPr>
          <p:sp>
            <p:nvSpPr>
              <p:cNvPr id="46" name="Freeform 27">
                <a:extLst>
                  <a:ext uri="{FF2B5EF4-FFF2-40B4-BE49-F238E27FC236}">
                    <a16:creationId xmlns:a16="http://schemas.microsoft.com/office/drawing/2014/main" id="{FA1DCC73-6F05-F581-6C2D-C36709756D79}"/>
                  </a:ext>
                </a:extLst>
              </p:cNvPr>
              <p:cNvSpPr/>
              <p:nvPr/>
            </p:nvSpPr>
            <p:spPr>
              <a:xfrm>
                <a:off x="6350" y="6350"/>
                <a:ext cx="1887220" cy="1887220"/>
              </a:xfrm>
              <a:custGeom>
                <a:avLst/>
                <a:gdLst/>
                <a:ahLst/>
                <a:cxnLst/>
                <a:rect l="l" t="t" r="r" b="b"/>
                <a:pathLst>
                  <a:path w="1887220" h="1887220">
                    <a:moveTo>
                      <a:pt x="0" y="0"/>
                    </a:moveTo>
                    <a:lnTo>
                      <a:pt x="1887220" y="0"/>
                    </a:lnTo>
                    <a:lnTo>
                      <a:pt x="1887220" y="1887220"/>
                    </a:lnTo>
                    <a:lnTo>
                      <a:pt x="0" y="1887220"/>
                    </a:lnTo>
                    <a:close/>
                  </a:path>
                </a:pathLst>
              </a:custGeom>
              <a:solidFill>
                <a:srgbClr val="FFFFFF"/>
              </a:solidFill>
            </p:spPr>
            <p:txBody>
              <a:bodyPr/>
              <a:lstStyle/>
              <a:p>
                <a:endParaRPr lang="en-US" sz="1463"/>
              </a:p>
            </p:txBody>
          </p:sp>
          <p:sp>
            <p:nvSpPr>
              <p:cNvPr id="47" name="Freeform 28">
                <a:extLst>
                  <a:ext uri="{FF2B5EF4-FFF2-40B4-BE49-F238E27FC236}">
                    <a16:creationId xmlns:a16="http://schemas.microsoft.com/office/drawing/2014/main" id="{7D327EEB-5632-88B3-0837-459365C8A8AC}"/>
                  </a:ext>
                </a:extLst>
              </p:cNvPr>
              <p:cNvSpPr/>
              <p:nvPr/>
            </p:nvSpPr>
            <p:spPr>
              <a:xfrm>
                <a:off x="0" y="0"/>
                <a:ext cx="1899920" cy="1899920"/>
              </a:xfrm>
              <a:custGeom>
                <a:avLst/>
                <a:gdLst/>
                <a:ahLst/>
                <a:cxnLst/>
                <a:rect l="l" t="t" r="r" b="b"/>
                <a:pathLst>
                  <a:path w="1899920" h="1899920">
                    <a:moveTo>
                      <a:pt x="6350" y="1899920"/>
                    </a:moveTo>
                    <a:lnTo>
                      <a:pt x="0" y="1899920"/>
                    </a:lnTo>
                    <a:lnTo>
                      <a:pt x="0" y="0"/>
                    </a:lnTo>
                    <a:lnTo>
                      <a:pt x="1899920" y="0"/>
                    </a:lnTo>
                    <a:lnTo>
                      <a:pt x="1899920" y="1899920"/>
                    </a:lnTo>
                    <a:lnTo>
                      <a:pt x="6350" y="1899920"/>
                    </a:lnTo>
                    <a:close/>
                    <a:moveTo>
                      <a:pt x="12700" y="12700"/>
                    </a:moveTo>
                    <a:lnTo>
                      <a:pt x="12700" y="1887220"/>
                    </a:lnTo>
                    <a:lnTo>
                      <a:pt x="1887220" y="1887220"/>
                    </a:lnTo>
                    <a:lnTo>
                      <a:pt x="1887220" y="12700"/>
                    </a:lnTo>
                    <a:lnTo>
                      <a:pt x="12700" y="12700"/>
                    </a:lnTo>
                    <a:close/>
                  </a:path>
                </a:pathLst>
              </a:custGeom>
              <a:solidFill>
                <a:srgbClr val="FFFFFF"/>
              </a:solidFill>
            </p:spPr>
            <p:txBody>
              <a:bodyPr/>
              <a:lstStyle/>
              <a:p>
                <a:endParaRPr lang="en-US" sz="1463"/>
              </a:p>
            </p:txBody>
          </p:sp>
          <p:sp>
            <p:nvSpPr>
              <p:cNvPr id="48" name="Freeform 29">
                <a:extLst>
                  <a:ext uri="{FF2B5EF4-FFF2-40B4-BE49-F238E27FC236}">
                    <a16:creationId xmlns:a16="http://schemas.microsoft.com/office/drawing/2014/main" id="{F79A713A-5038-1B10-8B2E-D6E6F9ED9764}"/>
                  </a:ext>
                </a:extLst>
              </p:cNvPr>
              <p:cNvSpPr/>
              <p:nvPr/>
            </p:nvSpPr>
            <p:spPr>
              <a:xfrm>
                <a:off x="139700" y="140971"/>
                <a:ext cx="1619251" cy="1619249"/>
              </a:xfrm>
              <a:custGeom>
                <a:avLst/>
                <a:gdLst/>
                <a:ahLst/>
                <a:cxnLst/>
                <a:rect l="l" t="t" r="r" b="b"/>
                <a:pathLst>
                  <a:path w="1619250" h="1619250">
                    <a:moveTo>
                      <a:pt x="0" y="0"/>
                    </a:moveTo>
                    <a:lnTo>
                      <a:pt x="1619250" y="0"/>
                    </a:lnTo>
                    <a:lnTo>
                      <a:pt x="1619250" y="1619250"/>
                    </a:lnTo>
                    <a:lnTo>
                      <a:pt x="0" y="1619250"/>
                    </a:lnTo>
                    <a:close/>
                  </a:path>
                </a:pathLst>
              </a:custGeom>
              <a:solidFill>
                <a:srgbClr val="8ED973"/>
              </a:solidFill>
            </p:spPr>
            <p:txBody>
              <a:bodyPr/>
              <a:lstStyle/>
              <a:p>
                <a:endParaRPr lang="en-US" sz="1463"/>
              </a:p>
            </p:txBody>
          </p:sp>
        </p:grpSp>
        <p:sp>
          <p:nvSpPr>
            <p:cNvPr id="87" name="TextBox 69">
              <a:extLst>
                <a:ext uri="{FF2B5EF4-FFF2-40B4-BE49-F238E27FC236}">
                  <a16:creationId xmlns:a16="http://schemas.microsoft.com/office/drawing/2014/main" id="{0A105E25-4E66-17D9-0F6B-DA6A5746D58F}"/>
                </a:ext>
              </a:extLst>
            </p:cNvPr>
            <p:cNvSpPr txBox="1"/>
            <p:nvPr/>
          </p:nvSpPr>
          <p:spPr>
            <a:xfrm>
              <a:off x="1254756" y="1889827"/>
              <a:ext cx="1175334" cy="333425"/>
            </a:xfrm>
            <a:prstGeom prst="rect">
              <a:avLst/>
            </a:prstGeom>
          </p:spPr>
          <p:txBody>
            <a:bodyPr wrap="square" lIns="0" tIns="0" rIns="0" bIns="0" rtlCol="0" anchor="t">
              <a:spAutoFit/>
            </a:bodyPr>
            <a:lstStyle/>
            <a:p>
              <a:pPr algn="ctr">
                <a:lnSpc>
                  <a:spcPts val="1268"/>
                </a:lnSpc>
              </a:pPr>
              <a:r>
                <a:rPr lang="en-US" sz="1200" b="1">
                  <a:solidFill>
                    <a:srgbClr val="000000"/>
                  </a:solidFill>
                  <a:latin typeface="Times New Roman" panose="02020603050405020304" pitchFamily="18" charset="0"/>
                  <a:ea typeface="Times New Roman Bold"/>
                  <a:cs typeface="Times New Roman" panose="02020603050405020304" pitchFamily="18" charset="0"/>
                  <a:sym typeface="Times New Roman Bold"/>
                </a:rPr>
                <a:t>Stakeholder Identification</a:t>
              </a:r>
            </a:p>
          </p:txBody>
        </p:sp>
        <p:sp>
          <p:nvSpPr>
            <p:cNvPr id="27" name="TextBox 22">
              <a:extLst>
                <a:ext uri="{FF2B5EF4-FFF2-40B4-BE49-F238E27FC236}">
                  <a16:creationId xmlns:a16="http://schemas.microsoft.com/office/drawing/2014/main" id="{5A1AD78A-6FE1-7044-5BDC-BEDC9802600B}"/>
                </a:ext>
              </a:extLst>
            </p:cNvPr>
            <p:cNvSpPr txBox="1"/>
            <p:nvPr/>
          </p:nvSpPr>
          <p:spPr>
            <a:xfrm>
              <a:off x="6150667" y="1861473"/>
              <a:ext cx="2844997" cy="523018"/>
            </a:xfrm>
            <a:prstGeom prst="rect">
              <a:avLst/>
            </a:prstGeom>
          </p:spPr>
          <p:txBody>
            <a:bodyPr lIns="41275" tIns="41275" rIns="41275" bIns="41275" rtlCol="0" anchor="ctr"/>
            <a:lstStyle/>
            <a:p>
              <a:pPr algn="ctr">
                <a:lnSpc>
                  <a:spcPts val="1593"/>
                </a:lnSpc>
              </a:pPr>
              <a:endParaRPr sz="1463"/>
            </a:p>
          </p:txBody>
        </p:sp>
        <p:sp>
          <p:nvSpPr>
            <p:cNvPr id="44" name="TextBox 25">
              <a:extLst>
                <a:ext uri="{FF2B5EF4-FFF2-40B4-BE49-F238E27FC236}">
                  <a16:creationId xmlns:a16="http://schemas.microsoft.com/office/drawing/2014/main" id="{3F7E3F08-9AF0-56DF-0FCA-F993B3489BD3}"/>
                </a:ext>
              </a:extLst>
            </p:cNvPr>
            <p:cNvSpPr txBox="1"/>
            <p:nvPr/>
          </p:nvSpPr>
          <p:spPr>
            <a:xfrm>
              <a:off x="2712588" y="1721194"/>
              <a:ext cx="6559690" cy="799611"/>
            </a:xfrm>
            <a:prstGeom prst="rect">
              <a:avLst/>
            </a:prstGeom>
          </p:spPr>
          <p:txBody>
            <a:bodyPr lIns="41275" tIns="41275" rIns="41275" bIns="41275" rtlCol="0" anchor="ctr"/>
            <a:lstStyle/>
            <a:p>
              <a:pPr algn="ctr">
                <a:lnSpc>
                  <a:spcPts val="1593"/>
                </a:lnSpc>
              </a:pPr>
              <a:endParaRPr sz="1463"/>
            </a:p>
          </p:txBody>
        </p:sp>
        <p:sp>
          <p:nvSpPr>
            <p:cNvPr id="26" name="Freeform 21">
              <a:extLst>
                <a:ext uri="{FF2B5EF4-FFF2-40B4-BE49-F238E27FC236}">
                  <a16:creationId xmlns:a16="http://schemas.microsoft.com/office/drawing/2014/main" id="{B19F975A-7D3E-06E5-C896-36643429301C}"/>
                </a:ext>
              </a:extLst>
            </p:cNvPr>
            <p:cNvSpPr/>
            <p:nvPr/>
          </p:nvSpPr>
          <p:spPr>
            <a:xfrm>
              <a:off x="6025271" y="1866681"/>
              <a:ext cx="3161384" cy="571917"/>
            </a:xfrm>
            <a:custGeom>
              <a:avLst/>
              <a:gdLst/>
              <a:ahLst/>
              <a:cxnLst/>
              <a:rect l="l" t="t" r="r" b="b"/>
              <a:pathLst>
                <a:path w="1193688" h="297843">
                  <a:moveTo>
                    <a:pt x="0" y="0"/>
                  </a:moveTo>
                  <a:lnTo>
                    <a:pt x="1193688" y="0"/>
                  </a:lnTo>
                  <a:lnTo>
                    <a:pt x="1193688" y="297843"/>
                  </a:lnTo>
                  <a:lnTo>
                    <a:pt x="0" y="297843"/>
                  </a:lnTo>
                  <a:close/>
                </a:path>
              </a:pathLst>
            </a:custGeom>
            <a:solidFill>
              <a:srgbClr val="8ED973"/>
            </a:solidFill>
          </p:spPr>
          <p:txBody>
            <a:bodyPr/>
            <a:lstStyle/>
            <a:p>
              <a:r>
                <a:rPr lang="en-US" sz="1100">
                  <a:latin typeface="Times New Roman" panose="02020603050405020304" pitchFamily="18" charset="0"/>
                  <a:cs typeface="Times New Roman" panose="02020603050405020304" pitchFamily="18" charset="0"/>
                </a:rPr>
                <a:t>Identified based on existing constraints in Brazil: fragmented governance, limited expertise, underdeveloped oversight capacity</a:t>
              </a:r>
            </a:p>
            <a:p>
              <a:endParaRPr lang="en-US" sz="1100">
                <a:latin typeface="Times New Roman" panose="02020603050405020304" pitchFamily="18" charset="0"/>
                <a:cs typeface="Times New Roman" panose="02020603050405020304" pitchFamily="18" charset="0"/>
              </a:endParaRPr>
            </a:p>
            <a:p>
              <a:endParaRPr lang="en-US" sz="1100">
                <a:latin typeface="Times New Roman" panose="02020603050405020304" pitchFamily="18" charset="0"/>
                <a:cs typeface="Times New Roman" panose="02020603050405020304" pitchFamily="18" charset="0"/>
                <a:sym typeface="Times New Roman"/>
              </a:endParaRPr>
            </a:p>
            <a:p>
              <a:endParaRPr lang="en-US" sz="1100">
                <a:latin typeface="Times New Roman" panose="02020603050405020304" pitchFamily="18" charset="0"/>
                <a:cs typeface="Times New Roman" panose="02020603050405020304" pitchFamily="18" charset="0"/>
              </a:endParaRPr>
            </a:p>
          </p:txBody>
        </p:sp>
        <p:sp>
          <p:nvSpPr>
            <p:cNvPr id="65" name="Freeform 46">
              <a:extLst>
                <a:ext uri="{FF2B5EF4-FFF2-40B4-BE49-F238E27FC236}">
                  <a16:creationId xmlns:a16="http://schemas.microsoft.com/office/drawing/2014/main" id="{9115B931-0F8B-2A49-CB64-F9A6C964C60F}"/>
                </a:ext>
              </a:extLst>
            </p:cNvPr>
            <p:cNvSpPr/>
            <p:nvPr/>
          </p:nvSpPr>
          <p:spPr>
            <a:xfrm>
              <a:off x="2798212" y="1866681"/>
              <a:ext cx="3161384" cy="571917"/>
            </a:xfrm>
            <a:custGeom>
              <a:avLst/>
              <a:gdLst/>
              <a:ahLst/>
              <a:cxnLst/>
              <a:rect l="l" t="t" r="r" b="b"/>
              <a:pathLst>
                <a:path w="1217446" h="297843">
                  <a:moveTo>
                    <a:pt x="0" y="0"/>
                  </a:moveTo>
                  <a:lnTo>
                    <a:pt x="1217446" y="0"/>
                  </a:lnTo>
                  <a:lnTo>
                    <a:pt x="1217446" y="297843"/>
                  </a:lnTo>
                  <a:lnTo>
                    <a:pt x="0" y="297843"/>
                  </a:lnTo>
                  <a:close/>
                </a:path>
              </a:pathLst>
            </a:custGeom>
            <a:solidFill>
              <a:srgbClr val="8ED973"/>
            </a:solidFill>
          </p:spPr>
          <p:txBody>
            <a:bodyPr/>
            <a:lstStyle/>
            <a:p>
              <a:r>
                <a:rPr lang="en-US" sz="1100" dirty="0">
                  <a:latin typeface="Times New Roman" panose="02020603050405020304" pitchFamily="18" charset="0"/>
                  <a:cs typeface="Times New Roman" panose="02020603050405020304" pitchFamily="18" charset="0"/>
                  <a:sym typeface="Times New Roman Bold"/>
                </a:rPr>
                <a:t>Categories</a:t>
              </a:r>
              <a:r>
                <a:rPr lang="en-US" sz="1100" dirty="0">
                  <a:latin typeface="Times New Roman" panose="02020603050405020304" pitchFamily="18" charset="0"/>
                  <a:cs typeface="Times New Roman" panose="02020603050405020304" pitchFamily="18" charset="0"/>
                  <a:sym typeface="Times New Roman"/>
                </a:rPr>
                <a:t>: 1) Government; 2) Civil Society; 3) Private Sector; 4) Philanthropic Actors</a:t>
              </a:r>
            </a:p>
          </p:txBody>
        </p:sp>
        <p:sp>
          <p:nvSpPr>
            <p:cNvPr id="108" name="TextBox 78">
              <a:extLst>
                <a:ext uri="{FF2B5EF4-FFF2-40B4-BE49-F238E27FC236}">
                  <a16:creationId xmlns:a16="http://schemas.microsoft.com/office/drawing/2014/main" id="{6825E9F3-97CF-1AB6-9AC7-A173666ED96B}"/>
                </a:ext>
              </a:extLst>
            </p:cNvPr>
            <p:cNvSpPr txBox="1"/>
            <p:nvPr/>
          </p:nvSpPr>
          <p:spPr>
            <a:xfrm>
              <a:off x="875714" y="2262976"/>
              <a:ext cx="1964647" cy="129203"/>
            </a:xfrm>
            <a:prstGeom prst="rect">
              <a:avLst/>
            </a:prstGeom>
          </p:spPr>
          <p:txBody>
            <a:bodyPr lIns="0" tIns="0" rIns="0" bIns="0" rtlCol="0" anchor="t">
              <a:spAutoFit/>
            </a:bodyPr>
            <a:lstStyle/>
            <a:p>
              <a:pPr algn="ctr">
                <a:lnSpc>
                  <a:spcPts val="974"/>
                </a:lnSpc>
              </a:pPr>
              <a:r>
                <a:rPr lang="en-US" sz="1000" i="1" spc="40" dirty="0">
                  <a:solidFill>
                    <a:srgbClr val="000000"/>
                  </a:solidFill>
                  <a:latin typeface="Times New Roman"/>
                  <a:ea typeface="Times New Roman"/>
                  <a:cs typeface="Times New Roman"/>
                  <a:sym typeface="Times New Roman"/>
                </a:rPr>
                <a:t>Total: 16</a:t>
              </a:r>
            </a:p>
          </p:txBody>
        </p:sp>
        <p:sp>
          <p:nvSpPr>
            <p:cNvPr id="83" name="Freeform 64">
              <a:extLst>
                <a:ext uri="{FF2B5EF4-FFF2-40B4-BE49-F238E27FC236}">
                  <a16:creationId xmlns:a16="http://schemas.microsoft.com/office/drawing/2014/main" id="{82A6D822-9FAB-E5EE-CB2B-DBB24E608598}"/>
                </a:ext>
              </a:extLst>
            </p:cNvPr>
            <p:cNvSpPr/>
            <p:nvPr/>
          </p:nvSpPr>
          <p:spPr>
            <a:xfrm>
              <a:off x="710725" y="2037209"/>
              <a:ext cx="426917" cy="210790"/>
            </a:xfrm>
            <a:custGeom>
              <a:avLst/>
              <a:gdLst/>
              <a:ahLst/>
              <a:cxnLst/>
              <a:rect l="l" t="t" r="r" b="b"/>
              <a:pathLst>
                <a:path w="525436" h="259434">
                  <a:moveTo>
                    <a:pt x="0" y="0"/>
                  </a:moveTo>
                  <a:lnTo>
                    <a:pt x="525436" y="0"/>
                  </a:lnTo>
                  <a:lnTo>
                    <a:pt x="525436" y="259434"/>
                  </a:lnTo>
                  <a:lnTo>
                    <a:pt x="0" y="25943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463"/>
            </a:p>
          </p:txBody>
        </p:sp>
      </p:grpSp>
      <p:grpSp>
        <p:nvGrpSpPr>
          <p:cNvPr id="13" name="Group 12">
            <a:extLst>
              <a:ext uri="{FF2B5EF4-FFF2-40B4-BE49-F238E27FC236}">
                <a16:creationId xmlns:a16="http://schemas.microsoft.com/office/drawing/2014/main" id="{F0DB2648-DA47-E3FC-7A11-EB88B0F8C50F}"/>
              </a:ext>
            </a:extLst>
          </p:cNvPr>
          <p:cNvGrpSpPr/>
          <p:nvPr/>
        </p:nvGrpSpPr>
        <p:grpSpPr>
          <a:xfrm>
            <a:off x="591550" y="2674076"/>
            <a:ext cx="8680725" cy="793036"/>
            <a:chOff x="591552" y="2878327"/>
            <a:chExt cx="8680725" cy="793036"/>
          </a:xfrm>
        </p:grpSpPr>
        <p:sp>
          <p:nvSpPr>
            <p:cNvPr id="146" name="Freeform 24">
              <a:extLst>
                <a:ext uri="{FF2B5EF4-FFF2-40B4-BE49-F238E27FC236}">
                  <a16:creationId xmlns:a16="http://schemas.microsoft.com/office/drawing/2014/main" id="{0607FBA2-CCDA-89E3-15B0-9991AE19AA69}"/>
                </a:ext>
              </a:extLst>
            </p:cNvPr>
            <p:cNvSpPr/>
            <p:nvPr/>
          </p:nvSpPr>
          <p:spPr>
            <a:xfrm>
              <a:off x="2712587" y="2935031"/>
              <a:ext cx="6559690" cy="736332"/>
            </a:xfrm>
            <a:custGeom>
              <a:avLst/>
              <a:gdLst/>
              <a:ahLst/>
              <a:cxnLst/>
              <a:rect l="l" t="t" r="r" b="b"/>
              <a:pathLst>
                <a:path w="2503158" h="443344">
                  <a:moveTo>
                    <a:pt x="0" y="0"/>
                  </a:moveTo>
                  <a:lnTo>
                    <a:pt x="2503158" y="0"/>
                  </a:lnTo>
                  <a:lnTo>
                    <a:pt x="2503158" y="443344"/>
                  </a:lnTo>
                  <a:lnTo>
                    <a:pt x="0" y="443344"/>
                  </a:lnTo>
                  <a:close/>
                </a:path>
              </a:pathLst>
            </a:custGeom>
            <a:solidFill>
              <a:srgbClr val="F4FCF2"/>
            </a:solidFill>
          </p:spPr>
          <p:txBody>
            <a:bodyPr/>
            <a:lstStyle/>
            <a:p>
              <a:endParaRPr lang="en-US" sz="1463"/>
            </a:p>
          </p:txBody>
        </p:sp>
        <p:sp>
          <p:nvSpPr>
            <p:cNvPr id="63" name="TextBox 44">
              <a:extLst>
                <a:ext uri="{FF2B5EF4-FFF2-40B4-BE49-F238E27FC236}">
                  <a16:creationId xmlns:a16="http://schemas.microsoft.com/office/drawing/2014/main" id="{2B66B642-D106-DA80-1874-BAF2EA0A2BB6}"/>
                </a:ext>
              </a:extLst>
            </p:cNvPr>
            <p:cNvSpPr txBox="1"/>
            <p:nvPr/>
          </p:nvSpPr>
          <p:spPr>
            <a:xfrm>
              <a:off x="2896515" y="2960430"/>
              <a:ext cx="1893086" cy="585243"/>
            </a:xfrm>
            <a:prstGeom prst="rect">
              <a:avLst/>
            </a:prstGeom>
          </p:spPr>
          <p:txBody>
            <a:bodyPr lIns="41275" tIns="41275" rIns="41275" bIns="41275" rtlCol="0" anchor="ctr"/>
            <a:lstStyle/>
            <a:p>
              <a:pPr algn="ctr">
                <a:lnSpc>
                  <a:spcPts val="1593"/>
                </a:lnSpc>
              </a:pPr>
              <a:endParaRPr sz="900">
                <a:latin typeface="Times New Roman" panose="02020603050405020304" pitchFamily="18" charset="0"/>
                <a:cs typeface="Times New Roman" panose="02020603050405020304" pitchFamily="18" charset="0"/>
              </a:endParaRPr>
            </a:p>
          </p:txBody>
        </p:sp>
        <p:sp>
          <p:nvSpPr>
            <p:cNvPr id="111" name="TextBox 81">
              <a:extLst>
                <a:ext uri="{FF2B5EF4-FFF2-40B4-BE49-F238E27FC236}">
                  <a16:creationId xmlns:a16="http://schemas.microsoft.com/office/drawing/2014/main" id="{5FC06F00-7A8E-6E10-7B86-A1568104543F}"/>
                </a:ext>
              </a:extLst>
            </p:cNvPr>
            <p:cNvSpPr txBox="1"/>
            <p:nvPr/>
          </p:nvSpPr>
          <p:spPr>
            <a:xfrm>
              <a:off x="4773647" y="2988383"/>
              <a:ext cx="1893086" cy="585243"/>
            </a:xfrm>
            <a:prstGeom prst="rect">
              <a:avLst/>
            </a:prstGeom>
          </p:spPr>
          <p:txBody>
            <a:bodyPr lIns="41275" tIns="41275" rIns="41275" bIns="41275" rtlCol="0" anchor="ctr"/>
            <a:lstStyle/>
            <a:p>
              <a:pPr algn="ctr">
                <a:lnSpc>
                  <a:spcPts val="1593"/>
                </a:lnSpc>
              </a:pPr>
              <a:endParaRPr sz="900">
                <a:latin typeface="Times New Roman" panose="02020603050405020304" pitchFamily="18" charset="0"/>
                <a:cs typeface="Times New Roman" panose="02020603050405020304" pitchFamily="18" charset="0"/>
              </a:endParaRPr>
            </a:p>
          </p:txBody>
        </p:sp>
        <p:sp>
          <p:nvSpPr>
            <p:cNvPr id="62" name="Freeform 43">
              <a:extLst>
                <a:ext uri="{FF2B5EF4-FFF2-40B4-BE49-F238E27FC236}">
                  <a16:creationId xmlns:a16="http://schemas.microsoft.com/office/drawing/2014/main" id="{A735E989-483D-B433-3862-8318C6514EDC}"/>
                </a:ext>
              </a:extLst>
            </p:cNvPr>
            <p:cNvSpPr/>
            <p:nvPr/>
          </p:nvSpPr>
          <p:spPr>
            <a:xfrm>
              <a:off x="2798211" y="3016997"/>
              <a:ext cx="2070243" cy="572400"/>
            </a:xfrm>
            <a:custGeom>
              <a:avLst/>
              <a:gdLst/>
              <a:ahLst/>
              <a:cxnLst/>
              <a:rect l="l" t="t" r="r" b="b"/>
              <a:pathLst>
                <a:path w="743681" h="297843">
                  <a:moveTo>
                    <a:pt x="0" y="0"/>
                  </a:moveTo>
                  <a:lnTo>
                    <a:pt x="743681" y="0"/>
                  </a:lnTo>
                  <a:lnTo>
                    <a:pt x="743681" y="297843"/>
                  </a:lnTo>
                  <a:lnTo>
                    <a:pt x="0" y="297843"/>
                  </a:lnTo>
                  <a:close/>
                </a:path>
              </a:pathLst>
            </a:custGeom>
            <a:solidFill>
              <a:srgbClr val="D9F2D0"/>
            </a:solidFill>
          </p:spPr>
          <p:txBody>
            <a:bodyPr/>
            <a:lstStyle/>
            <a:p>
              <a:r>
                <a:rPr lang="en-US" sz="1100" spc="38" dirty="0">
                  <a:solidFill>
                    <a:srgbClr val="000000"/>
                  </a:solidFill>
                  <a:latin typeface="Times New Roman" panose="02020603050405020304" pitchFamily="18" charset="0"/>
                  <a:ea typeface="Times New Roman"/>
                  <a:cs typeface="Times New Roman" panose="02020603050405020304" pitchFamily="18" charset="0"/>
                  <a:sym typeface="Times New Roman"/>
                </a:rPr>
                <a:t>Developed around the </a:t>
              </a:r>
              <a:r>
                <a:rPr lang="en-US" sz="1100" b="1" spc="38"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6 governance pillars </a:t>
              </a:r>
              <a:r>
                <a:rPr lang="en-US" sz="1100" spc="38" dirty="0">
                  <a:solidFill>
                    <a:srgbClr val="000000"/>
                  </a:solidFill>
                  <a:latin typeface="Times New Roman" panose="02020603050405020304" pitchFamily="18" charset="0"/>
                  <a:ea typeface="Times New Roman"/>
                  <a:cs typeface="Times New Roman" panose="02020603050405020304" pitchFamily="18" charset="0"/>
                  <a:sym typeface="Times New Roman"/>
                </a:rPr>
                <a:t>of public-interest AI</a:t>
              </a:r>
            </a:p>
          </p:txBody>
        </p:sp>
        <p:sp>
          <p:nvSpPr>
            <p:cNvPr id="110" name="Freeform 80">
              <a:extLst>
                <a:ext uri="{FF2B5EF4-FFF2-40B4-BE49-F238E27FC236}">
                  <a16:creationId xmlns:a16="http://schemas.microsoft.com/office/drawing/2014/main" id="{F975D748-DBCD-D083-3713-B36018E6FACF}"/>
                </a:ext>
              </a:extLst>
            </p:cNvPr>
            <p:cNvSpPr/>
            <p:nvPr/>
          </p:nvSpPr>
          <p:spPr>
            <a:xfrm>
              <a:off x="4957311" y="3016997"/>
              <a:ext cx="2070243" cy="572400"/>
            </a:xfrm>
            <a:custGeom>
              <a:avLst/>
              <a:gdLst/>
              <a:ahLst/>
              <a:cxnLst/>
              <a:rect l="l" t="t" r="r" b="b"/>
              <a:pathLst>
                <a:path w="743681" h="297843">
                  <a:moveTo>
                    <a:pt x="0" y="0"/>
                  </a:moveTo>
                  <a:lnTo>
                    <a:pt x="743681" y="0"/>
                  </a:lnTo>
                  <a:lnTo>
                    <a:pt x="743681" y="297843"/>
                  </a:lnTo>
                  <a:lnTo>
                    <a:pt x="0" y="297843"/>
                  </a:lnTo>
                  <a:close/>
                </a:path>
              </a:pathLst>
            </a:custGeom>
            <a:solidFill>
              <a:srgbClr val="D9F2D0"/>
            </a:solidFill>
          </p:spPr>
          <p:txBody>
            <a:bodyPr/>
            <a:lstStyle/>
            <a:p>
              <a:r>
                <a:rPr lang="en-US" sz="1100" b="1" spc="38">
                  <a:solidFill>
                    <a:srgbClr val="000000"/>
                  </a:solidFill>
                  <a:latin typeface="Times New Roman" panose="02020603050405020304" pitchFamily="18" charset="0"/>
                  <a:ea typeface="Times New Roman Bold"/>
                  <a:cs typeface="Times New Roman" panose="02020603050405020304" pitchFamily="18" charset="0"/>
                  <a:sym typeface="Times New Roman Bold"/>
                </a:rPr>
                <a:t>Tailored</a:t>
              </a:r>
              <a:r>
                <a:rPr lang="en-US" sz="1100" spc="38">
                  <a:solidFill>
                    <a:srgbClr val="000000"/>
                  </a:solidFill>
                  <a:latin typeface="Times New Roman" panose="02020603050405020304" pitchFamily="18" charset="0"/>
                  <a:ea typeface="Times New Roman"/>
                  <a:cs typeface="Times New Roman" panose="02020603050405020304" pitchFamily="18" charset="0"/>
                  <a:sym typeface="Times New Roman"/>
                </a:rPr>
                <a:t> for each stakeholder category</a:t>
              </a:r>
            </a:p>
          </p:txBody>
        </p:sp>
        <p:sp>
          <p:nvSpPr>
            <p:cNvPr id="113" name="Freeform 83">
              <a:extLst>
                <a:ext uri="{FF2B5EF4-FFF2-40B4-BE49-F238E27FC236}">
                  <a16:creationId xmlns:a16="http://schemas.microsoft.com/office/drawing/2014/main" id="{6C5E1A3B-493C-299A-266A-5F8C14938DE2}"/>
                </a:ext>
              </a:extLst>
            </p:cNvPr>
            <p:cNvSpPr/>
            <p:nvPr/>
          </p:nvSpPr>
          <p:spPr>
            <a:xfrm>
              <a:off x="7116411" y="3016997"/>
              <a:ext cx="2070243" cy="572400"/>
            </a:xfrm>
            <a:custGeom>
              <a:avLst/>
              <a:gdLst/>
              <a:ahLst/>
              <a:cxnLst/>
              <a:rect l="l" t="t" r="r" b="b"/>
              <a:pathLst>
                <a:path w="743681" h="297843">
                  <a:moveTo>
                    <a:pt x="0" y="0"/>
                  </a:moveTo>
                  <a:lnTo>
                    <a:pt x="743681" y="0"/>
                  </a:lnTo>
                  <a:lnTo>
                    <a:pt x="743681" y="297843"/>
                  </a:lnTo>
                  <a:lnTo>
                    <a:pt x="0" y="297843"/>
                  </a:lnTo>
                  <a:close/>
                </a:path>
              </a:pathLst>
            </a:custGeom>
            <a:solidFill>
              <a:srgbClr val="D9F2D0"/>
            </a:solidFill>
          </p:spPr>
          <p:txBody>
            <a:bodyPr/>
            <a:lstStyle/>
            <a:p>
              <a:r>
                <a:rPr lang="en-US" sz="1100" b="1" spc="38">
                  <a:solidFill>
                    <a:srgbClr val="000000"/>
                  </a:solidFill>
                  <a:latin typeface="Times New Roman" panose="02020603050405020304" pitchFamily="18" charset="0"/>
                  <a:ea typeface="Times New Roman Bold"/>
                  <a:cs typeface="Times New Roman" panose="02020603050405020304" pitchFamily="18" charset="0"/>
                  <a:sym typeface="Times New Roman Bold"/>
                </a:rPr>
                <a:t>Aligned with BRAVA</a:t>
              </a:r>
              <a:r>
                <a:rPr lang="en-US" sz="1100" spc="38">
                  <a:solidFill>
                    <a:srgbClr val="000000"/>
                  </a:solidFill>
                  <a:latin typeface="Times New Roman" panose="02020603050405020304" pitchFamily="18" charset="0"/>
                  <a:ea typeface="Times New Roman"/>
                  <a:cs typeface="Times New Roman" panose="02020603050405020304" pitchFamily="18" charset="0"/>
                  <a:sym typeface="Times New Roman"/>
                </a:rPr>
                <a:t>’s institutional mission and impact framework</a:t>
              </a:r>
            </a:p>
            <a:p>
              <a:endParaRPr lang="en-US" sz="1100">
                <a:latin typeface="Times New Roman" panose="02020603050405020304" pitchFamily="18" charset="0"/>
                <a:cs typeface="Times New Roman" panose="02020603050405020304" pitchFamily="18" charset="0"/>
              </a:endParaRPr>
            </a:p>
          </p:txBody>
        </p:sp>
        <p:sp>
          <p:nvSpPr>
            <p:cNvPr id="114" name="TextBox 84">
              <a:extLst>
                <a:ext uri="{FF2B5EF4-FFF2-40B4-BE49-F238E27FC236}">
                  <a16:creationId xmlns:a16="http://schemas.microsoft.com/office/drawing/2014/main" id="{3D72AF67-54F2-6DF1-91AA-7BAB8D40A750}"/>
                </a:ext>
              </a:extLst>
            </p:cNvPr>
            <p:cNvSpPr txBox="1"/>
            <p:nvPr/>
          </p:nvSpPr>
          <p:spPr>
            <a:xfrm>
              <a:off x="7379191" y="2960430"/>
              <a:ext cx="1893086" cy="585243"/>
            </a:xfrm>
            <a:prstGeom prst="rect">
              <a:avLst/>
            </a:prstGeom>
          </p:spPr>
          <p:txBody>
            <a:bodyPr lIns="41275" tIns="41275" rIns="41275" bIns="41275" rtlCol="0" anchor="ctr"/>
            <a:lstStyle/>
            <a:p>
              <a:pPr algn="ctr">
                <a:lnSpc>
                  <a:spcPts val="1593"/>
                </a:lnSpc>
              </a:pPr>
              <a:endParaRPr sz="900">
                <a:latin typeface="Times New Roman" panose="02020603050405020304" pitchFamily="18" charset="0"/>
                <a:cs typeface="Times New Roman" panose="02020603050405020304" pitchFamily="18" charset="0"/>
              </a:endParaRPr>
            </a:p>
          </p:txBody>
        </p:sp>
        <p:grpSp>
          <p:nvGrpSpPr>
            <p:cNvPr id="136" name="Group 17">
              <a:extLst>
                <a:ext uri="{FF2B5EF4-FFF2-40B4-BE49-F238E27FC236}">
                  <a16:creationId xmlns:a16="http://schemas.microsoft.com/office/drawing/2014/main" id="{13C907C8-B300-D15E-DC41-61781ED0F2BC}"/>
                </a:ext>
              </a:extLst>
            </p:cNvPr>
            <p:cNvGrpSpPr/>
            <p:nvPr/>
          </p:nvGrpSpPr>
          <p:grpSpPr>
            <a:xfrm>
              <a:off x="1046045" y="2878327"/>
              <a:ext cx="1586385" cy="736332"/>
              <a:chOff x="0" y="0"/>
              <a:chExt cx="726139" cy="443344"/>
            </a:xfrm>
          </p:grpSpPr>
          <p:sp>
            <p:nvSpPr>
              <p:cNvPr id="137" name="Freeform 18">
                <a:extLst>
                  <a:ext uri="{FF2B5EF4-FFF2-40B4-BE49-F238E27FC236}">
                    <a16:creationId xmlns:a16="http://schemas.microsoft.com/office/drawing/2014/main" id="{F66C22A9-E45B-A971-82B1-899BD2D17C07}"/>
                  </a:ext>
                </a:extLst>
              </p:cNvPr>
              <p:cNvSpPr/>
              <p:nvPr/>
            </p:nvSpPr>
            <p:spPr>
              <a:xfrm>
                <a:off x="0" y="0"/>
                <a:ext cx="726139" cy="443344"/>
              </a:xfrm>
              <a:custGeom>
                <a:avLst/>
                <a:gdLst/>
                <a:ahLst/>
                <a:cxnLst/>
                <a:rect l="l" t="t" r="r" b="b"/>
                <a:pathLst>
                  <a:path w="726139" h="443344">
                    <a:moveTo>
                      <a:pt x="0" y="0"/>
                    </a:moveTo>
                    <a:lnTo>
                      <a:pt x="726139" y="0"/>
                    </a:lnTo>
                    <a:lnTo>
                      <a:pt x="726139" y="443344"/>
                    </a:lnTo>
                    <a:lnTo>
                      <a:pt x="0" y="443344"/>
                    </a:lnTo>
                    <a:close/>
                  </a:path>
                </a:pathLst>
              </a:custGeom>
              <a:solidFill>
                <a:srgbClr val="DAF2D1"/>
              </a:solidFill>
            </p:spPr>
            <p:txBody>
              <a:bodyPr/>
              <a:lstStyle/>
              <a:p>
                <a:endParaRPr lang="en-US" sz="1463"/>
              </a:p>
            </p:txBody>
          </p:sp>
          <p:sp>
            <p:nvSpPr>
              <p:cNvPr id="138" name="TextBox 19">
                <a:extLst>
                  <a:ext uri="{FF2B5EF4-FFF2-40B4-BE49-F238E27FC236}">
                    <a16:creationId xmlns:a16="http://schemas.microsoft.com/office/drawing/2014/main" id="{7EBC9820-5915-29A8-60EA-708919FC6AED}"/>
                  </a:ext>
                </a:extLst>
              </p:cNvPr>
              <p:cNvSpPr txBox="1"/>
              <p:nvPr/>
            </p:nvSpPr>
            <p:spPr>
              <a:xfrm>
                <a:off x="0" y="-38100"/>
                <a:ext cx="726139" cy="481444"/>
              </a:xfrm>
              <a:prstGeom prst="rect">
                <a:avLst/>
              </a:prstGeom>
            </p:spPr>
            <p:txBody>
              <a:bodyPr lIns="41275" tIns="41275" rIns="41275" bIns="41275" rtlCol="0" anchor="ctr"/>
              <a:lstStyle/>
              <a:p>
                <a:pPr algn="ctr">
                  <a:lnSpc>
                    <a:spcPts val="1593"/>
                  </a:lnSpc>
                </a:pPr>
                <a:endParaRPr sz="1463"/>
              </a:p>
            </p:txBody>
          </p:sp>
        </p:grpSp>
        <p:grpSp>
          <p:nvGrpSpPr>
            <p:cNvPr id="139" name="Group 26">
              <a:extLst>
                <a:ext uri="{FF2B5EF4-FFF2-40B4-BE49-F238E27FC236}">
                  <a16:creationId xmlns:a16="http://schemas.microsoft.com/office/drawing/2014/main" id="{7B8F317A-627A-DBB3-4972-8999BD635BAB}"/>
                </a:ext>
              </a:extLst>
            </p:cNvPr>
            <p:cNvGrpSpPr/>
            <p:nvPr/>
          </p:nvGrpSpPr>
          <p:grpSpPr>
            <a:xfrm>
              <a:off x="591552" y="2999156"/>
              <a:ext cx="659014" cy="494674"/>
              <a:chOff x="0" y="0"/>
              <a:chExt cx="1899920" cy="1899920"/>
            </a:xfrm>
          </p:grpSpPr>
          <p:sp>
            <p:nvSpPr>
              <p:cNvPr id="140" name="Freeform 27">
                <a:extLst>
                  <a:ext uri="{FF2B5EF4-FFF2-40B4-BE49-F238E27FC236}">
                    <a16:creationId xmlns:a16="http://schemas.microsoft.com/office/drawing/2014/main" id="{18A6B949-6327-A999-8824-E7BEE580FBFE}"/>
                  </a:ext>
                </a:extLst>
              </p:cNvPr>
              <p:cNvSpPr/>
              <p:nvPr/>
            </p:nvSpPr>
            <p:spPr>
              <a:xfrm>
                <a:off x="6350" y="6350"/>
                <a:ext cx="1887220" cy="1887220"/>
              </a:xfrm>
              <a:custGeom>
                <a:avLst/>
                <a:gdLst/>
                <a:ahLst/>
                <a:cxnLst/>
                <a:rect l="l" t="t" r="r" b="b"/>
                <a:pathLst>
                  <a:path w="1887220" h="1887220">
                    <a:moveTo>
                      <a:pt x="0" y="0"/>
                    </a:moveTo>
                    <a:lnTo>
                      <a:pt x="1887220" y="0"/>
                    </a:lnTo>
                    <a:lnTo>
                      <a:pt x="1887220" y="1887220"/>
                    </a:lnTo>
                    <a:lnTo>
                      <a:pt x="0" y="1887220"/>
                    </a:lnTo>
                    <a:close/>
                  </a:path>
                </a:pathLst>
              </a:custGeom>
              <a:solidFill>
                <a:srgbClr val="FFFFFF"/>
              </a:solidFill>
            </p:spPr>
            <p:txBody>
              <a:bodyPr/>
              <a:lstStyle/>
              <a:p>
                <a:endParaRPr lang="en-US" sz="1463"/>
              </a:p>
            </p:txBody>
          </p:sp>
          <p:sp>
            <p:nvSpPr>
              <p:cNvPr id="141" name="Freeform 28">
                <a:extLst>
                  <a:ext uri="{FF2B5EF4-FFF2-40B4-BE49-F238E27FC236}">
                    <a16:creationId xmlns:a16="http://schemas.microsoft.com/office/drawing/2014/main" id="{916D1170-F9A7-22FA-8227-B24A5B15BB7D}"/>
                  </a:ext>
                </a:extLst>
              </p:cNvPr>
              <p:cNvSpPr/>
              <p:nvPr/>
            </p:nvSpPr>
            <p:spPr>
              <a:xfrm>
                <a:off x="0" y="0"/>
                <a:ext cx="1899920" cy="1899920"/>
              </a:xfrm>
              <a:custGeom>
                <a:avLst/>
                <a:gdLst/>
                <a:ahLst/>
                <a:cxnLst/>
                <a:rect l="l" t="t" r="r" b="b"/>
                <a:pathLst>
                  <a:path w="1899920" h="1899920">
                    <a:moveTo>
                      <a:pt x="6350" y="1899920"/>
                    </a:moveTo>
                    <a:lnTo>
                      <a:pt x="0" y="1899920"/>
                    </a:lnTo>
                    <a:lnTo>
                      <a:pt x="0" y="0"/>
                    </a:lnTo>
                    <a:lnTo>
                      <a:pt x="1899920" y="0"/>
                    </a:lnTo>
                    <a:lnTo>
                      <a:pt x="1899920" y="1899920"/>
                    </a:lnTo>
                    <a:lnTo>
                      <a:pt x="6350" y="1899920"/>
                    </a:lnTo>
                    <a:close/>
                    <a:moveTo>
                      <a:pt x="12700" y="12700"/>
                    </a:moveTo>
                    <a:lnTo>
                      <a:pt x="12700" y="1887220"/>
                    </a:lnTo>
                    <a:lnTo>
                      <a:pt x="1887220" y="1887220"/>
                    </a:lnTo>
                    <a:lnTo>
                      <a:pt x="1887220" y="12700"/>
                    </a:lnTo>
                    <a:lnTo>
                      <a:pt x="12700" y="12700"/>
                    </a:lnTo>
                    <a:close/>
                  </a:path>
                </a:pathLst>
              </a:custGeom>
              <a:solidFill>
                <a:srgbClr val="FFFFFF"/>
              </a:solidFill>
            </p:spPr>
            <p:txBody>
              <a:bodyPr/>
              <a:lstStyle/>
              <a:p>
                <a:endParaRPr lang="en-US" sz="1463"/>
              </a:p>
            </p:txBody>
          </p:sp>
          <p:sp>
            <p:nvSpPr>
              <p:cNvPr id="142" name="Freeform 29">
                <a:extLst>
                  <a:ext uri="{FF2B5EF4-FFF2-40B4-BE49-F238E27FC236}">
                    <a16:creationId xmlns:a16="http://schemas.microsoft.com/office/drawing/2014/main" id="{EE6941DA-7C1F-AA46-6421-C6AE7BC937BE}"/>
                  </a:ext>
                </a:extLst>
              </p:cNvPr>
              <p:cNvSpPr/>
              <p:nvPr/>
            </p:nvSpPr>
            <p:spPr>
              <a:xfrm>
                <a:off x="139700" y="140971"/>
                <a:ext cx="1619251" cy="1619249"/>
              </a:xfrm>
              <a:custGeom>
                <a:avLst/>
                <a:gdLst/>
                <a:ahLst/>
                <a:cxnLst/>
                <a:rect l="l" t="t" r="r" b="b"/>
                <a:pathLst>
                  <a:path w="1619250" h="1619250">
                    <a:moveTo>
                      <a:pt x="0" y="0"/>
                    </a:moveTo>
                    <a:lnTo>
                      <a:pt x="1619250" y="0"/>
                    </a:lnTo>
                    <a:lnTo>
                      <a:pt x="1619250" y="1619250"/>
                    </a:lnTo>
                    <a:lnTo>
                      <a:pt x="0" y="1619250"/>
                    </a:lnTo>
                    <a:close/>
                  </a:path>
                </a:pathLst>
              </a:custGeom>
              <a:solidFill>
                <a:srgbClr val="DAF2D1"/>
              </a:solidFill>
            </p:spPr>
            <p:txBody>
              <a:bodyPr/>
              <a:lstStyle/>
              <a:p>
                <a:endParaRPr lang="en-US" sz="1463"/>
              </a:p>
            </p:txBody>
          </p:sp>
        </p:grpSp>
        <p:sp>
          <p:nvSpPr>
            <p:cNvPr id="143" name="TextBox 69">
              <a:extLst>
                <a:ext uri="{FF2B5EF4-FFF2-40B4-BE49-F238E27FC236}">
                  <a16:creationId xmlns:a16="http://schemas.microsoft.com/office/drawing/2014/main" id="{44B99185-B202-501D-72A5-EBEF216F3FCC}"/>
                </a:ext>
              </a:extLst>
            </p:cNvPr>
            <p:cNvSpPr txBox="1"/>
            <p:nvPr/>
          </p:nvSpPr>
          <p:spPr>
            <a:xfrm>
              <a:off x="1058367" y="3007629"/>
              <a:ext cx="1568112" cy="333425"/>
            </a:xfrm>
            <a:prstGeom prst="rect">
              <a:avLst/>
            </a:prstGeom>
          </p:spPr>
          <p:txBody>
            <a:bodyPr wrap="square" lIns="0" tIns="0" rIns="0" bIns="0" rtlCol="0" anchor="t">
              <a:spAutoFit/>
            </a:bodyPr>
            <a:lstStyle>
              <a:defPPr>
                <a:defRPr lang="en-US"/>
              </a:defPPr>
              <a:lvl1pPr algn="ctr">
                <a:lnSpc>
                  <a:spcPts val="1268"/>
                </a:lnSpc>
                <a:defRPr sz="1200" b="1">
                  <a:solidFill>
                    <a:srgbClr val="000000"/>
                  </a:solidFill>
                  <a:latin typeface="Times New Roman" panose="02020603050405020304" pitchFamily="18" charset="0"/>
                  <a:ea typeface="Times New Roman Bold"/>
                  <a:cs typeface="Times New Roman" panose="02020603050405020304" pitchFamily="18" charset="0"/>
                </a:defRPr>
              </a:lvl1pPr>
            </a:lstStyle>
            <a:p>
              <a:r>
                <a:rPr lang="en-US">
                  <a:sym typeface="Times New Roman Bold"/>
                </a:rPr>
                <a:t>Questionnaire Development</a:t>
              </a:r>
            </a:p>
          </p:txBody>
        </p:sp>
        <p:sp>
          <p:nvSpPr>
            <p:cNvPr id="153" name="TextBox 22">
              <a:extLst>
                <a:ext uri="{FF2B5EF4-FFF2-40B4-BE49-F238E27FC236}">
                  <a16:creationId xmlns:a16="http://schemas.microsoft.com/office/drawing/2014/main" id="{F69B36AD-2821-3785-0433-5B17741526F4}"/>
                </a:ext>
              </a:extLst>
            </p:cNvPr>
            <p:cNvSpPr txBox="1"/>
            <p:nvPr/>
          </p:nvSpPr>
          <p:spPr>
            <a:xfrm>
              <a:off x="6150666" y="2955328"/>
              <a:ext cx="2844997" cy="523017"/>
            </a:xfrm>
            <a:prstGeom prst="rect">
              <a:avLst/>
            </a:prstGeom>
          </p:spPr>
          <p:txBody>
            <a:bodyPr lIns="41275" tIns="41275" rIns="41275" bIns="41275" rtlCol="0" anchor="ctr"/>
            <a:lstStyle/>
            <a:p>
              <a:pPr algn="ctr">
                <a:lnSpc>
                  <a:spcPts val="1593"/>
                </a:lnSpc>
              </a:pPr>
              <a:endParaRPr sz="1463"/>
            </a:p>
          </p:txBody>
        </p:sp>
        <p:sp>
          <p:nvSpPr>
            <p:cNvPr id="149" name="TextBox 47">
              <a:extLst>
                <a:ext uri="{FF2B5EF4-FFF2-40B4-BE49-F238E27FC236}">
                  <a16:creationId xmlns:a16="http://schemas.microsoft.com/office/drawing/2014/main" id="{727C2E92-25B1-7B78-2F3B-88A116AE50D1}"/>
                </a:ext>
              </a:extLst>
            </p:cNvPr>
            <p:cNvSpPr txBox="1"/>
            <p:nvPr/>
          </p:nvSpPr>
          <p:spPr>
            <a:xfrm>
              <a:off x="2930292" y="2955328"/>
              <a:ext cx="2990630" cy="523017"/>
            </a:xfrm>
            <a:prstGeom prst="rect">
              <a:avLst/>
            </a:prstGeom>
          </p:spPr>
          <p:txBody>
            <a:bodyPr lIns="41275" tIns="41275" rIns="41275" bIns="41275" rtlCol="0" anchor="ctr"/>
            <a:lstStyle/>
            <a:p>
              <a:pPr algn="ctr">
                <a:lnSpc>
                  <a:spcPts val="1593"/>
                </a:lnSpc>
              </a:pPr>
              <a:endParaRPr sz="1463"/>
            </a:p>
          </p:txBody>
        </p:sp>
        <p:sp>
          <p:nvSpPr>
            <p:cNvPr id="84" name="Freeform 65">
              <a:extLst>
                <a:ext uri="{FF2B5EF4-FFF2-40B4-BE49-F238E27FC236}">
                  <a16:creationId xmlns:a16="http://schemas.microsoft.com/office/drawing/2014/main" id="{D1711E55-A0AD-D137-7D64-34A809796808}"/>
                </a:ext>
              </a:extLst>
            </p:cNvPr>
            <p:cNvSpPr/>
            <p:nvPr/>
          </p:nvSpPr>
          <p:spPr>
            <a:xfrm>
              <a:off x="769616" y="3067336"/>
              <a:ext cx="253555" cy="344388"/>
            </a:xfrm>
            <a:custGeom>
              <a:avLst/>
              <a:gdLst/>
              <a:ahLst/>
              <a:cxnLst/>
              <a:rect l="l" t="t" r="r" b="b"/>
              <a:pathLst>
                <a:path w="312068" h="423862">
                  <a:moveTo>
                    <a:pt x="0" y="0"/>
                  </a:moveTo>
                  <a:lnTo>
                    <a:pt x="312068" y="0"/>
                  </a:lnTo>
                  <a:lnTo>
                    <a:pt x="312068" y="423861"/>
                  </a:lnTo>
                  <a:lnTo>
                    <a:pt x="0" y="42386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sz="1463"/>
            </a:p>
          </p:txBody>
        </p:sp>
      </p:grpSp>
      <p:grpSp>
        <p:nvGrpSpPr>
          <p:cNvPr id="12" name="Group 11">
            <a:extLst>
              <a:ext uri="{FF2B5EF4-FFF2-40B4-BE49-F238E27FC236}">
                <a16:creationId xmlns:a16="http://schemas.microsoft.com/office/drawing/2014/main" id="{5B292224-2EC6-D324-F2CF-3621B0175883}"/>
              </a:ext>
            </a:extLst>
          </p:cNvPr>
          <p:cNvGrpSpPr/>
          <p:nvPr/>
        </p:nvGrpSpPr>
        <p:grpSpPr>
          <a:xfrm>
            <a:off x="591550" y="3908616"/>
            <a:ext cx="8680725" cy="831539"/>
            <a:chOff x="591551" y="3908902"/>
            <a:chExt cx="8680725" cy="831539"/>
          </a:xfrm>
        </p:grpSpPr>
        <p:sp>
          <p:nvSpPr>
            <p:cNvPr id="167" name="Freeform 24">
              <a:extLst>
                <a:ext uri="{FF2B5EF4-FFF2-40B4-BE49-F238E27FC236}">
                  <a16:creationId xmlns:a16="http://schemas.microsoft.com/office/drawing/2014/main" id="{4B57EB34-09C5-7E33-D49F-6A4DFE387BD5}"/>
                </a:ext>
              </a:extLst>
            </p:cNvPr>
            <p:cNvSpPr/>
            <p:nvPr/>
          </p:nvSpPr>
          <p:spPr>
            <a:xfrm>
              <a:off x="2712585" y="4004109"/>
              <a:ext cx="6559690" cy="736332"/>
            </a:xfrm>
            <a:custGeom>
              <a:avLst/>
              <a:gdLst/>
              <a:ahLst/>
              <a:cxnLst/>
              <a:rect l="l" t="t" r="r" b="b"/>
              <a:pathLst>
                <a:path w="2503158" h="443344">
                  <a:moveTo>
                    <a:pt x="0" y="0"/>
                  </a:moveTo>
                  <a:lnTo>
                    <a:pt x="2503158" y="0"/>
                  </a:lnTo>
                  <a:lnTo>
                    <a:pt x="2503158" y="443344"/>
                  </a:lnTo>
                  <a:lnTo>
                    <a:pt x="0" y="443344"/>
                  </a:lnTo>
                  <a:close/>
                </a:path>
              </a:pathLst>
            </a:custGeom>
            <a:solidFill>
              <a:schemeClr val="tx2">
                <a:lumMod val="10000"/>
                <a:lumOff val="90000"/>
                <a:alpha val="41000"/>
              </a:schemeClr>
            </a:solidFill>
          </p:spPr>
          <p:txBody>
            <a:bodyPr/>
            <a:lstStyle/>
            <a:p>
              <a:endParaRPr lang="en-US" sz="1463"/>
            </a:p>
          </p:txBody>
        </p:sp>
        <p:sp>
          <p:nvSpPr>
            <p:cNvPr id="60" name="TextBox 41">
              <a:extLst>
                <a:ext uri="{FF2B5EF4-FFF2-40B4-BE49-F238E27FC236}">
                  <a16:creationId xmlns:a16="http://schemas.microsoft.com/office/drawing/2014/main" id="{BA52E65D-AC43-3786-E935-85518AF0D654}"/>
                </a:ext>
              </a:extLst>
            </p:cNvPr>
            <p:cNvSpPr txBox="1"/>
            <p:nvPr/>
          </p:nvSpPr>
          <p:spPr>
            <a:xfrm>
              <a:off x="2891242" y="4016085"/>
              <a:ext cx="1907449" cy="585243"/>
            </a:xfrm>
            <a:prstGeom prst="rect">
              <a:avLst/>
            </a:prstGeom>
          </p:spPr>
          <p:txBody>
            <a:bodyPr lIns="41275" tIns="41275" rIns="41275" bIns="41275" rtlCol="0" anchor="ctr"/>
            <a:lstStyle/>
            <a:p>
              <a:pPr algn="ctr">
                <a:lnSpc>
                  <a:spcPts val="1593"/>
                </a:lnSpc>
              </a:pPr>
              <a:endParaRPr sz="900">
                <a:latin typeface="Times New Roman" panose="02020603050405020304" pitchFamily="18" charset="0"/>
                <a:cs typeface="Times New Roman" panose="02020603050405020304" pitchFamily="18" charset="0"/>
              </a:endParaRPr>
            </a:p>
          </p:txBody>
        </p:sp>
        <p:sp>
          <p:nvSpPr>
            <p:cNvPr id="121" name="TextBox 91">
              <a:extLst>
                <a:ext uri="{FF2B5EF4-FFF2-40B4-BE49-F238E27FC236}">
                  <a16:creationId xmlns:a16="http://schemas.microsoft.com/office/drawing/2014/main" id="{2E2A359F-A763-05AE-DDF3-71A901A66C23}"/>
                </a:ext>
              </a:extLst>
            </p:cNvPr>
            <p:cNvSpPr txBox="1"/>
            <p:nvPr/>
          </p:nvSpPr>
          <p:spPr>
            <a:xfrm>
              <a:off x="5074066" y="4016085"/>
              <a:ext cx="1907449" cy="585243"/>
            </a:xfrm>
            <a:prstGeom prst="rect">
              <a:avLst/>
            </a:prstGeom>
          </p:spPr>
          <p:txBody>
            <a:bodyPr lIns="41275" tIns="41275" rIns="41275" bIns="41275" rtlCol="0" anchor="ctr"/>
            <a:lstStyle/>
            <a:p>
              <a:pPr algn="ctr">
                <a:lnSpc>
                  <a:spcPts val="1593"/>
                </a:lnSpc>
              </a:pPr>
              <a:endParaRPr sz="900">
                <a:latin typeface="Times New Roman" panose="02020603050405020304" pitchFamily="18" charset="0"/>
                <a:cs typeface="Times New Roman" panose="02020603050405020304" pitchFamily="18" charset="0"/>
              </a:endParaRPr>
            </a:p>
          </p:txBody>
        </p:sp>
        <p:sp>
          <p:nvSpPr>
            <p:cNvPr id="59" name="Freeform 40">
              <a:extLst>
                <a:ext uri="{FF2B5EF4-FFF2-40B4-BE49-F238E27FC236}">
                  <a16:creationId xmlns:a16="http://schemas.microsoft.com/office/drawing/2014/main" id="{00835B2A-83BB-AB5A-7F7A-CC58876CA8AF}"/>
                </a:ext>
              </a:extLst>
            </p:cNvPr>
            <p:cNvSpPr/>
            <p:nvPr/>
          </p:nvSpPr>
          <p:spPr>
            <a:xfrm>
              <a:off x="2798211" y="4086075"/>
              <a:ext cx="2071448" cy="572400"/>
            </a:xfrm>
            <a:custGeom>
              <a:avLst/>
              <a:gdLst/>
              <a:ahLst/>
              <a:cxnLst/>
              <a:rect l="l" t="t" r="r" b="b"/>
              <a:pathLst>
                <a:path w="743681" h="297843">
                  <a:moveTo>
                    <a:pt x="0" y="0"/>
                  </a:moveTo>
                  <a:lnTo>
                    <a:pt x="743681" y="0"/>
                  </a:lnTo>
                  <a:lnTo>
                    <a:pt x="743681" y="297843"/>
                  </a:lnTo>
                  <a:lnTo>
                    <a:pt x="0" y="297843"/>
                  </a:lnTo>
                  <a:close/>
                </a:path>
              </a:pathLst>
            </a:custGeom>
            <a:solidFill>
              <a:srgbClr val="E0F2FD"/>
            </a:solidFill>
          </p:spPr>
          <p:txBody>
            <a:bodyPr/>
            <a:lstStyle/>
            <a:p>
              <a:r>
                <a:rPr lang="en-US" sz="1100" spc="37" dirty="0">
                  <a:solidFill>
                    <a:srgbClr val="000000"/>
                  </a:solidFill>
                  <a:latin typeface="Times New Roman" panose="02020603050405020304" pitchFamily="18" charset="0"/>
                  <a:ea typeface="Times New Roman"/>
                  <a:cs typeface="Times New Roman" panose="02020603050405020304" pitchFamily="18" charset="0"/>
                  <a:sym typeface="Times New Roman"/>
                </a:rPr>
                <a:t>Option to remain </a:t>
              </a:r>
              <a:r>
                <a:rPr lang="en-US" sz="1100" b="1" spc="37"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anonymous</a:t>
              </a:r>
              <a:r>
                <a:rPr lang="en-US" sz="1100" spc="37" dirty="0">
                  <a:solidFill>
                    <a:srgbClr val="000000"/>
                  </a:solidFill>
                  <a:latin typeface="Times New Roman" panose="02020603050405020304" pitchFamily="18" charset="0"/>
                  <a:ea typeface="Times New Roman"/>
                  <a:cs typeface="Times New Roman" panose="02020603050405020304" pitchFamily="18" charset="0"/>
                  <a:sym typeface="Times New Roman"/>
                </a:rPr>
                <a:t>: name not to be mentioned across report and appendix</a:t>
              </a:r>
            </a:p>
            <a:p>
              <a:endParaRPr lang="en-US" sz="1100" dirty="0">
                <a:latin typeface="Times New Roman" panose="02020603050405020304" pitchFamily="18" charset="0"/>
                <a:cs typeface="Times New Roman" panose="02020603050405020304" pitchFamily="18" charset="0"/>
              </a:endParaRPr>
            </a:p>
          </p:txBody>
        </p:sp>
        <p:sp>
          <p:nvSpPr>
            <p:cNvPr id="120" name="Freeform 90">
              <a:extLst>
                <a:ext uri="{FF2B5EF4-FFF2-40B4-BE49-F238E27FC236}">
                  <a16:creationId xmlns:a16="http://schemas.microsoft.com/office/drawing/2014/main" id="{EE8053F8-1907-EF1E-9FF2-FF47376955CE}"/>
                </a:ext>
              </a:extLst>
            </p:cNvPr>
            <p:cNvSpPr/>
            <p:nvPr/>
          </p:nvSpPr>
          <p:spPr>
            <a:xfrm>
              <a:off x="4956708" y="4086075"/>
              <a:ext cx="2071448" cy="572400"/>
            </a:xfrm>
            <a:custGeom>
              <a:avLst/>
              <a:gdLst/>
              <a:ahLst/>
              <a:cxnLst/>
              <a:rect l="l" t="t" r="r" b="b"/>
              <a:pathLst>
                <a:path w="743681" h="297843">
                  <a:moveTo>
                    <a:pt x="0" y="0"/>
                  </a:moveTo>
                  <a:lnTo>
                    <a:pt x="743681" y="0"/>
                  </a:lnTo>
                  <a:lnTo>
                    <a:pt x="743681" y="297843"/>
                  </a:lnTo>
                  <a:lnTo>
                    <a:pt x="0" y="297843"/>
                  </a:lnTo>
                  <a:close/>
                </a:path>
              </a:pathLst>
            </a:custGeom>
            <a:solidFill>
              <a:srgbClr val="E0F2FD"/>
            </a:solidFill>
          </p:spPr>
          <p:txBody>
            <a:bodyPr/>
            <a:lstStyle/>
            <a:p>
              <a:r>
                <a:rPr lang="en-US" sz="1100" spc="39">
                  <a:solidFill>
                    <a:srgbClr val="000000"/>
                  </a:solidFill>
                  <a:latin typeface="Times New Roman" panose="02020603050405020304" pitchFamily="18" charset="0"/>
                  <a:ea typeface="Times New Roman"/>
                  <a:cs typeface="Times New Roman" panose="02020603050405020304" pitchFamily="18" charset="0"/>
                  <a:sym typeface="Times New Roman"/>
                </a:rPr>
                <a:t>Interviewers </a:t>
              </a:r>
              <a:r>
                <a:rPr lang="en-US" sz="1100" b="1" spc="39">
                  <a:solidFill>
                    <a:srgbClr val="000000"/>
                  </a:solidFill>
                  <a:latin typeface="Times New Roman" panose="02020603050405020304" pitchFamily="18" charset="0"/>
                  <a:ea typeface="Times New Roman Bold"/>
                  <a:cs typeface="Times New Roman" panose="02020603050405020304" pitchFamily="18" charset="0"/>
                  <a:sym typeface="Times New Roman Bold"/>
                </a:rPr>
                <a:t>must </a:t>
              </a:r>
              <a:r>
                <a:rPr lang="en-US" sz="1100" spc="39">
                  <a:solidFill>
                    <a:srgbClr val="000000"/>
                  </a:solidFill>
                  <a:latin typeface="Times New Roman" panose="02020603050405020304" pitchFamily="18" charset="0"/>
                  <a:ea typeface="Times New Roman"/>
                  <a:cs typeface="Times New Roman" panose="02020603050405020304" pitchFamily="18" charset="0"/>
                  <a:sym typeface="Times New Roman"/>
                </a:rPr>
                <a:t>ask for consent before recording</a:t>
              </a:r>
            </a:p>
          </p:txBody>
        </p:sp>
        <p:sp>
          <p:nvSpPr>
            <p:cNvPr id="124" name="Freeform 94">
              <a:extLst>
                <a:ext uri="{FF2B5EF4-FFF2-40B4-BE49-F238E27FC236}">
                  <a16:creationId xmlns:a16="http://schemas.microsoft.com/office/drawing/2014/main" id="{45979F86-9C66-B4B1-671C-57AC855FA401}"/>
                </a:ext>
              </a:extLst>
            </p:cNvPr>
            <p:cNvSpPr/>
            <p:nvPr/>
          </p:nvSpPr>
          <p:spPr>
            <a:xfrm>
              <a:off x="7115206" y="4086075"/>
              <a:ext cx="2071448" cy="572400"/>
            </a:xfrm>
            <a:custGeom>
              <a:avLst/>
              <a:gdLst/>
              <a:ahLst/>
              <a:cxnLst/>
              <a:rect l="l" t="t" r="r" b="b"/>
              <a:pathLst>
                <a:path w="743681" h="297843">
                  <a:moveTo>
                    <a:pt x="0" y="0"/>
                  </a:moveTo>
                  <a:lnTo>
                    <a:pt x="743681" y="0"/>
                  </a:lnTo>
                  <a:lnTo>
                    <a:pt x="743681" y="297843"/>
                  </a:lnTo>
                  <a:lnTo>
                    <a:pt x="0" y="297843"/>
                  </a:lnTo>
                  <a:close/>
                </a:path>
              </a:pathLst>
            </a:custGeom>
            <a:solidFill>
              <a:srgbClr val="E0F2FD"/>
            </a:solidFill>
          </p:spPr>
          <p:txBody>
            <a:bodyPr/>
            <a:lstStyle/>
            <a:p>
              <a:r>
                <a:rPr lang="en-US" sz="1100" spc="39">
                  <a:solidFill>
                    <a:srgbClr val="000000"/>
                  </a:solidFill>
                  <a:latin typeface="Times New Roman" panose="02020603050405020304" pitchFamily="18" charset="0"/>
                  <a:ea typeface="Times New Roman"/>
                  <a:cs typeface="Times New Roman" panose="02020603050405020304" pitchFamily="18" charset="0"/>
                  <a:sym typeface="Times New Roman"/>
                </a:rPr>
                <a:t>Option to remain </a:t>
              </a:r>
              <a:r>
                <a:rPr lang="en-US" sz="1100" b="1" spc="39">
                  <a:solidFill>
                    <a:srgbClr val="000000"/>
                  </a:solidFill>
                  <a:latin typeface="Times New Roman" panose="02020603050405020304" pitchFamily="18" charset="0"/>
                  <a:ea typeface="Times New Roman Bold"/>
                  <a:cs typeface="Times New Roman" panose="02020603050405020304" pitchFamily="18" charset="0"/>
                  <a:sym typeface="Times New Roman Bold"/>
                </a:rPr>
                <a:t>off-the-record</a:t>
              </a:r>
              <a:r>
                <a:rPr lang="en-US" sz="1100" spc="39">
                  <a:solidFill>
                    <a:srgbClr val="000000"/>
                  </a:solidFill>
                  <a:latin typeface="Times New Roman" panose="02020603050405020304" pitchFamily="18" charset="0"/>
                  <a:ea typeface="Times New Roman"/>
                  <a:cs typeface="Times New Roman" panose="02020603050405020304" pitchFamily="18" charset="0"/>
                  <a:sym typeface="Times New Roman"/>
                </a:rPr>
                <a:t>: no recording</a:t>
              </a:r>
            </a:p>
          </p:txBody>
        </p:sp>
        <p:sp>
          <p:nvSpPr>
            <p:cNvPr id="125" name="TextBox 95">
              <a:extLst>
                <a:ext uri="{FF2B5EF4-FFF2-40B4-BE49-F238E27FC236}">
                  <a16:creationId xmlns:a16="http://schemas.microsoft.com/office/drawing/2014/main" id="{70130534-F92C-487E-1A11-45F47992F172}"/>
                </a:ext>
              </a:extLst>
            </p:cNvPr>
            <p:cNvSpPr txBox="1"/>
            <p:nvPr/>
          </p:nvSpPr>
          <p:spPr>
            <a:xfrm>
              <a:off x="7294559" y="4016085"/>
              <a:ext cx="1907449" cy="585243"/>
            </a:xfrm>
            <a:prstGeom prst="rect">
              <a:avLst/>
            </a:prstGeom>
          </p:spPr>
          <p:txBody>
            <a:bodyPr lIns="41275" tIns="41275" rIns="41275" bIns="41275" rtlCol="0" anchor="ctr"/>
            <a:lstStyle/>
            <a:p>
              <a:pPr algn="ctr">
                <a:lnSpc>
                  <a:spcPts val="1593"/>
                </a:lnSpc>
              </a:pPr>
              <a:endParaRPr sz="900">
                <a:latin typeface="Times New Roman" panose="02020603050405020304" pitchFamily="18" charset="0"/>
                <a:cs typeface="Times New Roman" panose="02020603050405020304" pitchFamily="18" charset="0"/>
              </a:endParaRPr>
            </a:p>
          </p:txBody>
        </p:sp>
        <p:grpSp>
          <p:nvGrpSpPr>
            <p:cNvPr id="157" name="Group 17">
              <a:extLst>
                <a:ext uri="{FF2B5EF4-FFF2-40B4-BE49-F238E27FC236}">
                  <a16:creationId xmlns:a16="http://schemas.microsoft.com/office/drawing/2014/main" id="{FB25F291-A9E0-1C1C-3B22-B165E16FF081}"/>
                </a:ext>
              </a:extLst>
            </p:cNvPr>
            <p:cNvGrpSpPr/>
            <p:nvPr/>
          </p:nvGrpSpPr>
          <p:grpSpPr>
            <a:xfrm>
              <a:off x="1046044" y="3972181"/>
              <a:ext cx="1586385" cy="736332"/>
              <a:chOff x="0" y="0"/>
              <a:chExt cx="726139" cy="443344"/>
            </a:xfrm>
            <a:solidFill>
              <a:srgbClr val="E0F2FE"/>
            </a:solidFill>
          </p:grpSpPr>
          <p:sp>
            <p:nvSpPr>
              <p:cNvPr id="158" name="Freeform 18">
                <a:extLst>
                  <a:ext uri="{FF2B5EF4-FFF2-40B4-BE49-F238E27FC236}">
                    <a16:creationId xmlns:a16="http://schemas.microsoft.com/office/drawing/2014/main" id="{B770811F-2362-6071-28B0-E88EFCEB1DEA}"/>
                  </a:ext>
                </a:extLst>
              </p:cNvPr>
              <p:cNvSpPr/>
              <p:nvPr/>
            </p:nvSpPr>
            <p:spPr>
              <a:xfrm>
                <a:off x="0" y="0"/>
                <a:ext cx="726139" cy="443344"/>
              </a:xfrm>
              <a:custGeom>
                <a:avLst/>
                <a:gdLst/>
                <a:ahLst/>
                <a:cxnLst/>
                <a:rect l="l" t="t" r="r" b="b"/>
                <a:pathLst>
                  <a:path w="726139" h="443344">
                    <a:moveTo>
                      <a:pt x="0" y="0"/>
                    </a:moveTo>
                    <a:lnTo>
                      <a:pt x="726139" y="0"/>
                    </a:lnTo>
                    <a:lnTo>
                      <a:pt x="726139" y="443344"/>
                    </a:lnTo>
                    <a:lnTo>
                      <a:pt x="0" y="443344"/>
                    </a:lnTo>
                    <a:close/>
                  </a:path>
                </a:pathLst>
              </a:custGeom>
              <a:grpFill/>
            </p:spPr>
            <p:txBody>
              <a:bodyPr/>
              <a:lstStyle/>
              <a:p>
                <a:endParaRPr lang="en-US" sz="1463"/>
              </a:p>
            </p:txBody>
          </p:sp>
          <p:sp>
            <p:nvSpPr>
              <p:cNvPr id="159" name="TextBox 19">
                <a:extLst>
                  <a:ext uri="{FF2B5EF4-FFF2-40B4-BE49-F238E27FC236}">
                    <a16:creationId xmlns:a16="http://schemas.microsoft.com/office/drawing/2014/main" id="{EFA23070-DEB0-B5BE-2FE3-CD48CCBC9C60}"/>
                  </a:ext>
                </a:extLst>
              </p:cNvPr>
              <p:cNvSpPr txBox="1"/>
              <p:nvPr/>
            </p:nvSpPr>
            <p:spPr>
              <a:xfrm>
                <a:off x="0" y="-38100"/>
                <a:ext cx="726139" cy="481444"/>
              </a:xfrm>
              <a:prstGeom prst="rect">
                <a:avLst/>
              </a:prstGeom>
              <a:grpFill/>
            </p:spPr>
            <p:txBody>
              <a:bodyPr lIns="41275" tIns="41275" rIns="41275" bIns="41275" rtlCol="0" anchor="ctr"/>
              <a:lstStyle/>
              <a:p>
                <a:pPr algn="ctr">
                  <a:lnSpc>
                    <a:spcPts val="1593"/>
                  </a:lnSpc>
                </a:pPr>
                <a:endParaRPr sz="1463"/>
              </a:p>
            </p:txBody>
          </p:sp>
        </p:grpSp>
        <p:grpSp>
          <p:nvGrpSpPr>
            <p:cNvPr id="160" name="Group 26">
              <a:extLst>
                <a:ext uri="{FF2B5EF4-FFF2-40B4-BE49-F238E27FC236}">
                  <a16:creationId xmlns:a16="http://schemas.microsoft.com/office/drawing/2014/main" id="{E69ADFC7-CCAF-E9F3-CCD2-2B3C9884FA7F}"/>
                </a:ext>
              </a:extLst>
            </p:cNvPr>
            <p:cNvGrpSpPr/>
            <p:nvPr/>
          </p:nvGrpSpPr>
          <p:grpSpPr>
            <a:xfrm>
              <a:off x="591551" y="4093010"/>
              <a:ext cx="659014" cy="494674"/>
              <a:chOff x="0" y="0"/>
              <a:chExt cx="1899920" cy="1899920"/>
            </a:xfrm>
          </p:grpSpPr>
          <p:sp>
            <p:nvSpPr>
              <p:cNvPr id="161" name="Freeform 27">
                <a:extLst>
                  <a:ext uri="{FF2B5EF4-FFF2-40B4-BE49-F238E27FC236}">
                    <a16:creationId xmlns:a16="http://schemas.microsoft.com/office/drawing/2014/main" id="{3F2E695E-169F-7FD0-521F-5FBD3BC97502}"/>
                  </a:ext>
                </a:extLst>
              </p:cNvPr>
              <p:cNvSpPr/>
              <p:nvPr/>
            </p:nvSpPr>
            <p:spPr>
              <a:xfrm>
                <a:off x="6350" y="6350"/>
                <a:ext cx="1887220" cy="1887220"/>
              </a:xfrm>
              <a:custGeom>
                <a:avLst/>
                <a:gdLst/>
                <a:ahLst/>
                <a:cxnLst/>
                <a:rect l="l" t="t" r="r" b="b"/>
                <a:pathLst>
                  <a:path w="1887220" h="1887220">
                    <a:moveTo>
                      <a:pt x="0" y="0"/>
                    </a:moveTo>
                    <a:lnTo>
                      <a:pt x="1887220" y="0"/>
                    </a:lnTo>
                    <a:lnTo>
                      <a:pt x="1887220" y="1887220"/>
                    </a:lnTo>
                    <a:lnTo>
                      <a:pt x="0" y="1887220"/>
                    </a:lnTo>
                    <a:close/>
                  </a:path>
                </a:pathLst>
              </a:custGeom>
              <a:solidFill>
                <a:srgbClr val="FFFFFF"/>
              </a:solidFill>
            </p:spPr>
            <p:txBody>
              <a:bodyPr/>
              <a:lstStyle/>
              <a:p>
                <a:endParaRPr lang="en-US" sz="1463"/>
              </a:p>
            </p:txBody>
          </p:sp>
          <p:sp>
            <p:nvSpPr>
              <p:cNvPr id="162" name="Freeform 28">
                <a:extLst>
                  <a:ext uri="{FF2B5EF4-FFF2-40B4-BE49-F238E27FC236}">
                    <a16:creationId xmlns:a16="http://schemas.microsoft.com/office/drawing/2014/main" id="{48BD05DC-4C41-A8F4-7A9B-E19C84EA37FF}"/>
                  </a:ext>
                </a:extLst>
              </p:cNvPr>
              <p:cNvSpPr/>
              <p:nvPr/>
            </p:nvSpPr>
            <p:spPr>
              <a:xfrm>
                <a:off x="0" y="0"/>
                <a:ext cx="1899920" cy="1899920"/>
              </a:xfrm>
              <a:custGeom>
                <a:avLst/>
                <a:gdLst/>
                <a:ahLst/>
                <a:cxnLst/>
                <a:rect l="l" t="t" r="r" b="b"/>
                <a:pathLst>
                  <a:path w="1899920" h="1899920">
                    <a:moveTo>
                      <a:pt x="6350" y="1899920"/>
                    </a:moveTo>
                    <a:lnTo>
                      <a:pt x="0" y="1899920"/>
                    </a:lnTo>
                    <a:lnTo>
                      <a:pt x="0" y="0"/>
                    </a:lnTo>
                    <a:lnTo>
                      <a:pt x="1899920" y="0"/>
                    </a:lnTo>
                    <a:lnTo>
                      <a:pt x="1899920" y="1899920"/>
                    </a:lnTo>
                    <a:lnTo>
                      <a:pt x="6350" y="1899920"/>
                    </a:lnTo>
                    <a:close/>
                    <a:moveTo>
                      <a:pt x="12700" y="12700"/>
                    </a:moveTo>
                    <a:lnTo>
                      <a:pt x="12700" y="1887220"/>
                    </a:lnTo>
                    <a:lnTo>
                      <a:pt x="1887220" y="1887220"/>
                    </a:lnTo>
                    <a:lnTo>
                      <a:pt x="1887220" y="12700"/>
                    </a:lnTo>
                    <a:lnTo>
                      <a:pt x="12700" y="12700"/>
                    </a:lnTo>
                    <a:close/>
                  </a:path>
                </a:pathLst>
              </a:custGeom>
              <a:solidFill>
                <a:srgbClr val="FFFFFF"/>
              </a:solidFill>
            </p:spPr>
            <p:txBody>
              <a:bodyPr/>
              <a:lstStyle/>
              <a:p>
                <a:endParaRPr lang="en-US" sz="1463"/>
              </a:p>
            </p:txBody>
          </p:sp>
          <p:sp>
            <p:nvSpPr>
              <p:cNvPr id="163" name="Freeform 29">
                <a:extLst>
                  <a:ext uri="{FF2B5EF4-FFF2-40B4-BE49-F238E27FC236}">
                    <a16:creationId xmlns:a16="http://schemas.microsoft.com/office/drawing/2014/main" id="{238DF8BF-1513-A709-9E46-714930D40073}"/>
                  </a:ext>
                </a:extLst>
              </p:cNvPr>
              <p:cNvSpPr/>
              <p:nvPr/>
            </p:nvSpPr>
            <p:spPr>
              <a:xfrm>
                <a:off x="139700" y="140971"/>
                <a:ext cx="1619251" cy="1619249"/>
              </a:xfrm>
              <a:custGeom>
                <a:avLst/>
                <a:gdLst/>
                <a:ahLst/>
                <a:cxnLst/>
                <a:rect l="l" t="t" r="r" b="b"/>
                <a:pathLst>
                  <a:path w="1619250" h="1619250">
                    <a:moveTo>
                      <a:pt x="0" y="0"/>
                    </a:moveTo>
                    <a:lnTo>
                      <a:pt x="1619250" y="0"/>
                    </a:lnTo>
                    <a:lnTo>
                      <a:pt x="1619250" y="1619250"/>
                    </a:lnTo>
                    <a:lnTo>
                      <a:pt x="0" y="1619250"/>
                    </a:lnTo>
                    <a:close/>
                  </a:path>
                </a:pathLst>
              </a:custGeom>
              <a:solidFill>
                <a:srgbClr val="E0F2FE"/>
              </a:solidFill>
            </p:spPr>
            <p:txBody>
              <a:bodyPr/>
              <a:lstStyle/>
              <a:p>
                <a:endParaRPr lang="en-US" sz="1463"/>
              </a:p>
            </p:txBody>
          </p:sp>
        </p:grpSp>
        <p:sp>
          <p:nvSpPr>
            <p:cNvPr id="164" name="TextBox 69">
              <a:extLst>
                <a:ext uri="{FF2B5EF4-FFF2-40B4-BE49-F238E27FC236}">
                  <a16:creationId xmlns:a16="http://schemas.microsoft.com/office/drawing/2014/main" id="{1A639315-85F7-50A1-0894-21438287A675}"/>
                </a:ext>
              </a:extLst>
            </p:cNvPr>
            <p:cNvSpPr txBox="1"/>
            <p:nvPr/>
          </p:nvSpPr>
          <p:spPr>
            <a:xfrm>
              <a:off x="1105831" y="4125431"/>
              <a:ext cx="1473184" cy="333425"/>
            </a:xfrm>
            <a:prstGeom prst="rect">
              <a:avLst/>
            </a:prstGeom>
          </p:spPr>
          <p:txBody>
            <a:bodyPr wrap="square" lIns="0" tIns="0" rIns="0" bIns="0" rtlCol="0" anchor="t">
              <a:spAutoFit/>
            </a:bodyPr>
            <a:lstStyle>
              <a:defPPr>
                <a:defRPr lang="en-US"/>
              </a:defPPr>
              <a:lvl1pPr algn="ctr">
                <a:lnSpc>
                  <a:spcPts val="1268"/>
                </a:lnSpc>
                <a:defRPr sz="1200" b="1">
                  <a:solidFill>
                    <a:srgbClr val="000000"/>
                  </a:solidFill>
                  <a:latin typeface="Times New Roman" panose="02020603050405020304" pitchFamily="18" charset="0"/>
                  <a:ea typeface="Times New Roman Bold"/>
                  <a:cs typeface="Times New Roman" panose="02020603050405020304" pitchFamily="18" charset="0"/>
                </a:defRPr>
              </a:lvl1pPr>
            </a:lstStyle>
            <a:p>
              <a:r>
                <a:rPr lang="en-US">
                  <a:sym typeface="Times New Roman Bold"/>
                </a:rPr>
                <a:t>Confidentiality and Attribution</a:t>
              </a:r>
            </a:p>
          </p:txBody>
        </p:sp>
        <p:sp>
          <p:nvSpPr>
            <p:cNvPr id="168" name="TextBox 25">
              <a:extLst>
                <a:ext uri="{FF2B5EF4-FFF2-40B4-BE49-F238E27FC236}">
                  <a16:creationId xmlns:a16="http://schemas.microsoft.com/office/drawing/2014/main" id="{B77F3A11-0A68-AE71-3EF0-9D5D4A6BBD2C}"/>
                </a:ext>
              </a:extLst>
            </p:cNvPr>
            <p:cNvSpPr txBox="1"/>
            <p:nvPr/>
          </p:nvSpPr>
          <p:spPr>
            <a:xfrm>
              <a:off x="2712586" y="3908902"/>
              <a:ext cx="6559690" cy="799611"/>
            </a:xfrm>
            <a:prstGeom prst="rect">
              <a:avLst/>
            </a:prstGeom>
          </p:spPr>
          <p:txBody>
            <a:bodyPr lIns="41275" tIns="41275" rIns="41275" bIns="41275" rtlCol="0" anchor="ctr"/>
            <a:lstStyle/>
            <a:p>
              <a:pPr algn="ctr">
                <a:lnSpc>
                  <a:spcPts val="1593"/>
                </a:lnSpc>
              </a:pPr>
              <a:endParaRPr sz="1463"/>
            </a:p>
          </p:txBody>
        </p:sp>
        <p:sp>
          <p:nvSpPr>
            <p:cNvPr id="210" name="TextBox 78">
              <a:extLst>
                <a:ext uri="{FF2B5EF4-FFF2-40B4-BE49-F238E27FC236}">
                  <a16:creationId xmlns:a16="http://schemas.microsoft.com/office/drawing/2014/main" id="{709F5D1D-DB4C-E5F8-049E-B3875D0EA0D5}"/>
                </a:ext>
              </a:extLst>
            </p:cNvPr>
            <p:cNvSpPr txBox="1"/>
            <p:nvPr/>
          </p:nvSpPr>
          <p:spPr>
            <a:xfrm>
              <a:off x="875714" y="4462038"/>
              <a:ext cx="1964647" cy="128240"/>
            </a:xfrm>
            <a:prstGeom prst="rect">
              <a:avLst/>
            </a:prstGeom>
          </p:spPr>
          <p:txBody>
            <a:bodyPr lIns="0" tIns="0" rIns="0" bIns="0" rtlCol="0" anchor="t">
              <a:spAutoFit/>
            </a:bodyPr>
            <a:lstStyle/>
            <a:p>
              <a:pPr algn="ctr">
                <a:lnSpc>
                  <a:spcPts val="974"/>
                </a:lnSpc>
              </a:pPr>
              <a:r>
                <a:rPr lang="en-US" sz="1000" i="1" spc="40" dirty="0">
                  <a:solidFill>
                    <a:srgbClr val="000000"/>
                  </a:solidFill>
                  <a:latin typeface="Times New Roman"/>
                  <a:ea typeface="Times New Roman"/>
                  <a:cs typeface="Times New Roman"/>
                  <a:sym typeface="Times New Roman"/>
                </a:rPr>
                <a:t>For all interviews</a:t>
              </a:r>
            </a:p>
          </p:txBody>
        </p:sp>
        <p:sp>
          <p:nvSpPr>
            <p:cNvPr id="85" name="Freeform 66">
              <a:extLst>
                <a:ext uri="{FF2B5EF4-FFF2-40B4-BE49-F238E27FC236}">
                  <a16:creationId xmlns:a16="http://schemas.microsoft.com/office/drawing/2014/main" id="{B0923F2A-AFE5-C3A2-FE0C-6EBD55E78CB4}"/>
                </a:ext>
              </a:extLst>
            </p:cNvPr>
            <p:cNvSpPr/>
            <p:nvPr/>
          </p:nvSpPr>
          <p:spPr>
            <a:xfrm>
              <a:off x="735146" y="4176071"/>
              <a:ext cx="322494" cy="322494"/>
            </a:xfrm>
            <a:custGeom>
              <a:avLst/>
              <a:gdLst/>
              <a:ahLst/>
              <a:cxnLst/>
              <a:rect l="l" t="t" r="r" b="b"/>
              <a:pathLst>
                <a:path w="396916" h="396916">
                  <a:moveTo>
                    <a:pt x="0" y="0"/>
                  </a:moveTo>
                  <a:lnTo>
                    <a:pt x="396917" y="0"/>
                  </a:lnTo>
                  <a:lnTo>
                    <a:pt x="396917" y="396916"/>
                  </a:lnTo>
                  <a:lnTo>
                    <a:pt x="0" y="3969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sz="1463"/>
            </a:p>
          </p:txBody>
        </p:sp>
      </p:grpSp>
      <p:grpSp>
        <p:nvGrpSpPr>
          <p:cNvPr id="11" name="Group 10">
            <a:extLst>
              <a:ext uri="{FF2B5EF4-FFF2-40B4-BE49-F238E27FC236}">
                <a16:creationId xmlns:a16="http://schemas.microsoft.com/office/drawing/2014/main" id="{1F84D62B-FEC5-1526-3C81-461D9DCF6646}"/>
              </a:ext>
            </a:extLst>
          </p:cNvPr>
          <p:cNvGrpSpPr/>
          <p:nvPr/>
        </p:nvGrpSpPr>
        <p:grpSpPr>
          <a:xfrm>
            <a:off x="591550" y="5181658"/>
            <a:ext cx="8680725" cy="799611"/>
            <a:chOff x="591550" y="5122024"/>
            <a:chExt cx="8680725" cy="799611"/>
          </a:xfrm>
        </p:grpSpPr>
        <p:sp>
          <p:nvSpPr>
            <p:cNvPr id="189" name="TextBox 25">
              <a:extLst>
                <a:ext uri="{FF2B5EF4-FFF2-40B4-BE49-F238E27FC236}">
                  <a16:creationId xmlns:a16="http://schemas.microsoft.com/office/drawing/2014/main" id="{C8B85C63-075E-8C17-9C68-CDA77E5BAD1A}"/>
                </a:ext>
              </a:extLst>
            </p:cNvPr>
            <p:cNvSpPr txBox="1"/>
            <p:nvPr/>
          </p:nvSpPr>
          <p:spPr>
            <a:xfrm>
              <a:off x="2712585" y="5122024"/>
              <a:ext cx="6559690" cy="799611"/>
            </a:xfrm>
            <a:prstGeom prst="rect">
              <a:avLst/>
            </a:prstGeom>
            <a:solidFill>
              <a:srgbClr val="FFF3DA"/>
            </a:solidFill>
          </p:spPr>
          <p:txBody>
            <a:bodyPr lIns="41275" tIns="41275" rIns="41275" bIns="41275" rtlCol="0" anchor="ctr"/>
            <a:lstStyle/>
            <a:p>
              <a:pPr algn="ctr">
                <a:lnSpc>
                  <a:spcPts val="1593"/>
                </a:lnSpc>
              </a:pPr>
              <a:endParaRPr sz="1463"/>
            </a:p>
          </p:txBody>
        </p:sp>
        <p:sp>
          <p:nvSpPr>
            <p:cNvPr id="79" name="TextBox 60">
              <a:extLst>
                <a:ext uri="{FF2B5EF4-FFF2-40B4-BE49-F238E27FC236}">
                  <a16:creationId xmlns:a16="http://schemas.microsoft.com/office/drawing/2014/main" id="{C72E8435-CFBD-0EC6-DA0F-B0E3D1B5F39A}"/>
                </a:ext>
              </a:extLst>
            </p:cNvPr>
            <p:cNvSpPr txBox="1"/>
            <p:nvPr/>
          </p:nvSpPr>
          <p:spPr>
            <a:xfrm>
              <a:off x="2825311" y="5189530"/>
              <a:ext cx="2020909" cy="585243"/>
            </a:xfrm>
            <a:prstGeom prst="rect">
              <a:avLst/>
            </a:prstGeom>
          </p:spPr>
          <p:txBody>
            <a:bodyPr lIns="41275" tIns="41275" rIns="41275" bIns="41275" rtlCol="0" anchor="ctr"/>
            <a:lstStyle/>
            <a:p>
              <a:pPr algn="ctr">
                <a:lnSpc>
                  <a:spcPts val="1593"/>
                </a:lnSpc>
              </a:pPr>
              <a:endParaRPr sz="900">
                <a:latin typeface="Times New Roman" panose="02020603050405020304" pitchFamily="18" charset="0"/>
                <a:cs typeface="Times New Roman" panose="02020603050405020304" pitchFamily="18" charset="0"/>
              </a:endParaRPr>
            </a:p>
          </p:txBody>
        </p:sp>
        <p:sp>
          <p:nvSpPr>
            <p:cNvPr id="78" name="Freeform 59">
              <a:extLst>
                <a:ext uri="{FF2B5EF4-FFF2-40B4-BE49-F238E27FC236}">
                  <a16:creationId xmlns:a16="http://schemas.microsoft.com/office/drawing/2014/main" id="{54FABA3E-175D-634A-D447-AEE2DEF1A055}"/>
                </a:ext>
              </a:extLst>
            </p:cNvPr>
            <p:cNvSpPr/>
            <p:nvPr/>
          </p:nvSpPr>
          <p:spPr>
            <a:xfrm>
              <a:off x="2798210" y="5255903"/>
              <a:ext cx="6388441" cy="572400"/>
            </a:xfrm>
            <a:custGeom>
              <a:avLst/>
              <a:gdLst/>
              <a:ahLst/>
              <a:cxnLst/>
              <a:rect l="l" t="t" r="r" b="b"/>
              <a:pathLst>
                <a:path w="786582" h="297843">
                  <a:moveTo>
                    <a:pt x="0" y="0"/>
                  </a:moveTo>
                  <a:lnTo>
                    <a:pt x="786582" y="0"/>
                  </a:lnTo>
                  <a:lnTo>
                    <a:pt x="786582" y="297843"/>
                  </a:lnTo>
                  <a:lnTo>
                    <a:pt x="0" y="297843"/>
                  </a:lnTo>
                  <a:close/>
                </a:path>
              </a:pathLst>
            </a:custGeom>
            <a:solidFill>
              <a:srgbClr val="FFD77C"/>
            </a:solidFill>
          </p:spPr>
          <p:txBody>
            <a:bodyPr lIns="144000" tIns="36000" rIns="72000"/>
            <a:lstStyle/>
            <a:p>
              <a:r>
                <a:rPr lang="en-US" sz="1100" b="1" spc="39" dirty="0">
                  <a:solidFill>
                    <a:srgbClr val="000000"/>
                  </a:solidFill>
                  <a:latin typeface="Times New Roman" panose="02020603050405020304" pitchFamily="18" charset="0"/>
                  <a:ea typeface="Times New Roman"/>
                  <a:cs typeface="Times New Roman" panose="02020603050405020304" pitchFamily="18" charset="0"/>
                  <a:sym typeface="Times New Roman"/>
                </a:rPr>
                <a:t>Cities Visited: </a:t>
              </a:r>
              <a:r>
                <a:rPr lang="en-US" sz="1100" spc="39"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Rio de Janeiro &amp; São Paulo</a:t>
              </a:r>
            </a:p>
            <a:p>
              <a:r>
                <a:rPr lang="en-US" sz="1100" b="1" spc="39" dirty="0">
                  <a:solidFill>
                    <a:srgbClr val="000000"/>
                  </a:solidFill>
                  <a:latin typeface="Times New Roman" panose="02020603050405020304" pitchFamily="18" charset="0"/>
                  <a:ea typeface="Times New Roman"/>
                  <a:cs typeface="Times New Roman" panose="02020603050405020304" pitchFamily="18" charset="0"/>
                  <a:sym typeface="Times New Roman Bold"/>
                </a:rPr>
                <a:t>Value to Project</a:t>
              </a:r>
              <a:r>
                <a:rPr lang="en-US" sz="1100" spc="39" dirty="0">
                  <a:solidFill>
                    <a:srgbClr val="000000"/>
                  </a:solidFill>
                  <a:latin typeface="Times New Roman" panose="02020603050405020304" pitchFamily="18" charset="0"/>
                  <a:ea typeface="Times New Roman"/>
                  <a:cs typeface="Times New Roman" panose="02020603050405020304" pitchFamily="18" charset="0"/>
                  <a:sym typeface="Times New Roman Bold"/>
                </a:rPr>
                <a:t>: Insight into client engagement with </a:t>
              </a:r>
              <a:r>
                <a:rPr lang="en-US" sz="1100" spc="39" dirty="0" err="1">
                  <a:solidFill>
                    <a:srgbClr val="000000"/>
                  </a:solidFill>
                  <a:latin typeface="Times New Roman" panose="02020603050405020304" pitchFamily="18" charset="0"/>
                  <a:ea typeface="Times New Roman"/>
                  <a:cs typeface="Times New Roman" panose="02020603050405020304" pitchFamily="18" charset="0"/>
                  <a:sym typeface="Times New Roman Bold"/>
                </a:rPr>
                <a:t>Insper</a:t>
              </a:r>
              <a:r>
                <a:rPr lang="en-US" sz="1100" spc="39" dirty="0">
                  <a:solidFill>
                    <a:srgbClr val="000000"/>
                  </a:solidFill>
                  <a:latin typeface="Times New Roman" panose="02020603050405020304" pitchFamily="18" charset="0"/>
                  <a:ea typeface="Times New Roman"/>
                  <a:cs typeface="Times New Roman" panose="02020603050405020304" pitchFamily="18" charset="0"/>
                  <a:sym typeface="Times New Roman Bold"/>
                </a:rPr>
                <a:t> and Columbia Global Center, understanding of Brazilian working culture, and assessment of on-the-ground AI adoption and use</a:t>
              </a:r>
              <a:r>
                <a:rPr lang="en-US" sz="1100" spc="39"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82" name="TextBox 63">
              <a:extLst>
                <a:ext uri="{FF2B5EF4-FFF2-40B4-BE49-F238E27FC236}">
                  <a16:creationId xmlns:a16="http://schemas.microsoft.com/office/drawing/2014/main" id="{0BD7502F-1903-DFD6-BA51-896E0AB4E1EA}"/>
                </a:ext>
              </a:extLst>
            </p:cNvPr>
            <p:cNvSpPr txBox="1"/>
            <p:nvPr/>
          </p:nvSpPr>
          <p:spPr>
            <a:xfrm>
              <a:off x="5141262" y="5189530"/>
              <a:ext cx="4119094" cy="585243"/>
            </a:xfrm>
            <a:prstGeom prst="rect">
              <a:avLst/>
            </a:prstGeom>
          </p:spPr>
          <p:txBody>
            <a:bodyPr lIns="41275" tIns="41275" rIns="41275" bIns="41275" rtlCol="0" anchor="ctr"/>
            <a:lstStyle/>
            <a:p>
              <a:pPr algn="ctr">
                <a:lnSpc>
                  <a:spcPts val="1593"/>
                </a:lnSpc>
              </a:pPr>
              <a:endParaRPr sz="900">
                <a:latin typeface="Times New Roman" panose="02020603050405020304" pitchFamily="18" charset="0"/>
                <a:cs typeface="Times New Roman" panose="02020603050405020304" pitchFamily="18" charset="0"/>
              </a:endParaRPr>
            </a:p>
          </p:txBody>
        </p:sp>
        <p:grpSp>
          <p:nvGrpSpPr>
            <p:cNvPr id="178" name="Group 17">
              <a:extLst>
                <a:ext uri="{FF2B5EF4-FFF2-40B4-BE49-F238E27FC236}">
                  <a16:creationId xmlns:a16="http://schemas.microsoft.com/office/drawing/2014/main" id="{D78082CD-D1F4-1C7C-1EB9-CDB115CC62FC}"/>
                </a:ext>
              </a:extLst>
            </p:cNvPr>
            <p:cNvGrpSpPr/>
            <p:nvPr/>
          </p:nvGrpSpPr>
          <p:grpSpPr>
            <a:xfrm>
              <a:off x="1046043" y="5185303"/>
              <a:ext cx="1586385" cy="736332"/>
              <a:chOff x="0" y="0"/>
              <a:chExt cx="726139" cy="443344"/>
            </a:xfrm>
          </p:grpSpPr>
          <p:sp>
            <p:nvSpPr>
              <p:cNvPr id="179" name="Freeform 18">
                <a:extLst>
                  <a:ext uri="{FF2B5EF4-FFF2-40B4-BE49-F238E27FC236}">
                    <a16:creationId xmlns:a16="http://schemas.microsoft.com/office/drawing/2014/main" id="{252B06B1-72C3-D791-23E0-2F2903590254}"/>
                  </a:ext>
                </a:extLst>
              </p:cNvPr>
              <p:cNvSpPr/>
              <p:nvPr/>
            </p:nvSpPr>
            <p:spPr>
              <a:xfrm>
                <a:off x="0" y="0"/>
                <a:ext cx="726139" cy="443344"/>
              </a:xfrm>
              <a:custGeom>
                <a:avLst/>
                <a:gdLst/>
                <a:ahLst/>
                <a:cxnLst/>
                <a:rect l="l" t="t" r="r" b="b"/>
                <a:pathLst>
                  <a:path w="726139" h="443344">
                    <a:moveTo>
                      <a:pt x="0" y="0"/>
                    </a:moveTo>
                    <a:lnTo>
                      <a:pt x="726139" y="0"/>
                    </a:lnTo>
                    <a:lnTo>
                      <a:pt x="726139" y="443344"/>
                    </a:lnTo>
                    <a:lnTo>
                      <a:pt x="0" y="443344"/>
                    </a:lnTo>
                    <a:close/>
                  </a:path>
                </a:pathLst>
              </a:custGeom>
              <a:solidFill>
                <a:srgbClr val="FFD77C"/>
              </a:solidFill>
            </p:spPr>
            <p:txBody>
              <a:bodyPr/>
              <a:lstStyle/>
              <a:p>
                <a:endParaRPr lang="en-US" sz="1463"/>
              </a:p>
            </p:txBody>
          </p:sp>
          <p:sp>
            <p:nvSpPr>
              <p:cNvPr id="180" name="TextBox 19">
                <a:extLst>
                  <a:ext uri="{FF2B5EF4-FFF2-40B4-BE49-F238E27FC236}">
                    <a16:creationId xmlns:a16="http://schemas.microsoft.com/office/drawing/2014/main" id="{D7F835DF-9BC9-3B5B-8AB2-643633EBBE2F}"/>
                  </a:ext>
                </a:extLst>
              </p:cNvPr>
              <p:cNvSpPr txBox="1"/>
              <p:nvPr/>
            </p:nvSpPr>
            <p:spPr>
              <a:xfrm>
                <a:off x="0" y="-38100"/>
                <a:ext cx="726139" cy="481444"/>
              </a:xfrm>
              <a:prstGeom prst="rect">
                <a:avLst/>
              </a:prstGeom>
            </p:spPr>
            <p:txBody>
              <a:bodyPr lIns="41275" tIns="41275" rIns="41275" bIns="41275" rtlCol="0" anchor="ctr"/>
              <a:lstStyle/>
              <a:p>
                <a:pPr algn="ctr">
                  <a:lnSpc>
                    <a:spcPts val="1593"/>
                  </a:lnSpc>
                </a:pPr>
                <a:endParaRPr sz="1463"/>
              </a:p>
            </p:txBody>
          </p:sp>
        </p:grpSp>
        <p:grpSp>
          <p:nvGrpSpPr>
            <p:cNvPr id="181" name="Group 26">
              <a:extLst>
                <a:ext uri="{FF2B5EF4-FFF2-40B4-BE49-F238E27FC236}">
                  <a16:creationId xmlns:a16="http://schemas.microsoft.com/office/drawing/2014/main" id="{BEF3F94E-D108-2552-434A-DE584403F475}"/>
                </a:ext>
              </a:extLst>
            </p:cNvPr>
            <p:cNvGrpSpPr/>
            <p:nvPr/>
          </p:nvGrpSpPr>
          <p:grpSpPr>
            <a:xfrm>
              <a:off x="591550" y="5306132"/>
              <a:ext cx="659014" cy="494674"/>
              <a:chOff x="0" y="0"/>
              <a:chExt cx="1899920" cy="1899920"/>
            </a:xfrm>
          </p:grpSpPr>
          <p:sp>
            <p:nvSpPr>
              <p:cNvPr id="182" name="Freeform 27">
                <a:extLst>
                  <a:ext uri="{FF2B5EF4-FFF2-40B4-BE49-F238E27FC236}">
                    <a16:creationId xmlns:a16="http://schemas.microsoft.com/office/drawing/2014/main" id="{0C57CD78-71B5-A6D0-2FE8-9CF6A09D0D62}"/>
                  </a:ext>
                </a:extLst>
              </p:cNvPr>
              <p:cNvSpPr/>
              <p:nvPr/>
            </p:nvSpPr>
            <p:spPr>
              <a:xfrm>
                <a:off x="6350" y="6350"/>
                <a:ext cx="1887220" cy="1887220"/>
              </a:xfrm>
              <a:custGeom>
                <a:avLst/>
                <a:gdLst/>
                <a:ahLst/>
                <a:cxnLst/>
                <a:rect l="l" t="t" r="r" b="b"/>
                <a:pathLst>
                  <a:path w="1887220" h="1887220">
                    <a:moveTo>
                      <a:pt x="0" y="0"/>
                    </a:moveTo>
                    <a:lnTo>
                      <a:pt x="1887220" y="0"/>
                    </a:lnTo>
                    <a:lnTo>
                      <a:pt x="1887220" y="1887220"/>
                    </a:lnTo>
                    <a:lnTo>
                      <a:pt x="0" y="1887220"/>
                    </a:lnTo>
                    <a:close/>
                  </a:path>
                </a:pathLst>
              </a:custGeom>
              <a:solidFill>
                <a:srgbClr val="FFFFFF"/>
              </a:solidFill>
            </p:spPr>
            <p:txBody>
              <a:bodyPr/>
              <a:lstStyle/>
              <a:p>
                <a:endParaRPr lang="en-US" sz="1463"/>
              </a:p>
            </p:txBody>
          </p:sp>
          <p:sp>
            <p:nvSpPr>
              <p:cNvPr id="183" name="Freeform 28">
                <a:extLst>
                  <a:ext uri="{FF2B5EF4-FFF2-40B4-BE49-F238E27FC236}">
                    <a16:creationId xmlns:a16="http://schemas.microsoft.com/office/drawing/2014/main" id="{C7EDD196-6318-124C-5E66-0817710593B5}"/>
                  </a:ext>
                </a:extLst>
              </p:cNvPr>
              <p:cNvSpPr/>
              <p:nvPr/>
            </p:nvSpPr>
            <p:spPr>
              <a:xfrm>
                <a:off x="0" y="0"/>
                <a:ext cx="1899920" cy="1899920"/>
              </a:xfrm>
              <a:custGeom>
                <a:avLst/>
                <a:gdLst/>
                <a:ahLst/>
                <a:cxnLst/>
                <a:rect l="l" t="t" r="r" b="b"/>
                <a:pathLst>
                  <a:path w="1899920" h="1899920">
                    <a:moveTo>
                      <a:pt x="6350" y="1899920"/>
                    </a:moveTo>
                    <a:lnTo>
                      <a:pt x="0" y="1899920"/>
                    </a:lnTo>
                    <a:lnTo>
                      <a:pt x="0" y="0"/>
                    </a:lnTo>
                    <a:lnTo>
                      <a:pt x="1899920" y="0"/>
                    </a:lnTo>
                    <a:lnTo>
                      <a:pt x="1899920" y="1899920"/>
                    </a:lnTo>
                    <a:lnTo>
                      <a:pt x="6350" y="1899920"/>
                    </a:lnTo>
                    <a:close/>
                    <a:moveTo>
                      <a:pt x="12700" y="12700"/>
                    </a:moveTo>
                    <a:lnTo>
                      <a:pt x="12700" y="1887220"/>
                    </a:lnTo>
                    <a:lnTo>
                      <a:pt x="1887220" y="1887220"/>
                    </a:lnTo>
                    <a:lnTo>
                      <a:pt x="1887220" y="12700"/>
                    </a:lnTo>
                    <a:lnTo>
                      <a:pt x="12700" y="12700"/>
                    </a:lnTo>
                    <a:close/>
                  </a:path>
                </a:pathLst>
              </a:custGeom>
              <a:solidFill>
                <a:srgbClr val="FFFFFF"/>
              </a:solidFill>
            </p:spPr>
            <p:txBody>
              <a:bodyPr/>
              <a:lstStyle/>
              <a:p>
                <a:endParaRPr lang="en-US" sz="1463"/>
              </a:p>
            </p:txBody>
          </p:sp>
          <p:sp>
            <p:nvSpPr>
              <p:cNvPr id="184" name="Freeform 29">
                <a:extLst>
                  <a:ext uri="{FF2B5EF4-FFF2-40B4-BE49-F238E27FC236}">
                    <a16:creationId xmlns:a16="http://schemas.microsoft.com/office/drawing/2014/main" id="{8DFA48B9-EB9E-5FF1-D655-C99EAA754A14}"/>
                  </a:ext>
                </a:extLst>
              </p:cNvPr>
              <p:cNvSpPr/>
              <p:nvPr/>
            </p:nvSpPr>
            <p:spPr>
              <a:xfrm>
                <a:off x="139700" y="140971"/>
                <a:ext cx="1619251" cy="1619249"/>
              </a:xfrm>
              <a:custGeom>
                <a:avLst/>
                <a:gdLst/>
                <a:ahLst/>
                <a:cxnLst/>
                <a:rect l="l" t="t" r="r" b="b"/>
                <a:pathLst>
                  <a:path w="1619250" h="1619250">
                    <a:moveTo>
                      <a:pt x="0" y="0"/>
                    </a:moveTo>
                    <a:lnTo>
                      <a:pt x="1619250" y="0"/>
                    </a:lnTo>
                    <a:lnTo>
                      <a:pt x="1619250" y="1619250"/>
                    </a:lnTo>
                    <a:lnTo>
                      <a:pt x="0" y="1619250"/>
                    </a:lnTo>
                    <a:close/>
                  </a:path>
                </a:pathLst>
              </a:custGeom>
              <a:solidFill>
                <a:srgbClr val="FFD77C"/>
              </a:solidFill>
            </p:spPr>
            <p:txBody>
              <a:bodyPr/>
              <a:lstStyle/>
              <a:p>
                <a:endParaRPr lang="en-US" sz="1463"/>
              </a:p>
            </p:txBody>
          </p:sp>
        </p:grpSp>
        <p:sp>
          <p:nvSpPr>
            <p:cNvPr id="185" name="TextBox 69">
              <a:extLst>
                <a:ext uri="{FF2B5EF4-FFF2-40B4-BE49-F238E27FC236}">
                  <a16:creationId xmlns:a16="http://schemas.microsoft.com/office/drawing/2014/main" id="{C9F13958-B683-25D1-D63B-13DF258F524D}"/>
                </a:ext>
              </a:extLst>
            </p:cNvPr>
            <p:cNvSpPr txBox="1"/>
            <p:nvPr/>
          </p:nvSpPr>
          <p:spPr>
            <a:xfrm>
              <a:off x="1058367" y="5362501"/>
              <a:ext cx="1568112" cy="333425"/>
            </a:xfrm>
            <a:prstGeom prst="rect">
              <a:avLst/>
            </a:prstGeom>
          </p:spPr>
          <p:txBody>
            <a:bodyPr wrap="square" lIns="0" tIns="0" rIns="0" bIns="0" rtlCol="0" anchor="t">
              <a:spAutoFit/>
            </a:bodyPr>
            <a:lstStyle>
              <a:defPPr>
                <a:defRPr lang="en-US"/>
              </a:defPPr>
              <a:lvl1pPr algn="ctr">
                <a:lnSpc>
                  <a:spcPts val="1268"/>
                </a:lnSpc>
                <a:defRPr sz="1200" b="1">
                  <a:solidFill>
                    <a:srgbClr val="000000"/>
                  </a:solidFill>
                  <a:latin typeface="Times New Roman" panose="02020603050405020304" pitchFamily="18" charset="0"/>
                  <a:ea typeface="Times New Roman Bold"/>
                  <a:cs typeface="Times New Roman" panose="02020603050405020304" pitchFamily="18" charset="0"/>
                </a:defRPr>
              </a:lvl1pPr>
            </a:lstStyle>
            <a:p>
              <a:r>
                <a:rPr lang="en-US">
                  <a:sym typeface="Times New Roman Bold"/>
                </a:rPr>
                <a:t>In-Country </a:t>
              </a:r>
            </a:p>
            <a:p>
              <a:r>
                <a:rPr lang="en-US">
                  <a:sym typeface="Times New Roman Bold"/>
                </a:rPr>
                <a:t>Fieldwork</a:t>
              </a:r>
            </a:p>
          </p:txBody>
        </p:sp>
        <p:sp>
          <p:nvSpPr>
            <p:cNvPr id="191" name="TextBox 47">
              <a:extLst>
                <a:ext uri="{FF2B5EF4-FFF2-40B4-BE49-F238E27FC236}">
                  <a16:creationId xmlns:a16="http://schemas.microsoft.com/office/drawing/2014/main" id="{9B5212CA-76BB-2B36-8FC8-32A878DF32F4}"/>
                </a:ext>
              </a:extLst>
            </p:cNvPr>
            <p:cNvSpPr txBox="1"/>
            <p:nvPr/>
          </p:nvSpPr>
          <p:spPr>
            <a:xfrm>
              <a:off x="2930290" y="5262304"/>
              <a:ext cx="2990630" cy="523017"/>
            </a:xfrm>
            <a:prstGeom prst="rect">
              <a:avLst/>
            </a:prstGeom>
          </p:spPr>
          <p:txBody>
            <a:bodyPr lIns="41275" tIns="41275" rIns="41275" bIns="41275" rtlCol="0" anchor="ctr"/>
            <a:lstStyle/>
            <a:p>
              <a:pPr algn="ctr">
                <a:lnSpc>
                  <a:spcPts val="1593"/>
                </a:lnSpc>
              </a:pPr>
              <a:endParaRPr sz="1463"/>
            </a:p>
          </p:txBody>
        </p:sp>
        <p:sp>
          <p:nvSpPr>
            <p:cNvPr id="86" name="Freeform 67">
              <a:extLst>
                <a:ext uri="{FF2B5EF4-FFF2-40B4-BE49-F238E27FC236}">
                  <a16:creationId xmlns:a16="http://schemas.microsoft.com/office/drawing/2014/main" id="{2DE4F0F1-2572-30BC-1588-69E11369A99F}"/>
                </a:ext>
              </a:extLst>
            </p:cNvPr>
            <p:cNvSpPr/>
            <p:nvPr/>
          </p:nvSpPr>
          <p:spPr>
            <a:xfrm>
              <a:off x="728729" y="5409925"/>
              <a:ext cx="306209" cy="319573"/>
            </a:xfrm>
            <a:custGeom>
              <a:avLst/>
              <a:gdLst/>
              <a:ahLst/>
              <a:cxnLst/>
              <a:rect l="l" t="t" r="r" b="b"/>
              <a:pathLst>
                <a:path w="376873" h="393321">
                  <a:moveTo>
                    <a:pt x="0" y="0"/>
                  </a:moveTo>
                  <a:lnTo>
                    <a:pt x="376873" y="0"/>
                  </a:lnTo>
                  <a:lnTo>
                    <a:pt x="376873" y="393321"/>
                  </a:lnTo>
                  <a:lnTo>
                    <a:pt x="0" y="3933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sz="1463"/>
            </a:p>
          </p:txBody>
        </p:sp>
      </p:grpSp>
      <p:sp>
        <p:nvSpPr>
          <p:cNvPr id="8" name="Triangle 7">
            <a:extLst>
              <a:ext uri="{FF2B5EF4-FFF2-40B4-BE49-F238E27FC236}">
                <a16:creationId xmlns:a16="http://schemas.microsoft.com/office/drawing/2014/main" id="{F7C8FD1F-D0B8-759A-16D1-23D3A6A2283A}"/>
              </a:ext>
            </a:extLst>
          </p:cNvPr>
          <p:cNvSpPr/>
          <p:nvPr/>
        </p:nvSpPr>
        <p:spPr>
          <a:xfrm rot="10800000">
            <a:off x="1543503" y="2337956"/>
            <a:ext cx="6818993" cy="217083"/>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89CD0744-429E-EB74-A332-A8223B3084EC}"/>
              </a:ext>
            </a:extLst>
          </p:cNvPr>
          <p:cNvSpPr/>
          <p:nvPr/>
        </p:nvSpPr>
        <p:spPr>
          <a:xfrm rot="10800000">
            <a:off x="1568664" y="3593803"/>
            <a:ext cx="6818993" cy="217083"/>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riangle 16">
            <a:extLst>
              <a:ext uri="{FF2B5EF4-FFF2-40B4-BE49-F238E27FC236}">
                <a16:creationId xmlns:a16="http://schemas.microsoft.com/office/drawing/2014/main" id="{BAFD9661-C2C9-FE92-6572-31C2296019BA}"/>
              </a:ext>
            </a:extLst>
          </p:cNvPr>
          <p:cNvSpPr/>
          <p:nvPr/>
        </p:nvSpPr>
        <p:spPr>
          <a:xfrm rot="10800000">
            <a:off x="1593825" y="4849651"/>
            <a:ext cx="6818993" cy="217083"/>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9277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BFCAF-5D2B-FB1E-8194-1EA5E4814342}"/>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95BC0ACE-0AD8-4FE2-B310-55281E7EFB07}"/>
              </a:ext>
            </a:extLst>
          </p:cNvPr>
          <p:cNvSpPr txBox="1"/>
          <p:nvPr/>
        </p:nvSpPr>
        <p:spPr>
          <a:xfrm>
            <a:off x="614884" y="805945"/>
            <a:ext cx="8356018" cy="411779"/>
          </a:xfrm>
          <a:prstGeom prst="rect">
            <a:avLst/>
          </a:prstGeom>
        </p:spPr>
        <p:txBody>
          <a:bodyPr wrap="square" lIns="0" tIns="0" rIns="0" bIns="0" rtlCol="0" anchor="t">
            <a:spAutoFit/>
          </a:bodyPr>
          <a:lstStyle/>
          <a:p>
            <a:pPr>
              <a:lnSpc>
                <a:spcPts val="3479"/>
              </a:lnSpc>
            </a:pPr>
            <a:r>
              <a:rPr lang="en-US" sz="25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Development of Partnership Evaluation Framework</a:t>
            </a:r>
          </a:p>
        </p:txBody>
      </p:sp>
      <p:sp>
        <p:nvSpPr>
          <p:cNvPr id="3" name="Rectangle 2">
            <a:extLst>
              <a:ext uri="{FF2B5EF4-FFF2-40B4-BE49-F238E27FC236}">
                <a16:creationId xmlns:a16="http://schemas.microsoft.com/office/drawing/2014/main" id="{D95B40B3-D2FD-86EF-01BA-2ADDA2C552F7}"/>
              </a:ext>
            </a:extLst>
          </p:cNvPr>
          <p:cNvSpPr/>
          <p:nvPr/>
        </p:nvSpPr>
        <p:spPr>
          <a:xfrm>
            <a:off x="872096" y="1442538"/>
            <a:ext cx="1443656" cy="1511166"/>
          </a:xfrm>
          <a:prstGeom prst="rect">
            <a:avLst/>
          </a:prstGeom>
          <a:solidFill>
            <a:srgbClr val="FFE7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Times New Roman" panose="02020603050405020304" pitchFamily="18" charset="0"/>
                <a:cs typeface="Times New Roman" panose="02020603050405020304" pitchFamily="18" charset="0"/>
              </a:rPr>
              <a:t>In-depth interviews with BRAVA team</a:t>
            </a:r>
          </a:p>
        </p:txBody>
      </p:sp>
      <p:pic>
        <p:nvPicPr>
          <p:cNvPr id="6" name="Graphic 5" descr="Add with solid fill">
            <a:extLst>
              <a:ext uri="{FF2B5EF4-FFF2-40B4-BE49-F238E27FC236}">
                <a16:creationId xmlns:a16="http://schemas.microsoft.com/office/drawing/2014/main" id="{3245138D-DA29-4C80-3E4A-55C67660CFD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93136" y="3191009"/>
            <a:ext cx="601577" cy="601577"/>
          </a:xfrm>
          <a:prstGeom prst="rect">
            <a:avLst/>
          </a:prstGeom>
        </p:spPr>
      </p:pic>
      <p:sp>
        <p:nvSpPr>
          <p:cNvPr id="7" name="TextBox 6">
            <a:extLst>
              <a:ext uri="{FF2B5EF4-FFF2-40B4-BE49-F238E27FC236}">
                <a16:creationId xmlns:a16="http://schemas.microsoft.com/office/drawing/2014/main" id="{537A3F62-76EF-0EED-0CDA-678313854E13}"/>
              </a:ext>
            </a:extLst>
          </p:cNvPr>
          <p:cNvSpPr txBox="1"/>
          <p:nvPr/>
        </p:nvSpPr>
        <p:spPr>
          <a:xfrm>
            <a:off x="2288772" y="2891632"/>
            <a:ext cx="1561532" cy="1200329"/>
          </a:xfrm>
          <a:prstGeom prst="rect">
            <a:avLst/>
          </a:prstGeom>
          <a:noFill/>
        </p:spPr>
        <p:txBody>
          <a:bodyPr wrap="square" rtlCol="0">
            <a:spAutoFit/>
          </a:bodyPr>
          <a:lstStyle/>
          <a:p>
            <a:r>
              <a:rPr lang="en-US" sz="7200" b="1">
                <a:solidFill>
                  <a:schemeClr val="accent3"/>
                </a:solidFill>
                <a:latin typeface="Times New Roman" panose="02020603050405020304" pitchFamily="18" charset="0"/>
                <a:cs typeface="Times New Roman" panose="02020603050405020304" pitchFamily="18" charset="0"/>
              </a:rPr>
              <a:t>=</a:t>
            </a:r>
          </a:p>
        </p:txBody>
      </p:sp>
      <p:sp>
        <p:nvSpPr>
          <p:cNvPr id="8" name="Rectangle 7">
            <a:extLst>
              <a:ext uri="{FF2B5EF4-FFF2-40B4-BE49-F238E27FC236}">
                <a16:creationId xmlns:a16="http://schemas.microsoft.com/office/drawing/2014/main" id="{24C684EA-C3B9-F60B-E608-D6C709C17144}"/>
              </a:ext>
            </a:extLst>
          </p:cNvPr>
          <p:cNvSpPr/>
          <p:nvPr/>
        </p:nvSpPr>
        <p:spPr>
          <a:xfrm>
            <a:off x="872096" y="4338685"/>
            <a:ext cx="1443656" cy="1511166"/>
          </a:xfrm>
          <a:prstGeom prst="rect">
            <a:avLst/>
          </a:prstGeom>
          <a:solidFill>
            <a:srgbClr val="FFE7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Times New Roman" panose="02020603050405020304" pitchFamily="18" charset="0"/>
              <a:cs typeface="Times New Roman" panose="02020603050405020304" pitchFamily="18" charset="0"/>
            </a:endParaRPr>
          </a:p>
          <a:p>
            <a:pPr algn="ctr"/>
            <a:endParaRPr lang="en-US" sz="1200" dirty="0">
              <a:solidFill>
                <a:schemeClr val="tx1"/>
              </a:solidFill>
              <a:latin typeface="Times New Roman" panose="02020603050405020304" pitchFamily="18" charset="0"/>
              <a:cs typeface="Times New Roman" panose="02020603050405020304" pitchFamily="18" charset="0"/>
            </a:endParaRPr>
          </a:p>
          <a:p>
            <a:pPr algn="ctr"/>
            <a:r>
              <a:rPr lang="en-US" sz="1200" dirty="0">
                <a:solidFill>
                  <a:schemeClr val="tx1"/>
                </a:solidFill>
                <a:latin typeface="Times New Roman" panose="02020603050405020304" pitchFamily="18" charset="0"/>
                <a:cs typeface="Times New Roman" panose="02020603050405020304" pitchFamily="18" charset="0"/>
              </a:rPr>
              <a:t>Global and regional best practices on good governance of AI</a:t>
            </a:r>
          </a:p>
        </p:txBody>
      </p:sp>
      <p:pic>
        <p:nvPicPr>
          <p:cNvPr id="21" name="Graphic 20" descr="Document with solid fill">
            <a:extLst>
              <a:ext uri="{FF2B5EF4-FFF2-40B4-BE49-F238E27FC236}">
                <a16:creationId xmlns:a16="http://schemas.microsoft.com/office/drawing/2014/main" id="{F3828C4C-BB39-6102-04C9-9058CE26C2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5355" y="4367560"/>
            <a:ext cx="540000" cy="540000"/>
          </a:xfrm>
          <a:prstGeom prst="rect">
            <a:avLst/>
          </a:prstGeom>
        </p:spPr>
      </p:pic>
      <p:pic>
        <p:nvPicPr>
          <p:cNvPr id="31" name="Graphic 30" descr="Boardroom with solid fill">
            <a:extLst>
              <a:ext uri="{FF2B5EF4-FFF2-40B4-BE49-F238E27FC236}">
                <a16:creationId xmlns:a16="http://schemas.microsoft.com/office/drawing/2014/main" id="{274BCC9C-C5C0-C176-373D-051F3E3EAF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3924" y="1470522"/>
            <a:ext cx="540000" cy="540000"/>
          </a:xfrm>
          <a:prstGeom prst="rect">
            <a:avLst/>
          </a:prstGeom>
        </p:spPr>
      </p:pic>
      <p:grpSp>
        <p:nvGrpSpPr>
          <p:cNvPr id="2" name="Group 1">
            <a:extLst>
              <a:ext uri="{FF2B5EF4-FFF2-40B4-BE49-F238E27FC236}">
                <a16:creationId xmlns:a16="http://schemas.microsoft.com/office/drawing/2014/main" id="{C862E439-9ACD-7976-BCA4-6053D97392AD}"/>
              </a:ext>
            </a:extLst>
          </p:cNvPr>
          <p:cNvGrpSpPr/>
          <p:nvPr/>
        </p:nvGrpSpPr>
        <p:grpSpPr>
          <a:xfrm>
            <a:off x="3082260" y="1745855"/>
            <a:ext cx="6177476" cy="549198"/>
            <a:chOff x="3082260" y="2050657"/>
            <a:chExt cx="6177476" cy="549198"/>
          </a:xfrm>
        </p:grpSpPr>
        <p:sp>
          <p:nvSpPr>
            <p:cNvPr id="11" name="Pentagon 10">
              <a:extLst>
                <a:ext uri="{FF2B5EF4-FFF2-40B4-BE49-F238E27FC236}">
                  <a16:creationId xmlns:a16="http://schemas.microsoft.com/office/drawing/2014/main" id="{597B6344-840B-BEE2-C40F-4C9836589DC1}"/>
                </a:ext>
              </a:extLst>
            </p:cNvPr>
            <p:cNvSpPr/>
            <p:nvPr/>
          </p:nvSpPr>
          <p:spPr>
            <a:xfrm>
              <a:off x="3082260" y="2131396"/>
              <a:ext cx="6177476" cy="468459"/>
            </a:xfrm>
            <a:prstGeom prst="homePlate">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E80E10A0-1B0A-BE19-4925-3393498E450F}"/>
                </a:ext>
              </a:extLst>
            </p:cNvPr>
            <p:cNvGrpSpPr/>
            <p:nvPr/>
          </p:nvGrpSpPr>
          <p:grpSpPr>
            <a:xfrm>
              <a:off x="3162049" y="2050657"/>
              <a:ext cx="386191" cy="313765"/>
              <a:chOff x="690350" y="5114971"/>
              <a:chExt cx="386191" cy="313765"/>
            </a:xfrm>
          </p:grpSpPr>
          <p:sp>
            <p:nvSpPr>
              <p:cNvPr id="34" name="Trapezium 33">
                <a:extLst>
                  <a:ext uri="{FF2B5EF4-FFF2-40B4-BE49-F238E27FC236}">
                    <a16:creationId xmlns:a16="http://schemas.microsoft.com/office/drawing/2014/main" id="{FC379667-4D6E-436A-548F-F1AEF2C4B4F6}"/>
                  </a:ext>
                </a:extLst>
              </p:cNvPr>
              <p:cNvSpPr/>
              <p:nvPr/>
            </p:nvSpPr>
            <p:spPr>
              <a:xfrm>
                <a:off x="817287" y="5114971"/>
                <a:ext cx="259254" cy="121916"/>
              </a:xfrm>
              <a:prstGeom prst="trapezoid">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ff-page Connector 34">
                <a:extLst>
                  <a:ext uri="{FF2B5EF4-FFF2-40B4-BE49-F238E27FC236}">
                    <a16:creationId xmlns:a16="http://schemas.microsoft.com/office/drawing/2014/main" id="{ACFE0E74-202D-DEA0-43B0-1FB8E19CB9EA}"/>
                  </a:ext>
                </a:extLst>
              </p:cNvPr>
              <p:cNvSpPr/>
              <p:nvPr/>
            </p:nvSpPr>
            <p:spPr>
              <a:xfrm>
                <a:off x="690350" y="5114971"/>
                <a:ext cx="319638" cy="313765"/>
              </a:xfrm>
              <a:prstGeom prst="flowChartOffpageConnector">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1</a:t>
                </a:r>
              </a:p>
            </p:txBody>
          </p:sp>
        </p:grpSp>
        <p:sp>
          <p:nvSpPr>
            <p:cNvPr id="68" name="TextBox 67">
              <a:extLst>
                <a:ext uri="{FF2B5EF4-FFF2-40B4-BE49-F238E27FC236}">
                  <a16:creationId xmlns:a16="http://schemas.microsoft.com/office/drawing/2014/main" id="{B923A219-037C-D694-0F45-D9556ECA18E1}"/>
                </a:ext>
              </a:extLst>
            </p:cNvPr>
            <p:cNvSpPr txBox="1">
              <a:spLocks noChangeAspect="1"/>
            </p:cNvSpPr>
            <p:nvPr/>
          </p:nvSpPr>
          <p:spPr>
            <a:xfrm>
              <a:off x="3515390" y="2131211"/>
              <a:ext cx="4797876" cy="392937"/>
            </a:xfrm>
            <a:prstGeom prst="rect">
              <a:avLst/>
            </a:prstGeom>
            <a:noFill/>
          </p:spPr>
          <p:txBody>
            <a:bodyPr wrap="square" rtlCol="0">
              <a:noAutofit/>
            </a:bodyPr>
            <a:lstStyle/>
            <a:p>
              <a:r>
                <a:rPr lang="en-US" sz="1200" b="1" i="1" dirty="0">
                  <a:latin typeface="Times New Roman" panose="02020603050405020304" pitchFamily="18" charset="0"/>
                  <a:cs typeface="Times New Roman" panose="02020603050405020304" pitchFamily="18" charset="0"/>
                </a:rPr>
                <a:t>Equality and Inclusive Access:</a:t>
              </a:r>
            </a:p>
            <a:p>
              <a:r>
                <a:rPr lang="en-US" sz="1000" dirty="0">
                  <a:latin typeface="Times New Roman" panose="02020603050405020304" pitchFamily="18" charset="0"/>
                  <a:cs typeface="Times New Roman" panose="02020603050405020304" pitchFamily="18" charset="0"/>
                </a:rPr>
                <a:t>Does the program include measures that promote equitable AI in Brazil? </a:t>
              </a:r>
            </a:p>
          </p:txBody>
        </p:sp>
      </p:grpSp>
      <p:grpSp>
        <p:nvGrpSpPr>
          <p:cNvPr id="4" name="Group 3">
            <a:extLst>
              <a:ext uri="{FF2B5EF4-FFF2-40B4-BE49-F238E27FC236}">
                <a16:creationId xmlns:a16="http://schemas.microsoft.com/office/drawing/2014/main" id="{CB973B11-3699-22B1-03CF-F7A696170388}"/>
              </a:ext>
            </a:extLst>
          </p:cNvPr>
          <p:cNvGrpSpPr/>
          <p:nvPr/>
        </p:nvGrpSpPr>
        <p:grpSpPr>
          <a:xfrm>
            <a:off x="3082258" y="2347577"/>
            <a:ext cx="6177476" cy="553953"/>
            <a:chOff x="3082258" y="2613886"/>
            <a:chExt cx="6177476" cy="553953"/>
          </a:xfrm>
        </p:grpSpPr>
        <p:sp>
          <p:nvSpPr>
            <p:cNvPr id="12" name="Pentagon 11">
              <a:extLst>
                <a:ext uri="{FF2B5EF4-FFF2-40B4-BE49-F238E27FC236}">
                  <a16:creationId xmlns:a16="http://schemas.microsoft.com/office/drawing/2014/main" id="{3653712D-9686-441D-AE53-94B21617C196}"/>
                </a:ext>
              </a:extLst>
            </p:cNvPr>
            <p:cNvSpPr/>
            <p:nvPr/>
          </p:nvSpPr>
          <p:spPr>
            <a:xfrm>
              <a:off x="3082258" y="2699380"/>
              <a:ext cx="6177476" cy="468459"/>
            </a:xfrm>
            <a:prstGeom prst="homePlate">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C4622C1D-CACF-6FD1-093E-A7EF17D81FBC}"/>
                </a:ext>
              </a:extLst>
            </p:cNvPr>
            <p:cNvGrpSpPr/>
            <p:nvPr/>
          </p:nvGrpSpPr>
          <p:grpSpPr>
            <a:xfrm>
              <a:off x="3162049" y="2613886"/>
              <a:ext cx="386191" cy="313765"/>
              <a:chOff x="690350" y="5114971"/>
              <a:chExt cx="386191" cy="313765"/>
            </a:xfrm>
          </p:grpSpPr>
          <p:sp>
            <p:nvSpPr>
              <p:cNvPr id="37" name="Trapezium 36">
                <a:extLst>
                  <a:ext uri="{FF2B5EF4-FFF2-40B4-BE49-F238E27FC236}">
                    <a16:creationId xmlns:a16="http://schemas.microsoft.com/office/drawing/2014/main" id="{63619457-58C7-1365-D642-634CC99B21CB}"/>
                  </a:ext>
                </a:extLst>
              </p:cNvPr>
              <p:cNvSpPr/>
              <p:nvPr/>
            </p:nvSpPr>
            <p:spPr>
              <a:xfrm>
                <a:off x="817287" y="5114971"/>
                <a:ext cx="259254" cy="121916"/>
              </a:xfrm>
              <a:prstGeom prst="trapezoid">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ff-page Connector 37">
                <a:extLst>
                  <a:ext uri="{FF2B5EF4-FFF2-40B4-BE49-F238E27FC236}">
                    <a16:creationId xmlns:a16="http://schemas.microsoft.com/office/drawing/2014/main" id="{6C0DC1A2-A8DA-6EB5-3C3C-F9847550269A}"/>
                  </a:ext>
                </a:extLst>
              </p:cNvPr>
              <p:cNvSpPr/>
              <p:nvPr/>
            </p:nvSpPr>
            <p:spPr>
              <a:xfrm>
                <a:off x="690350" y="5114971"/>
                <a:ext cx="319638" cy="313765"/>
              </a:xfrm>
              <a:prstGeom prst="flowChartOffpageConnector">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2</a:t>
                </a:r>
              </a:p>
            </p:txBody>
          </p:sp>
        </p:grpSp>
        <p:sp>
          <p:nvSpPr>
            <p:cNvPr id="69" name="TextBox 68">
              <a:extLst>
                <a:ext uri="{FF2B5EF4-FFF2-40B4-BE49-F238E27FC236}">
                  <a16:creationId xmlns:a16="http://schemas.microsoft.com/office/drawing/2014/main" id="{447BFFFC-A565-0D42-17B9-CB0754DCE08E}"/>
                </a:ext>
              </a:extLst>
            </p:cNvPr>
            <p:cNvSpPr txBox="1"/>
            <p:nvPr/>
          </p:nvSpPr>
          <p:spPr>
            <a:xfrm>
              <a:off x="3515390" y="2672147"/>
              <a:ext cx="5181841" cy="430887"/>
            </a:xfrm>
            <a:prstGeom prst="rect">
              <a:avLst/>
            </a:prstGeom>
            <a:noFill/>
          </p:spPr>
          <p:txBody>
            <a:bodyPr wrap="square" rtlCol="0">
              <a:spAutoFit/>
            </a:bodyPr>
            <a:lstStyle/>
            <a:p>
              <a:r>
                <a:rPr lang="en-US" sz="1200" b="1" i="1">
                  <a:latin typeface="Times New Roman" panose="02020603050405020304" pitchFamily="18" charset="0"/>
                  <a:cs typeface="Times New Roman" panose="02020603050405020304" pitchFamily="18" charset="0"/>
                </a:rPr>
                <a:t>Transparency</a:t>
              </a:r>
            </a:p>
            <a:p>
              <a:r>
                <a:rPr lang="en-US" sz="1000">
                  <a:latin typeface="Times New Roman" panose="02020603050405020304" pitchFamily="18" charset="0"/>
                  <a:cs typeface="Times New Roman" panose="02020603050405020304" pitchFamily="18" charset="0"/>
                </a:rPr>
                <a:t>Does the program include transparency measures for use of  AI systems or AI-related advocacy? </a:t>
              </a:r>
            </a:p>
          </p:txBody>
        </p:sp>
      </p:grpSp>
      <p:grpSp>
        <p:nvGrpSpPr>
          <p:cNvPr id="5" name="Group 4">
            <a:extLst>
              <a:ext uri="{FF2B5EF4-FFF2-40B4-BE49-F238E27FC236}">
                <a16:creationId xmlns:a16="http://schemas.microsoft.com/office/drawing/2014/main" id="{7717CFE7-A628-A074-B48F-8CC4A7EC3301}"/>
              </a:ext>
            </a:extLst>
          </p:cNvPr>
          <p:cNvGrpSpPr/>
          <p:nvPr/>
        </p:nvGrpSpPr>
        <p:grpSpPr>
          <a:xfrm>
            <a:off x="3082257" y="2954054"/>
            <a:ext cx="6177476" cy="558708"/>
            <a:chOff x="3082257" y="3177115"/>
            <a:chExt cx="6177476" cy="558708"/>
          </a:xfrm>
        </p:grpSpPr>
        <p:sp>
          <p:nvSpPr>
            <p:cNvPr id="13" name="Pentagon 12">
              <a:extLst>
                <a:ext uri="{FF2B5EF4-FFF2-40B4-BE49-F238E27FC236}">
                  <a16:creationId xmlns:a16="http://schemas.microsoft.com/office/drawing/2014/main" id="{8C35E2F2-39F2-B2CF-8AA5-DEAD1FED9FED}"/>
                </a:ext>
              </a:extLst>
            </p:cNvPr>
            <p:cNvSpPr/>
            <p:nvPr/>
          </p:nvSpPr>
          <p:spPr>
            <a:xfrm>
              <a:off x="3082257" y="3267364"/>
              <a:ext cx="6177476" cy="468459"/>
            </a:xfrm>
            <a:prstGeom prst="homePlate">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933CDCE2-6D6D-4FFF-7403-ACFDD14AB917}"/>
                </a:ext>
              </a:extLst>
            </p:cNvPr>
            <p:cNvGrpSpPr/>
            <p:nvPr/>
          </p:nvGrpSpPr>
          <p:grpSpPr>
            <a:xfrm>
              <a:off x="3162049" y="3177115"/>
              <a:ext cx="386191" cy="313765"/>
              <a:chOff x="690350" y="5114971"/>
              <a:chExt cx="386191" cy="313765"/>
            </a:xfrm>
          </p:grpSpPr>
          <p:sp>
            <p:nvSpPr>
              <p:cNvPr id="40" name="Trapezium 39">
                <a:extLst>
                  <a:ext uri="{FF2B5EF4-FFF2-40B4-BE49-F238E27FC236}">
                    <a16:creationId xmlns:a16="http://schemas.microsoft.com/office/drawing/2014/main" id="{A7C7F9BC-8596-8EE8-D0A6-19AA0E53733D}"/>
                  </a:ext>
                </a:extLst>
              </p:cNvPr>
              <p:cNvSpPr/>
              <p:nvPr/>
            </p:nvSpPr>
            <p:spPr>
              <a:xfrm>
                <a:off x="817287" y="5114971"/>
                <a:ext cx="259254" cy="121916"/>
              </a:xfrm>
              <a:prstGeom prst="trapezoid">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ff-page Connector 40">
                <a:extLst>
                  <a:ext uri="{FF2B5EF4-FFF2-40B4-BE49-F238E27FC236}">
                    <a16:creationId xmlns:a16="http://schemas.microsoft.com/office/drawing/2014/main" id="{4292E94C-8139-978E-F5E7-7565EAADA472}"/>
                  </a:ext>
                </a:extLst>
              </p:cNvPr>
              <p:cNvSpPr/>
              <p:nvPr/>
            </p:nvSpPr>
            <p:spPr>
              <a:xfrm>
                <a:off x="690350" y="5114971"/>
                <a:ext cx="319638" cy="313765"/>
              </a:xfrm>
              <a:prstGeom prst="flowChartOffpageConnector">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3</a:t>
                </a:r>
              </a:p>
            </p:txBody>
          </p:sp>
        </p:grpSp>
        <p:sp>
          <p:nvSpPr>
            <p:cNvPr id="70" name="TextBox 69">
              <a:extLst>
                <a:ext uri="{FF2B5EF4-FFF2-40B4-BE49-F238E27FC236}">
                  <a16:creationId xmlns:a16="http://schemas.microsoft.com/office/drawing/2014/main" id="{4C454053-2362-AC59-798E-57C57A7A73F4}"/>
                </a:ext>
              </a:extLst>
            </p:cNvPr>
            <p:cNvSpPr txBox="1"/>
            <p:nvPr/>
          </p:nvSpPr>
          <p:spPr>
            <a:xfrm>
              <a:off x="3515390" y="3251033"/>
              <a:ext cx="5225749" cy="430887"/>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Accountability and Democratic Oversight</a:t>
              </a:r>
            </a:p>
            <a:p>
              <a:r>
                <a:rPr lang="en-US" sz="1000" dirty="0">
                  <a:latin typeface="Times New Roman" panose="02020603050405020304" pitchFamily="18" charset="0"/>
                  <a:cs typeface="Times New Roman" panose="02020603050405020304" pitchFamily="18" charset="0"/>
                </a:rPr>
                <a:t>Does the program include accountability measures for use AI systems or AI-related advocacy? </a:t>
              </a:r>
            </a:p>
          </p:txBody>
        </p:sp>
      </p:grpSp>
      <p:grpSp>
        <p:nvGrpSpPr>
          <p:cNvPr id="10" name="Group 9">
            <a:extLst>
              <a:ext uri="{FF2B5EF4-FFF2-40B4-BE49-F238E27FC236}">
                <a16:creationId xmlns:a16="http://schemas.microsoft.com/office/drawing/2014/main" id="{69D01CA9-5E75-8EA8-4465-9B7F90CEC2C5}"/>
              </a:ext>
            </a:extLst>
          </p:cNvPr>
          <p:cNvGrpSpPr/>
          <p:nvPr/>
        </p:nvGrpSpPr>
        <p:grpSpPr>
          <a:xfrm>
            <a:off x="3082256" y="3565286"/>
            <a:ext cx="6268525" cy="563464"/>
            <a:chOff x="3082256" y="3740344"/>
            <a:chExt cx="6268525" cy="563464"/>
          </a:xfrm>
        </p:grpSpPr>
        <p:sp>
          <p:nvSpPr>
            <p:cNvPr id="15" name="Pentagon 14">
              <a:extLst>
                <a:ext uri="{FF2B5EF4-FFF2-40B4-BE49-F238E27FC236}">
                  <a16:creationId xmlns:a16="http://schemas.microsoft.com/office/drawing/2014/main" id="{C04E2E37-6297-9239-6EE4-F9DEE30794B8}"/>
                </a:ext>
              </a:extLst>
            </p:cNvPr>
            <p:cNvSpPr/>
            <p:nvPr/>
          </p:nvSpPr>
          <p:spPr>
            <a:xfrm>
              <a:off x="3082256" y="3835349"/>
              <a:ext cx="6177476" cy="468459"/>
            </a:xfrm>
            <a:prstGeom prst="homePlate">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E1D61848-6855-2F71-6961-085E1ECFF0BC}"/>
                </a:ext>
              </a:extLst>
            </p:cNvPr>
            <p:cNvGrpSpPr/>
            <p:nvPr/>
          </p:nvGrpSpPr>
          <p:grpSpPr>
            <a:xfrm>
              <a:off x="3162049" y="3740344"/>
              <a:ext cx="386191" cy="313765"/>
              <a:chOff x="690350" y="5114971"/>
              <a:chExt cx="386191" cy="313765"/>
            </a:xfrm>
          </p:grpSpPr>
          <p:sp>
            <p:nvSpPr>
              <p:cNvPr id="49" name="Trapezium 48">
                <a:extLst>
                  <a:ext uri="{FF2B5EF4-FFF2-40B4-BE49-F238E27FC236}">
                    <a16:creationId xmlns:a16="http://schemas.microsoft.com/office/drawing/2014/main" id="{4E120789-C1CF-E20B-F8AF-22E39FBC9AC2}"/>
                  </a:ext>
                </a:extLst>
              </p:cNvPr>
              <p:cNvSpPr/>
              <p:nvPr/>
            </p:nvSpPr>
            <p:spPr>
              <a:xfrm>
                <a:off x="817287" y="5114971"/>
                <a:ext cx="259254" cy="121916"/>
              </a:xfrm>
              <a:prstGeom prst="trapezoid">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ff-page Connector 49">
                <a:extLst>
                  <a:ext uri="{FF2B5EF4-FFF2-40B4-BE49-F238E27FC236}">
                    <a16:creationId xmlns:a16="http://schemas.microsoft.com/office/drawing/2014/main" id="{227E1DD7-AE1A-6EC8-86EE-E7F5DF61795A}"/>
                  </a:ext>
                </a:extLst>
              </p:cNvPr>
              <p:cNvSpPr/>
              <p:nvPr/>
            </p:nvSpPr>
            <p:spPr>
              <a:xfrm>
                <a:off x="690350" y="5114971"/>
                <a:ext cx="319638" cy="313765"/>
              </a:xfrm>
              <a:prstGeom prst="flowChartOffpageConnector">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4</a:t>
                </a:r>
              </a:p>
            </p:txBody>
          </p:sp>
        </p:grpSp>
        <p:sp>
          <p:nvSpPr>
            <p:cNvPr id="72" name="TextBox 71">
              <a:extLst>
                <a:ext uri="{FF2B5EF4-FFF2-40B4-BE49-F238E27FC236}">
                  <a16:creationId xmlns:a16="http://schemas.microsoft.com/office/drawing/2014/main" id="{1FD05000-6FC3-262F-2909-FFB015F53F78}"/>
                </a:ext>
              </a:extLst>
            </p:cNvPr>
            <p:cNvSpPr txBox="1"/>
            <p:nvPr/>
          </p:nvSpPr>
          <p:spPr>
            <a:xfrm>
              <a:off x="3515390" y="3829919"/>
              <a:ext cx="5835391" cy="430887"/>
            </a:xfrm>
            <a:prstGeom prst="rect">
              <a:avLst/>
            </a:prstGeom>
            <a:noFill/>
          </p:spPr>
          <p:txBody>
            <a:bodyPr wrap="square">
              <a:spAutoFit/>
            </a:bodyPr>
            <a:lstStyle/>
            <a:p>
              <a:pPr defTabSz="742950">
                <a:defRPr/>
              </a:pPr>
              <a:r>
                <a:rPr lang="en-US" sz="1200" b="1" i="1">
                  <a:solidFill>
                    <a:prstClr val="black"/>
                  </a:solidFill>
                  <a:latin typeface="Times New Roman" panose="02020603050405020304" pitchFamily="18" charset="0"/>
                  <a:cs typeface="Times New Roman" panose="02020603050405020304" pitchFamily="18" charset="0"/>
                </a:rPr>
                <a:t>Building Institutional &amp; Social Capacity</a:t>
              </a:r>
            </a:p>
            <a:p>
              <a:pPr defTabSz="742950">
                <a:defRPr/>
              </a:pPr>
              <a:r>
                <a:rPr lang="en-US" sz="1000">
                  <a:solidFill>
                    <a:prstClr val="black"/>
                  </a:solidFill>
                  <a:latin typeface="Times New Roman" panose="02020603050405020304" pitchFamily="18" charset="0"/>
                  <a:cs typeface="Times New Roman" panose="02020603050405020304" pitchFamily="18" charset="0"/>
                </a:rPr>
                <a:t>Does the program include objectives to build institutional and social capacity for responsible AI use?</a:t>
              </a:r>
            </a:p>
          </p:txBody>
        </p:sp>
      </p:grpSp>
      <p:grpSp>
        <p:nvGrpSpPr>
          <p:cNvPr id="73" name="Group 72">
            <a:extLst>
              <a:ext uri="{FF2B5EF4-FFF2-40B4-BE49-F238E27FC236}">
                <a16:creationId xmlns:a16="http://schemas.microsoft.com/office/drawing/2014/main" id="{0BB326DC-A573-1F89-7D94-FF0E2A693296}"/>
              </a:ext>
            </a:extLst>
          </p:cNvPr>
          <p:cNvGrpSpPr/>
          <p:nvPr/>
        </p:nvGrpSpPr>
        <p:grpSpPr>
          <a:xfrm>
            <a:off x="742952" y="6420753"/>
            <a:ext cx="3367960" cy="192360"/>
            <a:chOff x="914400" y="6532921"/>
            <a:chExt cx="4145172" cy="236750"/>
          </a:xfrm>
        </p:grpSpPr>
        <p:sp>
          <p:nvSpPr>
            <p:cNvPr id="74" name="Round Same-side Corner of Rectangle 73">
              <a:extLst>
                <a:ext uri="{FF2B5EF4-FFF2-40B4-BE49-F238E27FC236}">
                  <a16:creationId xmlns:a16="http://schemas.microsoft.com/office/drawing/2014/main" id="{5FAAD3A6-A153-7A52-188C-A7A1FB29EB29}"/>
                </a:ext>
              </a:extLst>
            </p:cNvPr>
            <p:cNvSpPr/>
            <p:nvPr/>
          </p:nvSpPr>
          <p:spPr>
            <a:xfrm>
              <a:off x="914400" y="6532921"/>
              <a:ext cx="125260" cy="187891"/>
            </a:xfrm>
            <a:prstGeom prst="round2SameRect">
              <a:avLst/>
            </a:prstGeom>
            <a:solidFill>
              <a:schemeClr val="accent6">
                <a:lumMod val="40000"/>
                <a:lumOff val="60000"/>
                <a:alpha val="6330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75" name="Round Same-side Corner of Rectangle 74">
              <a:extLst>
                <a:ext uri="{FF2B5EF4-FFF2-40B4-BE49-F238E27FC236}">
                  <a16:creationId xmlns:a16="http://schemas.microsoft.com/office/drawing/2014/main" id="{218D6477-DD1E-7B2F-697B-D889E7CCC45C}"/>
                </a:ext>
              </a:extLst>
            </p:cNvPr>
            <p:cNvSpPr/>
            <p:nvPr/>
          </p:nvSpPr>
          <p:spPr>
            <a:xfrm>
              <a:off x="2915731" y="6532921"/>
              <a:ext cx="125260" cy="187891"/>
            </a:xfrm>
            <a:prstGeom prst="round2SameRect">
              <a:avLst/>
            </a:prstGeom>
            <a:solidFill>
              <a:schemeClr val="accent4">
                <a:lumMod val="40000"/>
                <a:lumOff val="60000"/>
                <a:alpha val="3127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76" name="TextBox 75">
              <a:extLst>
                <a:ext uri="{FF2B5EF4-FFF2-40B4-BE49-F238E27FC236}">
                  <a16:creationId xmlns:a16="http://schemas.microsoft.com/office/drawing/2014/main" id="{85E878B1-BF19-705C-FF39-49D6CE61255D}"/>
                </a:ext>
              </a:extLst>
            </p:cNvPr>
            <p:cNvSpPr txBox="1"/>
            <p:nvPr/>
          </p:nvSpPr>
          <p:spPr>
            <a:xfrm>
              <a:off x="1055195" y="6532921"/>
              <a:ext cx="2018581" cy="236750"/>
            </a:xfrm>
            <a:prstGeom prst="rect">
              <a:avLst/>
            </a:prstGeom>
            <a:noFill/>
          </p:spPr>
          <p:txBody>
            <a:bodyPr wrap="square" rtlCol="0">
              <a:spAutoFit/>
            </a:bodyPr>
            <a:lstStyle/>
            <a:p>
              <a:r>
                <a:rPr lang="en-US" sz="650" i="1">
                  <a:latin typeface="Times New Roman" panose="02020603050405020304" pitchFamily="18" charset="0"/>
                  <a:cs typeface="Times New Roman" panose="02020603050405020304" pitchFamily="18" charset="0"/>
                </a:rPr>
                <a:t>Program level criteria</a:t>
              </a:r>
            </a:p>
          </p:txBody>
        </p:sp>
        <p:sp>
          <p:nvSpPr>
            <p:cNvPr id="88" name="TextBox 87">
              <a:extLst>
                <a:ext uri="{FF2B5EF4-FFF2-40B4-BE49-F238E27FC236}">
                  <a16:creationId xmlns:a16="http://schemas.microsoft.com/office/drawing/2014/main" id="{B33F2AEC-132A-C95F-4AED-173CECA52E22}"/>
                </a:ext>
              </a:extLst>
            </p:cNvPr>
            <p:cNvSpPr txBox="1"/>
            <p:nvPr/>
          </p:nvSpPr>
          <p:spPr>
            <a:xfrm>
              <a:off x="3040991" y="6532921"/>
              <a:ext cx="2018581" cy="236750"/>
            </a:xfrm>
            <a:prstGeom prst="rect">
              <a:avLst/>
            </a:prstGeom>
            <a:noFill/>
          </p:spPr>
          <p:txBody>
            <a:bodyPr wrap="square" rtlCol="0">
              <a:spAutoFit/>
            </a:bodyPr>
            <a:lstStyle/>
            <a:p>
              <a:r>
                <a:rPr lang="en-US" sz="650" i="1">
                  <a:latin typeface="Times New Roman" panose="02020603050405020304" pitchFamily="18" charset="0"/>
                  <a:cs typeface="Times New Roman" panose="02020603050405020304" pitchFamily="18" charset="0"/>
                </a:rPr>
                <a:t>Partner level criteria</a:t>
              </a:r>
            </a:p>
          </p:txBody>
        </p:sp>
      </p:grpSp>
      <p:grpSp>
        <p:nvGrpSpPr>
          <p:cNvPr id="14" name="Group 13">
            <a:extLst>
              <a:ext uri="{FF2B5EF4-FFF2-40B4-BE49-F238E27FC236}">
                <a16:creationId xmlns:a16="http://schemas.microsoft.com/office/drawing/2014/main" id="{8A6059EC-73C5-2968-40A4-7B8F5F026110}"/>
              </a:ext>
            </a:extLst>
          </p:cNvPr>
          <p:cNvGrpSpPr/>
          <p:nvPr/>
        </p:nvGrpSpPr>
        <p:grpSpPr>
          <a:xfrm>
            <a:off x="3082255" y="4181274"/>
            <a:ext cx="6177476" cy="568219"/>
            <a:chOff x="3082255" y="4303573"/>
            <a:chExt cx="6177476" cy="568219"/>
          </a:xfrm>
        </p:grpSpPr>
        <p:sp>
          <p:nvSpPr>
            <p:cNvPr id="16" name="Pentagon 15">
              <a:extLst>
                <a:ext uri="{FF2B5EF4-FFF2-40B4-BE49-F238E27FC236}">
                  <a16:creationId xmlns:a16="http://schemas.microsoft.com/office/drawing/2014/main" id="{A264E097-84ED-0B2E-C625-5DEC039764FA}"/>
                </a:ext>
              </a:extLst>
            </p:cNvPr>
            <p:cNvSpPr/>
            <p:nvPr/>
          </p:nvSpPr>
          <p:spPr>
            <a:xfrm>
              <a:off x="3082255" y="4403333"/>
              <a:ext cx="6177476" cy="468459"/>
            </a:xfrm>
            <a:prstGeom prst="homePlate">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B0161C0C-D358-7832-C0C4-F3C2F38D372D}"/>
                </a:ext>
              </a:extLst>
            </p:cNvPr>
            <p:cNvGrpSpPr/>
            <p:nvPr/>
          </p:nvGrpSpPr>
          <p:grpSpPr>
            <a:xfrm>
              <a:off x="3162049" y="4303573"/>
              <a:ext cx="386191" cy="313765"/>
              <a:chOff x="690350" y="5114971"/>
              <a:chExt cx="386191" cy="313765"/>
            </a:xfrm>
          </p:grpSpPr>
          <p:sp>
            <p:nvSpPr>
              <p:cNvPr id="52" name="Trapezium 51">
                <a:extLst>
                  <a:ext uri="{FF2B5EF4-FFF2-40B4-BE49-F238E27FC236}">
                    <a16:creationId xmlns:a16="http://schemas.microsoft.com/office/drawing/2014/main" id="{1468CC5F-EEC2-97EC-FE33-88FDD52B4EE1}"/>
                  </a:ext>
                </a:extLst>
              </p:cNvPr>
              <p:cNvSpPr/>
              <p:nvPr/>
            </p:nvSpPr>
            <p:spPr>
              <a:xfrm>
                <a:off x="817287" y="5114971"/>
                <a:ext cx="259254" cy="121916"/>
              </a:xfrm>
              <a:prstGeom prst="trapezoid">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ff-page Connector 52">
                <a:extLst>
                  <a:ext uri="{FF2B5EF4-FFF2-40B4-BE49-F238E27FC236}">
                    <a16:creationId xmlns:a16="http://schemas.microsoft.com/office/drawing/2014/main" id="{88D11EBF-5415-D9B9-2F0E-45C0F3DCD8C4}"/>
                  </a:ext>
                </a:extLst>
              </p:cNvPr>
              <p:cNvSpPr/>
              <p:nvPr/>
            </p:nvSpPr>
            <p:spPr>
              <a:xfrm>
                <a:off x="690350" y="5114971"/>
                <a:ext cx="319638" cy="313765"/>
              </a:xfrm>
              <a:prstGeom prst="flowChartOffpageConnector">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5</a:t>
                </a:r>
              </a:p>
            </p:txBody>
          </p:sp>
        </p:grpSp>
        <p:sp>
          <p:nvSpPr>
            <p:cNvPr id="90" name="TextBox 89">
              <a:extLst>
                <a:ext uri="{FF2B5EF4-FFF2-40B4-BE49-F238E27FC236}">
                  <a16:creationId xmlns:a16="http://schemas.microsoft.com/office/drawing/2014/main" id="{21DF7200-F763-B1C7-C97C-FA8CCEEBD62E}"/>
                </a:ext>
              </a:extLst>
            </p:cNvPr>
            <p:cNvSpPr txBox="1"/>
            <p:nvPr/>
          </p:nvSpPr>
          <p:spPr>
            <a:xfrm>
              <a:off x="3515390" y="4408805"/>
              <a:ext cx="4977828" cy="430887"/>
            </a:xfrm>
            <a:prstGeom prst="rect">
              <a:avLst/>
            </a:prstGeom>
            <a:noFill/>
          </p:spPr>
          <p:txBody>
            <a:bodyPr wrap="square">
              <a:spAutoFit/>
            </a:bodyPr>
            <a:lstStyle/>
            <a:p>
              <a:r>
                <a:rPr lang="en-US" sz="1200" b="1" i="1">
                  <a:latin typeface="Times New Roman" panose="02020603050405020304" pitchFamily="18" charset="0"/>
                  <a:cs typeface="Times New Roman" panose="02020603050405020304" pitchFamily="18" charset="0"/>
                </a:rPr>
                <a:t>Financial Sustainability</a:t>
              </a:r>
            </a:p>
            <a:p>
              <a:r>
                <a:rPr lang="en-US" sz="1000">
                  <a:latin typeface="Times New Roman" panose="02020603050405020304" pitchFamily="18" charset="0"/>
                  <a:cs typeface="Times New Roman" panose="02020603050405020304" pitchFamily="18" charset="0"/>
                </a:rPr>
                <a:t>Does the program demonstrate financial viability, and room for co-funding opportunities?</a:t>
              </a:r>
            </a:p>
          </p:txBody>
        </p:sp>
      </p:grpSp>
      <p:grpSp>
        <p:nvGrpSpPr>
          <p:cNvPr id="20" name="Group 19">
            <a:extLst>
              <a:ext uri="{FF2B5EF4-FFF2-40B4-BE49-F238E27FC236}">
                <a16:creationId xmlns:a16="http://schemas.microsoft.com/office/drawing/2014/main" id="{FEB79A2D-8586-7746-873B-AF1931BE210F}"/>
              </a:ext>
            </a:extLst>
          </p:cNvPr>
          <p:cNvGrpSpPr/>
          <p:nvPr/>
        </p:nvGrpSpPr>
        <p:grpSpPr>
          <a:xfrm>
            <a:off x="3082253" y="4802017"/>
            <a:ext cx="6177476" cy="574351"/>
            <a:chOff x="3082253" y="4865425"/>
            <a:chExt cx="6177476" cy="574351"/>
          </a:xfrm>
        </p:grpSpPr>
        <p:sp>
          <p:nvSpPr>
            <p:cNvPr id="17" name="Pentagon 16">
              <a:extLst>
                <a:ext uri="{FF2B5EF4-FFF2-40B4-BE49-F238E27FC236}">
                  <a16:creationId xmlns:a16="http://schemas.microsoft.com/office/drawing/2014/main" id="{EE0BA5D4-9DDA-E789-71FC-919DFA1A3511}"/>
                </a:ext>
              </a:extLst>
            </p:cNvPr>
            <p:cNvSpPr/>
            <p:nvPr/>
          </p:nvSpPr>
          <p:spPr>
            <a:xfrm>
              <a:off x="3082253" y="4971317"/>
              <a:ext cx="6177476" cy="468459"/>
            </a:xfrm>
            <a:prstGeom prst="homePlate">
              <a:avLst/>
            </a:prstGeom>
            <a:solidFill>
              <a:srgbClr val="E0F2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EB2815CC-2C80-AC5E-A17B-01826C3CC028}"/>
                </a:ext>
              </a:extLst>
            </p:cNvPr>
            <p:cNvSpPr txBox="1"/>
            <p:nvPr/>
          </p:nvSpPr>
          <p:spPr>
            <a:xfrm>
              <a:off x="3515390" y="4987691"/>
              <a:ext cx="5440405" cy="430887"/>
            </a:xfrm>
            <a:prstGeom prst="rect">
              <a:avLst/>
            </a:prstGeom>
            <a:noFill/>
          </p:spPr>
          <p:txBody>
            <a:bodyPr wrap="square" rtlCol="0">
              <a:spAutoFit/>
            </a:bodyPr>
            <a:lstStyle/>
            <a:p>
              <a:r>
                <a:rPr lang="en-US" sz="1200" b="1" i="1">
                  <a:latin typeface="Times New Roman" panose="02020603050405020304" pitchFamily="18" charset="0"/>
                  <a:cs typeface="Times New Roman" panose="02020603050405020304" pitchFamily="18" charset="0"/>
                </a:rPr>
                <a:t>Technical Capability and Track Record</a:t>
              </a:r>
            </a:p>
            <a:p>
              <a:r>
                <a:rPr lang="en-US" sz="1000">
                  <a:latin typeface="Times New Roman" panose="02020603050405020304" pitchFamily="18" charset="0"/>
                  <a:cs typeface="Times New Roman" panose="02020603050405020304" pitchFamily="18" charset="0"/>
                </a:rPr>
                <a:t>Does the partner demonstrate technical capability and credibility? </a:t>
              </a:r>
            </a:p>
          </p:txBody>
        </p:sp>
        <p:grpSp>
          <p:nvGrpSpPr>
            <p:cNvPr id="93" name="Group 92">
              <a:extLst>
                <a:ext uri="{FF2B5EF4-FFF2-40B4-BE49-F238E27FC236}">
                  <a16:creationId xmlns:a16="http://schemas.microsoft.com/office/drawing/2014/main" id="{1C7531B2-0C7F-2DB5-1302-17B7EE7930F9}"/>
                </a:ext>
              </a:extLst>
            </p:cNvPr>
            <p:cNvGrpSpPr/>
            <p:nvPr/>
          </p:nvGrpSpPr>
          <p:grpSpPr>
            <a:xfrm>
              <a:off x="3162049" y="4865425"/>
              <a:ext cx="386191" cy="313765"/>
              <a:chOff x="690350" y="5114971"/>
              <a:chExt cx="386191" cy="313765"/>
            </a:xfrm>
          </p:grpSpPr>
          <p:sp>
            <p:nvSpPr>
              <p:cNvPr id="94" name="Trapezium 93">
                <a:extLst>
                  <a:ext uri="{FF2B5EF4-FFF2-40B4-BE49-F238E27FC236}">
                    <a16:creationId xmlns:a16="http://schemas.microsoft.com/office/drawing/2014/main" id="{0A83A62D-7464-2AFA-3AA0-A2515B854F65}"/>
                  </a:ext>
                </a:extLst>
              </p:cNvPr>
              <p:cNvSpPr/>
              <p:nvPr/>
            </p:nvSpPr>
            <p:spPr>
              <a:xfrm>
                <a:off x="817287" y="5114971"/>
                <a:ext cx="259254" cy="121916"/>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ff-page Connector 94">
                <a:extLst>
                  <a:ext uri="{FF2B5EF4-FFF2-40B4-BE49-F238E27FC236}">
                    <a16:creationId xmlns:a16="http://schemas.microsoft.com/office/drawing/2014/main" id="{BCD18955-5BED-73E0-1857-5D1AAF8E2E33}"/>
                  </a:ext>
                </a:extLst>
              </p:cNvPr>
              <p:cNvSpPr/>
              <p:nvPr/>
            </p:nvSpPr>
            <p:spPr>
              <a:xfrm>
                <a:off x="690350" y="5114971"/>
                <a:ext cx="319638" cy="313765"/>
              </a:xfrm>
              <a:prstGeom prst="flowChartOffpageConnector">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6</a:t>
                </a:r>
              </a:p>
            </p:txBody>
          </p:sp>
        </p:grpSp>
      </p:grpSp>
      <p:grpSp>
        <p:nvGrpSpPr>
          <p:cNvPr id="22" name="Group 21">
            <a:extLst>
              <a:ext uri="{FF2B5EF4-FFF2-40B4-BE49-F238E27FC236}">
                <a16:creationId xmlns:a16="http://schemas.microsoft.com/office/drawing/2014/main" id="{C7A1B905-9F31-E376-AF34-A6817F2F62F9}"/>
              </a:ext>
            </a:extLst>
          </p:cNvPr>
          <p:cNvGrpSpPr/>
          <p:nvPr/>
        </p:nvGrpSpPr>
        <p:grpSpPr>
          <a:xfrm>
            <a:off x="3082252" y="5428895"/>
            <a:ext cx="6177476" cy="578865"/>
            <a:chOff x="3082252" y="5428895"/>
            <a:chExt cx="6177476" cy="578865"/>
          </a:xfrm>
        </p:grpSpPr>
        <p:sp>
          <p:nvSpPr>
            <p:cNvPr id="18" name="Pentagon 17">
              <a:extLst>
                <a:ext uri="{FF2B5EF4-FFF2-40B4-BE49-F238E27FC236}">
                  <a16:creationId xmlns:a16="http://schemas.microsoft.com/office/drawing/2014/main" id="{393FED80-1D1F-3F58-F8C3-652C280E2CD5}"/>
                </a:ext>
              </a:extLst>
            </p:cNvPr>
            <p:cNvSpPr/>
            <p:nvPr/>
          </p:nvSpPr>
          <p:spPr>
            <a:xfrm>
              <a:off x="3082252" y="5539301"/>
              <a:ext cx="6177476" cy="468459"/>
            </a:xfrm>
            <a:prstGeom prst="homePlate">
              <a:avLst/>
            </a:prstGeom>
            <a:solidFill>
              <a:srgbClr val="E0F2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42743498-1951-A508-273F-EC68C03D9FB5}"/>
                </a:ext>
              </a:extLst>
            </p:cNvPr>
            <p:cNvSpPr txBox="1"/>
            <p:nvPr/>
          </p:nvSpPr>
          <p:spPr>
            <a:xfrm>
              <a:off x="3515390" y="5566575"/>
              <a:ext cx="5348500" cy="430887"/>
            </a:xfrm>
            <a:prstGeom prst="rect">
              <a:avLst/>
            </a:prstGeom>
            <a:noFill/>
          </p:spPr>
          <p:txBody>
            <a:bodyPr wrap="square" rtlCol="0">
              <a:spAutoFit/>
            </a:bodyPr>
            <a:lstStyle/>
            <a:p>
              <a:r>
                <a:rPr lang="en-US" sz="1200" b="1" i="1">
                  <a:latin typeface="Times New Roman" panose="02020603050405020304" pitchFamily="18" charset="0"/>
                  <a:cs typeface="Times New Roman" panose="02020603050405020304" pitchFamily="18" charset="0"/>
                </a:rPr>
                <a:t>Institutional Strength</a:t>
              </a:r>
            </a:p>
            <a:p>
              <a:r>
                <a:rPr lang="en-US" sz="1000">
                  <a:latin typeface="Times New Roman" panose="02020603050405020304" pitchFamily="18" charset="0"/>
                  <a:cs typeface="Times New Roman" panose="02020603050405020304" pitchFamily="18" charset="0"/>
                </a:rPr>
                <a:t>Does the partner demonstrate organizational stability, operational credibility, and transparency? </a:t>
              </a:r>
            </a:p>
          </p:txBody>
        </p:sp>
        <p:grpSp>
          <p:nvGrpSpPr>
            <p:cNvPr id="96" name="Group 95">
              <a:extLst>
                <a:ext uri="{FF2B5EF4-FFF2-40B4-BE49-F238E27FC236}">
                  <a16:creationId xmlns:a16="http://schemas.microsoft.com/office/drawing/2014/main" id="{75155DCD-BFBE-8505-B644-F993D9060E5B}"/>
                </a:ext>
              </a:extLst>
            </p:cNvPr>
            <p:cNvGrpSpPr/>
            <p:nvPr/>
          </p:nvGrpSpPr>
          <p:grpSpPr>
            <a:xfrm>
              <a:off x="3162049" y="5428895"/>
              <a:ext cx="386191" cy="313765"/>
              <a:chOff x="690350" y="5114971"/>
              <a:chExt cx="386191" cy="313765"/>
            </a:xfrm>
          </p:grpSpPr>
          <p:sp>
            <p:nvSpPr>
              <p:cNvPr id="97" name="Trapezium 96">
                <a:extLst>
                  <a:ext uri="{FF2B5EF4-FFF2-40B4-BE49-F238E27FC236}">
                    <a16:creationId xmlns:a16="http://schemas.microsoft.com/office/drawing/2014/main" id="{7B8674DC-B71E-B104-1585-819799BA6BE6}"/>
                  </a:ext>
                </a:extLst>
              </p:cNvPr>
              <p:cNvSpPr/>
              <p:nvPr/>
            </p:nvSpPr>
            <p:spPr>
              <a:xfrm>
                <a:off x="817287" y="5114971"/>
                <a:ext cx="259254" cy="121916"/>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ff-page Connector 97">
                <a:extLst>
                  <a:ext uri="{FF2B5EF4-FFF2-40B4-BE49-F238E27FC236}">
                    <a16:creationId xmlns:a16="http://schemas.microsoft.com/office/drawing/2014/main" id="{05843964-F268-3785-CCD1-CF8FAE92627F}"/>
                  </a:ext>
                </a:extLst>
              </p:cNvPr>
              <p:cNvSpPr/>
              <p:nvPr/>
            </p:nvSpPr>
            <p:spPr>
              <a:xfrm>
                <a:off x="690350" y="5114971"/>
                <a:ext cx="319638" cy="313765"/>
              </a:xfrm>
              <a:prstGeom prst="flowChartOffpageConnector">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7</a:t>
                </a:r>
              </a:p>
            </p:txBody>
          </p:sp>
        </p:grpSp>
      </p:grpSp>
      <p:cxnSp>
        <p:nvCxnSpPr>
          <p:cNvPr id="100" name="Straight Connector 99">
            <a:extLst>
              <a:ext uri="{FF2B5EF4-FFF2-40B4-BE49-F238E27FC236}">
                <a16:creationId xmlns:a16="http://schemas.microsoft.com/office/drawing/2014/main" id="{BC262ECE-F99D-E634-15A5-DD77441B5DE9}"/>
              </a:ext>
            </a:extLst>
          </p:cNvPr>
          <p:cNvCxnSpPr/>
          <p:nvPr/>
        </p:nvCxnSpPr>
        <p:spPr>
          <a:xfrm>
            <a:off x="3082252" y="1647806"/>
            <a:ext cx="6073471" cy="0"/>
          </a:xfrm>
          <a:prstGeom prst="line">
            <a:avLst/>
          </a:prstGeom>
          <a:ln w="9525">
            <a:headEnd type="oval" w="med" len="med"/>
            <a:tailEnd type="oval" w="med" len="med"/>
          </a:ln>
        </p:spPr>
        <p:style>
          <a:lnRef idx="2">
            <a:schemeClr val="accent3"/>
          </a:lnRef>
          <a:fillRef idx="0">
            <a:schemeClr val="accent3"/>
          </a:fillRef>
          <a:effectRef idx="1">
            <a:schemeClr val="accent3"/>
          </a:effectRef>
          <a:fontRef idx="minor">
            <a:schemeClr val="tx1"/>
          </a:fontRef>
        </p:style>
      </p:cxnSp>
      <p:sp>
        <p:nvSpPr>
          <p:cNvPr id="104" name="TextBox 103">
            <a:extLst>
              <a:ext uri="{FF2B5EF4-FFF2-40B4-BE49-F238E27FC236}">
                <a16:creationId xmlns:a16="http://schemas.microsoft.com/office/drawing/2014/main" id="{B5B88497-04A2-2B49-2C59-255EA6ABB52A}"/>
              </a:ext>
            </a:extLst>
          </p:cNvPr>
          <p:cNvSpPr txBox="1">
            <a:spLocks noChangeAspect="1"/>
          </p:cNvSpPr>
          <p:nvPr/>
        </p:nvSpPr>
        <p:spPr>
          <a:xfrm>
            <a:off x="3729326" y="1359237"/>
            <a:ext cx="4797876" cy="392937"/>
          </a:xfrm>
          <a:prstGeom prst="rect">
            <a:avLst/>
          </a:prstGeom>
          <a:noFill/>
        </p:spPr>
        <p:txBody>
          <a:bodyPr wrap="square" rtlCol="0">
            <a:noAutofit/>
          </a:bodyPr>
          <a:lstStyle/>
          <a:p>
            <a:pPr algn="ctr"/>
            <a:r>
              <a:rPr lang="en-US" sz="1300" b="1" dirty="0">
                <a:solidFill>
                  <a:schemeClr val="accent3"/>
                </a:solidFill>
                <a:latin typeface="Times New Roman" panose="02020603050405020304" pitchFamily="18" charset="0"/>
                <a:cs typeface="Times New Roman" panose="02020603050405020304" pitchFamily="18" charset="0"/>
              </a:rPr>
              <a:t>Evaluation Criteria</a:t>
            </a:r>
          </a:p>
        </p:txBody>
      </p:sp>
    </p:spTree>
    <p:extLst>
      <p:ext uri="{BB962C8B-B14F-4D97-AF65-F5344CB8AC3E}">
        <p14:creationId xmlns:p14="http://schemas.microsoft.com/office/powerpoint/2010/main" val="2858370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CED3C-3020-4074-6EE7-9ED2E6A10355}"/>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E5BD46DB-3FD8-F6DC-E0BF-1DFA88A3CC4C}"/>
              </a:ext>
            </a:extLst>
          </p:cNvPr>
          <p:cNvPicPr>
            <a:picLocks noChangeAspect="1"/>
          </p:cNvPicPr>
          <p:nvPr/>
        </p:nvPicPr>
        <p:blipFill>
          <a:blip r:embed="rId2"/>
          <a:srcRect l="13797" t="34445" r="12749"/>
          <a:stretch>
            <a:fillRect/>
          </a:stretch>
        </p:blipFill>
        <p:spPr>
          <a:xfrm>
            <a:off x="400062" y="1843790"/>
            <a:ext cx="9321259" cy="4297216"/>
          </a:xfrm>
          <a:prstGeom prst="rect">
            <a:avLst/>
          </a:prstGeom>
        </p:spPr>
      </p:pic>
      <p:sp>
        <p:nvSpPr>
          <p:cNvPr id="23" name="TextBox 8">
            <a:extLst>
              <a:ext uri="{FF2B5EF4-FFF2-40B4-BE49-F238E27FC236}">
                <a16:creationId xmlns:a16="http://schemas.microsoft.com/office/drawing/2014/main" id="{13B615D7-76BD-AEED-AFA8-CBD5F660724E}"/>
              </a:ext>
            </a:extLst>
          </p:cNvPr>
          <p:cNvSpPr txBox="1"/>
          <p:nvPr/>
        </p:nvSpPr>
        <p:spPr>
          <a:xfrm>
            <a:off x="511721" y="4777800"/>
            <a:ext cx="2194160" cy="1077218"/>
          </a:xfrm>
          <a:prstGeom prst="rect">
            <a:avLst/>
          </a:prstGeom>
        </p:spPr>
        <p:txBody>
          <a:bodyPr wrap="square" lIns="0" tIns="0" rIns="0" bIns="0" rtlCol="0" anchor="t">
            <a:spAutoFit/>
          </a:bodyPr>
          <a:lstStyle/>
          <a:p>
            <a:pPr algn="ctr">
              <a:lnSpc>
                <a:spcPts val="1162"/>
              </a:lnSpc>
            </a:pPr>
            <a:r>
              <a:rPr lang="en-US" sz="1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Incomplete Public-Sector Interview Coverage</a:t>
            </a:r>
          </a:p>
          <a:p>
            <a:pPr algn="ctr">
              <a:lnSpc>
                <a:spcPts val="1162"/>
              </a:lnSpc>
            </a:pPr>
            <a:endParaRPr lang="en-US" sz="1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ctr">
              <a:lnSpc>
                <a:spcPts val="1162"/>
              </a:lnSpc>
            </a:pPr>
            <a:r>
              <a:rPr lang="en-US" sz="1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Interviews skewed toward São Paulo and Rio, leaving federal bodies like ANPD and MCTI underrepresented</a:t>
            </a:r>
          </a:p>
        </p:txBody>
      </p:sp>
      <p:sp>
        <p:nvSpPr>
          <p:cNvPr id="24" name="TextBox 20">
            <a:extLst>
              <a:ext uri="{FF2B5EF4-FFF2-40B4-BE49-F238E27FC236}">
                <a16:creationId xmlns:a16="http://schemas.microsoft.com/office/drawing/2014/main" id="{E2DDBEF3-BC11-3E87-CED5-1CB4581471C3}"/>
              </a:ext>
            </a:extLst>
          </p:cNvPr>
          <p:cNvSpPr txBox="1"/>
          <p:nvPr/>
        </p:nvSpPr>
        <p:spPr>
          <a:xfrm>
            <a:off x="1432960" y="4223679"/>
            <a:ext cx="175841" cy="457305"/>
          </a:xfrm>
          <a:prstGeom prst="rect">
            <a:avLst/>
          </a:prstGeom>
        </p:spPr>
        <p:txBody>
          <a:bodyPr lIns="0" tIns="0" rIns="0" bIns="0" rtlCol="0" anchor="t">
            <a:spAutoFit/>
          </a:bodyPr>
          <a:lstStyle/>
          <a:p>
            <a:pPr algn="ctr">
              <a:lnSpc>
                <a:spcPts val="3797"/>
              </a:lnSpc>
            </a:pPr>
            <a:r>
              <a:rPr lang="en-US" sz="2712" b="1" dirty="0">
                <a:solidFill>
                  <a:srgbClr val="FFBE00"/>
                </a:solidFill>
                <a:latin typeface="Times New Roman Bold"/>
                <a:ea typeface="Times New Roman Bold"/>
                <a:cs typeface="Times New Roman Bold"/>
                <a:sym typeface="Times New Roman Bold"/>
              </a:rPr>
              <a:t>1</a:t>
            </a:r>
          </a:p>
        </p:txBody>
      </p:sp>
      <p:sp>
        <p:nvSpPr>
          <p:cNvPr id="25" name="TextBox 10">
            <a:extLst>
              <a:ext uri="{FF2B5EF4-FFF2-40B4-BE49-F238E27FC236}">
                <a16:creationId xmlns:a16="http://schemas.microsoft.com/office/drawing/2014/main" id="{3BC42EC1-C916-8FD6-24BF-F43102FECA9E}"/>
              </a:ext>
            </a:extLst>
          </p:cNvPr>
          <p:cNvSpPr txBox="1"/>
          <p:nvPr/>
        </p:nvSpPr>
        <p:spPr>
          <a:xfrm>
            <a:off x="650689" y="2810404"/>
            <a:ext cx="2288113" cy="923330"/>
          </a:xfrm>
          <a:prstGeom prst="rect">
            <a:avLst/>
          </a:prstGeom>
        </p:spPr>
        <p:txBody>
          <a:bodyPr wrap="square" lIns="0" tIns="0" rIns="0" bIns="0" rtlCol="0" anchor="t">
            <a:spAutoFit/>
          </a:bodyPr>
          <a:lstStyle/>
          <a:p>
            <a:pPr algn="ctr">
              <a:lnSpc>
                <a:spcPts val="1162"/>
              </a:lnSpc>
            </a:pPr>
            <a:r>
              <a:rPr lang="en-US" sz="1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The Election Year Constraint</a:t>
            </a:r>
          </a:p>
          <a:p>
            <a:pPr algn="ctr">
              <a:lnSpc>
                <a:spcPts val="1162"/>
              </a:lnSpc>
            </a:pPr>
            <a:endParaRPr lang="en-US" sz="1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ctr">
              <a:lnSpc>
                <a:spcPts val="1162"/>
              </a:lnSpc>
            </a:pPr>
            <a:r>
              <a:rPr lang="en-US" sz="1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Brazil’s 2026 pre-election climate limited criticism, so primary data may understate political and institutional issues</a:t>
            </a:r>
          </a:p>
        </p:txBody>
      </p:sp>
      <p:sp>
        <p:nvSpPr>
          <p:cNvPr id="26" name="TextBox 21">
            <a:extLst>
              <a:ext uri="{FF2B5EF4-FFF2-40B4-BE49-F238E27FC236}">
                <a16:creationId xmlns:a16="http://schemas.microsoft.com/office/drawing/2014/main" id="{8699BBE7-ED33-9BE7-8B70-98A60B199BDB}"/>
              </a:ext>
            </a:extLst>
          </p:cNvPr>
          <p:cNvSpPr txBox="1"/>
          <p:nvPr/>
        </p:nvSpPr>
        <p:spPr>
          <a:xfrm>
            <a:off x="1552228" y="2256283"/>
            <a:ext cx="242518" cy="457305"/>
          </a:xfrm>
          <a:prstGeom prst="rect">
            <a:avLst/>
          </a:prstGeom>
        </p:spPr>
        <p:txBody>
          <a:bodyPr lIns="0" tIns="0" rIns="0" bIns="0" rtlCol="0" anchor="t">
            <a:spAutoFit/>
          </a:bodyPr>
          <a:lstStyle/>
          <a:p>
            <a:pPr algn="ctr">
              <a:lnSpc>
                <a:spcPts val="3797"/>
              </a:lnSpc>
            </a:pPr>
            <a:r>
              <a:rPr lang="en-US" sz="2712" b="1" dirty="0">
                <a:solidFill>
                  <a:srgbClr val="FCD57B"/>
                </a:solidFill>
                <a:latin typeface="Times New Roman Bold"/>
                <a:ea typeface="Times New Roman Bold"/>
                <a:cs typeface="Times New Roman Bold"/>
                <a:sym typeface="Times New Roman Bold"/>
              </a:rPr>
              <a:t>2</a:t>
            </a:r>
          </a:p>
        </p:txBody>
      </p:sp>
      <p:sp>
        <p:nvSpPr>
          <p:cNvPr id="27" name="TextBox 12">
            <a:extLst>
              <a:ext uri="{FF2B5EF4-FFF2-40B4-BE49-F238E27FC236}">
                <a16:creationId xmlns:a16="http://schemas.microsoft.com/office/drawing/2014/main" id="{F4EE848E-35D9-F305-39CA-2071AE304E1C}"/>
              </a:ext>
            </a:extLst>
          </p:cNvPr>
          <p:cNvSpPr txBox="1"/>
          <p:nvPr/>
        </p:nvSpPr>
        <p:spPr>
          <a:xfrm>
            <a:off x="2819534" y="2306421"/>
            <a:ext cx="2025931" cy="307777"/>
          </a:xfrm>
          <a:prstGeom prst="rect">
            <a:avLst/>
          </a:prstGeom>
        </p:spPr>
        <p:txBody>
          <a:bodyPr wrap="square" lIns="0" tIns="0" rIns="0" bIns="0" rtlCol="0" anchor="t">
            <a:spAutoFit/>
          </a:bodyPr>
          <a:lstStyle/>
          <a:p>
            <a:pPr algn="ctr">
              <a:lnSpc>
                <a:spcPts val="1162"/>
              </a:lnSpc>
            </a:pPr>
            <a:r>
              <a:rPr lang="en-US" sz="1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Heavy Reliance on Secondary Sources</a:t>
            </a:r>
          </a:p>
        </p:txBody>
      </p:sp>
      <p:sp>
        <p:nvSpPr>
          <p:cNvPr id="28" name="TextBox 22">
            <a:extLst>
              <a:ext uri="{FF2B5EF4-FFF2-40B4-BE49-F238E27FC236}">
                <a16:creationId xmlns:a16="http://schemas.microsoft.com/office/drawing/2014/main" id="{C6703F57-F8A8-6F79-457C-27C6D52012EA}"/>
              </a:ext>
            </a:extLst>
          </p:cNvPr>
          <p:cNvSpPr txBox="1"/>
          <p:nvPr/>
        </p:nvSpPr>
        <p:spPr>
          <a:xfrm>
            <a:off x="3689663" y="1843790"/>
            <a:ext cx="285672" cy="457305"/>
          </a:xfrm>
          <a:prstGeom prst="rect">
            <a:avLst/>
          </a:prstGeom>
        </p:spPr>
        <p:txBody>
          <a:bodyPr lIns="0" tIns="0" rIns="0" bIns="0" rtlCol="0" anchor="t">
            <a:spAutoFit/>
          </a:bodyPr>
          <a:lstStyle/>
          <a:p>
            <a:pPr algn="ctr">
              <a:lnSpc>
                <a:spcPts val="3797"/>
              </a:lnSpc>
            </a:pPr>
            <a:r>
              <a:rPr lang="en-US" sz="2712" b="1" dirty="0">
                <a:solidFill>
                  <a:srgbClr val="DAF3D0"/>
                </a:solidFill>
                <a:latin typeface="Times New Roman Bold"/>
                <a:ea typeface="Times New Roman Bold"/>
                <a:cs typeface="Times New Roman Bold"/>
                <a:sym typeface="Times New Roman Bold"/>
              </a:rPr>
              <a:t>3</a:t>
            </a:r>
          </a:p>
        </p:txBody>
      </p:sp>
      <p:sp>
        <p:nvSpPr>
          <p:cNvPr id="29" name="TextBox 12">
            <a:extLst>
              <a:ext uri="{FF2B5EF4-FFF2-40B4-BE49-F238E27FC236}">
                <a16:creationId xmlns:a16="http://schemas.microsoft.com/office/drawing/2014/main" id="{5F6AE9D1-88AB-B7A1-DCAB-C76966CC9B78}"/>
              </a:ext>
            </a:extLst>
          </p:cNvPr>
          <p:cNvSpPr txBox="1"/>
          <p:nvPr/>
        </p:nvSpPr>
        <p:spPr>
          <a:xfrm>
            <a:off x="3193581" y="2689376"/>
            <a:ext cx="1669968" cy="615553"/>
          </a:xfrm>
          <a:prstGeom prst="rect">
            <a:avLst/>
          </a:prstGeom>
        </p:spPr>
        <p:txBody>
          <a:bodyPr wrap="square" lIns="0" tIns="0" rIns="0" bIns="0" rtlCol="0" anchor="t">
            <a:spAutoFit/>
          </a:bodyPr>
          <a:lstStyle/>
          <a:p>
            <a:pPr algn="ctr">
              <a:lnSpc>
                <a:spcPts val="1162"/>
              </a:lnSpc>
            </a:pPr>
            <a:r>
              <a:rPr lang="en-US" sz="1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The analysis relies on credible secondary sources but may not fully reflect on-the-ground realities</a:t>
            </a:r>
          </a:p>
        </p:txBody>
      </p:sp>
      <p:sp>
        <p:nvSpPr>
          <p:cNvPr id="30" name="TextBox 10">
            <a:extLst>
              <a:ext uri="{FF2B5EF4-FFF2-40B4-BE49-F238E27FC236}">
                <a16:creationId xmlns:a16="http://schemas.microsoft.com/office/drawing/2014/main" id="{9504FFCC-B4CB-37D7-5A79-43C28A2FE16A}"/>
              </a:ext>
            </a:extLst>
          </p:cNvPr>
          <p:cNvSpPr txBox="1"/>
          <p:nvPr/>
        </p:nvSpPr>
        <p:spPr>
          <a:xfrm>
            <a:off x="6904904" y="2689376"/>
            <a:ext cx="2418723" cy="1077218"/>
          </a:xfrm>
          <a:prstGeom prst="rect">
            <a:avLst/>
          </a:prstGeom>
        </p:spPr>
        <p:txBody>
          <a:bodyPr wrap="square" lIns="0" tIns="0" rIns="0" bIns="0" rtlCol="0" anchor="t">
            <a:spAutoFit/>
          </a:bodyPr>
          <a:lstStyle/>
          <a:p>
            <a:pPr algn="ctr">
              <a:lnSpc>
                <a:spcPts val="1162"/>
              </a:lnSpc>
            </a:pPr>
            <a:r>
              <a:rPr lang="en-US" sz="1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Limited Coverage of Global Philanthropic Actors </a:t>
            </a:r>
          </a:p>
          <a:p>
            <a:pPr algn="ctr">
              <a:lnSpc>
                <a:spcPts val="1162"/>
              </a:lnSpc>
            </a:pPr>
            <a:endParaRPr lang="en-US" sz="1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ctr">
              <a:lnSpc>
                <a:spcPts val="1162"/>
              </a:lnSpc>
            </a:pPr>
            <a:r>
              <a:rPr lang="en-US" sz="1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Analysis of major global funders relied on public information rather than direct input, so the philanthropic is only partially captured.</a:t>
            </a:r>
          </a:p>
        </p:txBody>
      </p:sp>
      <p:sp>
        <p:nvSpPr>
          <p:cNvPr id="32" name="TextBox 12">
            <a:extLst>
              <a:ext uri="{FF2B5EF4-FFF2-40B4-BE49-F238E27FC236}">
                <a16:creationId xmlns:a16="http://schemas.microsoft.com/office/drawing/2014/main" id="{48D140B1-2EFF-12EB-EF17-8F5DD144AFCC}"/>
              </a:ext>
            </a:extLst>
          </p:cNvPr>
          <p:cNvSpPr txBox="1"/>
          <p:nvPr/>
        </p:nvSpPr>
        <p:spPr>
          <a:xfrm>
            <a:off x="5103933" y="2276604"/>
            <a:ext cx="2025931" cy="307777"/>
          </a:xfrm>
          <a:prstGeom prst="rect">
            <a:avLst/>
          </a:prstGeom>
        </p:spPr>
        <p:txBody>
          <a:bodyPr wrap="square" lIns="0" tIns="0" rIns="0" bIns="0" rtlCol="0" anchor="t">
            <a:spAutoFit/>
          </a:bodyPr>
          <a:lstStyle/>
          <a:p>
            <a:pPr algn="ctr">
              <a:lnSpc>
                <a:spcPts val="1162"/>
              </a:lnSpc>
            </a:pPr>
            <a:r>
              <a:rPr lang="en-US" sz="1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Geographic and Organizational Skew </a:t>
            </a:r>
          </a:p>
        </p:txBody>
      </p:sp>
      <p:sp>
        <p:nvSpPr>
          <p:cNvPr id="33" name="TextBox 22">
            <a:extLst>
              <a:ext uri="{FF2B5EF4-FFF2-40B4-BE49-F238E27FC236}">
                <a16:creationId xmlns:a16="http://schemas.microsoft.com/office/drawing/2014/main" id="{D723D3EE-AD91-4B3D-257A-D713DE2634E7}"/>
              </a:ext>
            </a:extLst>
          </p:cNvPr>
          <p:cNvSpPr txBox="1"/>
          <p:nvPr/>
        </p:nvSpPr>
        <p:spPr>
          <a:xfrm>
            <a:off x="5556619" y="1813973"/>
            <a:ext cx="285672" cy="457305"/>
          </a:xfrm>
          <a:prstGeom prst="rect">
            <a:avLst/>
          </a:prstGeom>
        </p:spPr>
        <p:txBody>
          <a:bodyPr lIns="0" tIns="0" rIns="0" bIns="0" rtlCol="0" anchor="t">
            <a:spAutoFit/>
          </a:bodyPr>
          <a:lstStyle/>
          <a:p>
            <a:pPr algn="ctr">
              <a:lnSpc>
                <a:spcPts val="3797"/>
              </a:lnSpc>
            </a:pPr>
            <a:r>
              <a:rPr lang="en-US" sz="2712" b="1" dirty="0">
                <a:solidFill>
                  <a:srgbClr val="DAF3D0"/>
                </a:solidFill>
                <a:latin typeface="Times New Roman Bold"/>
                <a:ea typeface="Times New Roman Bold"/>
                <a:cs typeface="Times New Roman Bold"/>
                <a:sym typeface="Times New Roman Bold"/>
              </a:rPr>
              <a:t>3</a:t>
            </a:r>
          </a:p>
        </p:txBody>
      </p:sp>
      <p:sp>
        <p:nvSpPr>
          <p:cNvPr id="34" name="TextBox 12">
            <a:extLst>
              <a:ext uri="{FF2B5EF4-FFF2-40B4-BE49-F238E27FC236}">
                <a16:creationId xmlns:a16="http://schemas.microsoft.com/office/drawing/2014/main" id="{05F18FEE-43BE-F58D-A576-762F8A06275E}"/>
              </a:ext>
            </a:extLst>
          </p:cNvPr>
          <p:cNvSpPr txBox="1"/>
          <p:nvPr/>
        </p:nvSpPr>
        <p:spPr>
          <a:xfrm>
            <a:off x="5010842" y="2659559"/>
            <a:ext cx="1669968" cy="769441"/>
          </a:xfrm>
          <a:prstGeom prst="rect">
            <a:avLst/>
          </a:prstGeom>
        </p:spPr>
        <p:txBody>
          <a:bodyPr wrap="square" lIns="0" tIns="0" rIns="0" bIns="0" rtlCol="0" anchor="t">
            <a:spAutoFit/>
          </a:bodyPr>
          <a:lstStyle/>
          <a:p>
            <a:pPr algn="ctr">
              <a:lnSpc>
                <a:spcPts val="1162"/>
              </a:lnSpc>
            </a:pPr>
            <a:r>
              <a:rPr lang="en-US" sz="1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Interviews focused on São Paulo and Rio, thus perspectives from other regions and local actors are underrepresented</a:t>
            </a:r>
          </a:p>
        </p:txBody>
      </p:sp>
      <p:sp>
        <p:nvSpPr>
          <p:cNvPr id="35" name="TextBox 23">
            <a:extLst>
              <a:ext uri="{FF2B5EF4-FFF2-40B4-BE49-F238E27FC236}">
                <a16:creationId xmlns:a16="http://schemas.microsoft.com/office/drawing/2014/main" id="{2E939496-2DFC-FFFB-993C-45A053AFCD57}"/>
              </a:ext>
            </a:extLst>
          </p:cNvPr>
          <p:cNvSpPr txBox="1"/>
          <p:nvPr/>
        </p:nvSpPr>
        <p:spPr>
          <a:xfrm>
            <a:off x="5974095" y="1804390"/>
            <a:ext cx="285606" cy="457306"/>
          </a:xfrm>
          <a:prstGeom prst="rect">
            <a:avLst/>
          </a:prstGeom>
        </p:spPr>
        <p:txBody>
          <a:bodyPr lIns="0" tIns="0" rIns="0" bIns="0" rtlCol="0" anchor="t">
            <a:spAutoFit/>
          </a:bodyPr>
          <a:lstStyle/>
          <a:p>
            <a:pPr algn="ctr">
              <a:lnSpc>
                <a:spcPts val="3797"/>
              </a:lnSpc>
            </a:pPr>
            <a:r>
              <a:rPr lang="en-US" sz="2712" b="1" dirty="0">
                <a:solidFill>
                  <a:srgbClr val="8ED873"/>
                </a:solidFill>
                <a:latin typeface="Times New Roman" panose="02020603050405020304" pitchFamily="18" charset="0"/>
                <a:ea typeface="Times New Roman Bold"/>
                <a:cs typeface="Times New Roman" panose="02020603050405020304" pitchFamily="18" charset="0"/>
                <a:sym typeface="Times New Roman Bold"/>
              </a:rPr>
              <a:t>4</a:t>
            </a:r>
          </a:p>
        </p:txBody>
      </p:sp>
      <p:sp>
        <p:nvSpPr>
          <p:cNvPr id="40" name="TextBox 24">
            <a:extLst>
              <a:ext uri="{FF2B5EF4-FFF2-40B4-BE49-F238E27FC236}">
                <a16:creationId xmlns:a16="http://schemas.microsoft.com/office/drawing/2014/main" id="{7AAFAF43-B2EA-38B0-C9ED-D1F75B791912}"/>
              </a:ext>
            </a:extLst>
          </p:cNvPr>
          <p:cNvSpPr txBox="1"/>
          <p:nvPr/>
        </p:nvSpPr>
        <p:spPr>
          <a:xfrm>
            <a:off x="8069706" y="2201839"/>
            <a:ext cx="284066" cy="457306"/>
          </a:xfrm>
          <a:prstGeom prst="rect">
            <a:avLst/>
          </a:prstGeom>
        </p:spPr>
        <p:txBody>
          <a:bodyPr lIns="0" tIns="0" rIns="0" bIns="0" rtlCol="0" anchor="t">
            <a:spAutoFit/>
          </a:bodyPr>
          <a:lstStyle/>
          <a:p>
            <a:pPr algn="ctr">
              <a:lnSpc>
                <a:spcPts val="3797"/>
              </a:lnSpc>
            </a:pPr>
            <a:r>
              <a:rPr lang="en-US" sz="2712" b="1" dirty="0">
                <a:solidFill>
                  <a:srgbClr val="E0F2FF"/>
                </a:solidFill>
                <a:latin typeface="Times New Roman Bold"/>
                <a:ea typeface="Times New Roman Bold"/>
                <a:cs typeface="Times New Roman Bold"/>
                <a:sym typeface="Times New Roman Bold"/>
              </a:rPr>
              <a:t>5</a:t>
            </a:r>
          </a:p>
        </p:txBody>
      </p:sp>
      <p:sp>
        <p:nvSpPr>
          <p:cNvPr id="41" name="TextBox 8">
            <a:extLst>
              <a:ext uri="{FF2B5EF4-FFF2-40B4-BE49-F238E27FC236}">
                <a16:creationId xmlns:a16="http://schemas.microsoft.com/office/drawing/2014/main" id="{87683EE3-D395-9279-F046-50D059FFC679}"/>
              </a:ext>
            </a:extLst>
          </p:cNvPr>
          <p:cNvSpPr txBox="1"/>
          <p:nvPr/>
        </p:nvSpPr>
        <p:spPr>
          <a:xfrm>
            <a:off x="7507898" y="4854744"/>
            <a:ext cx="2194160" cy="923330"/>
          </a:xfrm>
          <a:prstGeom prst="rect">
            <a:avLst/>
          </a:prstGeom>
        </p:spPr>
        <p:txBody>
          <a:bodyPr wrap="square" lIns="0" tIns="0" rIns="0" bIns="0" rtlCol="0" anchor="t">
            <a:spAutoFit/>
          </a:bodyPr>
          <a:lstStyle/>
          <a:p>
            <a:pPr algn="ctr">
              <a:lnSpc>
                <a:spcPts val="1162"/>
              </a:lnSpc>
            </a:pPr>
            <a:r>
              <a:rPr lang="en-US" sz="1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Short Monitoring Duration </a:t>
            </a:r>
          </a:p>
          <a:p>
            <a:pPr algn="ctr">
              <a:lnSpc>
                <a:spcPts val="1162"/>
              </a:lnSpc>
            </a:pPr>
            <a:endParaRPr lang="en-US" sz="1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ctr">
              <a:lnSpc>
                <a:spcPts val="1162"/>
              </a:lnSpc>
            </a:pPr>
            <a:r>
              <a:rPr lang="en-US" sz="1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The study reflects a single point in time, and ongoing regulatory changes may alter the landscape before implementation</a:t>
            </a:r>
          </a:p>
        </p:txBody>
      </p:sp>
      <p:sp>
        <p:nvSpPr>
          <p:cNvPr id="42" name="TextBox 20">
            <a:extLst>
              <a:ext uri="{FF2B5EF4-FFF2-40B4-BE49-F238E27FC236}">
                <a16:creationId xmlns:a16="http://schemas.microsoft.com/office/drawing/2014/main" id="{511B75DD-CCC3-5795-56FA-BB788BD4F98C}"/>
              </a:ext>
            </a:extLst>
          </p:cNvPr>
          <p:cNvSpPr txBox="1"/>
          <p:nvPr/>
        </p:nvSpPr>
        <p:spPr>
          <a:xfrm>
            <a:off x="8448400" y="4247722"/>
            <a:ext cx="175841" cy="457305"/>
          </a:xfrm>
          <a:prstGeom prst="rect">
            <a:avLst/>
          </a:prstGeom>
        </p:spPr>
        <p:txBody>
          <a:bodyPr lIns="0" tIns="0" rIns="0" bIns="0" rtlCol="0" anchor="t">
            <a:spAutoFit/>
          </a:bodyPr>
          <a:lstStyle/>
          <a:p>
            <a:pPr algn="ctr">
              <a:lnSpc>
                <a:spcPts val="3797"/>
              </a:lnSpc>
            </a:pPr>
            <a:r>
              <a:rPr lang="en-US" sz="2712" b="1" dirty="0">
                <a:solidFill>
                  <a:srgbClr val="B8DCF5"/>
                </a:solidFill>
                <a:latin typeface="Times New Roman Bold"/>
                <a:ea typeface="Times New Roman Bold"/>
                <a:cs typeface="Times New Roman Bold"/>
                <a:sym typeface="Times New Roman Bold"/>
              </a:rPr>
              <a:t>6</a:t>
            </a:r>
          </a:p>
        </p:txBody>
      </p:sp>
      <p:sp>
        <p:nvSpPr>
          <p:cNvPr id="45" name="TextBox 44">
            <a:extLst>
              <a:ext uri="{FF2B5EF4-FFF2-40B4-BE49-F238E27FC236}">
                <a16:creationId xmlns:a16="http://schemas.microsoft.com/office/drawing/2014/main" id="{6F3D44B4-D014-2147-EB7B-9D60D0705AA6}"/>
              </a:ext>
            </a:extLst>
          </p:cNvPr>
          <p:cNvSpPr txBox="1"/>
          <p:nvPr/>
        </p:nvSpPr>
        <p:spPr>
          <a:xfrm>
            <a:off x="614884" y="805945"/>
            <a:ext cx="8356018" cy="411779"/>
          </a:xfrm>
          <a:prstGeom prst="rect">
            <a:avLst/>
          </a:prstGeom>
        </p:spPr>
        <p:txBody>
          <a:bodyPr wrap="square" lIns="0" tIns="0" rIns="0" bIns="0" rtlCol="0" anchor="t">
            <a:spAutoFit/>
          </a:bodyPr>
          <a:lstStyle/>
          <a:p>
            <a:pPr>
              <a:lnSpc>
                <a:spcPts val="3479"/>
              </a:lnSpc>
            </a:pPr>
            <a:r>
              <a:rPr lang="en-US" sz="25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Methodology Limitations</a:t>
            </a:r>
          </a:p>
        </p:txBody>
      </p:sp>
    </p:spTree>
    <p:extLst>
      <p:ext uri="{BB962C8B-B14F-4D97-AF65-F5344CB8AC3E}">
        <p14:creationId xmlns:p14="http://schemas.microsoft.com/office/powerpoint/2010/main" val="2422358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8000"/>
            <a:lum/>
          </a:blip>
          <a:srcRect/>
          <a:stretch>
            <a:fillRect t="-9000" b="-9000"/>
          </a:stretch>
        </a:blipFill>
        <a:effectLst/>
      </p:bgPr>
    </p:bg>
    <p:spTree>
      <p:nvGrpSpPr>
        <p:cNvPr id="1" name="">
          <a:extLst>
            <a:ext uri="{FF2B5EF4-FFF2-40B4-BE49-F238E27FC236}">
              <a16:creationId xmlns:a16="http://schemas.microsoft.com/office/drawing/2014/main" id="{63728410-9E11-A52B-5EA4-5F0F4E63C70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0579CB0-D437-E510-C6A3-0E63671E31D4}"/>
              </a:ext>
            </a:extLst>
          </p:cNvPr>
          <p:cNvSpPr/>
          <p:nvPr/>
        </p:nvSpPr>
        <p:spPr>
          <a:xfrm rot="5400000">
            <a:off x="1524002" y="-1547830"/>
            <a:ext cx="6858001" cy="9953663"/>
          </a:xfrm>
          <a:prstGeom prst="rect">
            <a:avLst/>
          </a:prstGeom>
          <a:solidFill>
            <a:schemeClr val="accent6">
              <a:lumMod val="75000"/>
              <a:alpha val="5845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3" name="Rectangle 2">
            <a:extLst>
              <a:ext uri="{FF2B5EF4-FFF2-40B4-BE49-F238E27FC236}">
                <a16:creationId xmlns:a16="http://schemas.microsoft.com/office/drawing/2014/main" id="{BFE54701-6008-5ACE-2E41-0F4D5AFD9427}"/>
              </a:ext>
            </a:extLst>
          </p:cNvPr>
          <p:cNvSpPr/>
          <p:nvPr/>
        </p:nvSpPr>
        <p:spPr>
          <a:xfrm rot="5400000">
            <a:off x="1524001" y="-1535916"/>
            <a:ext cx="6857998" cy="9929831"/>
          </a:xfrm>
          <a:prstGeom prst="rect">
            <a:avLst/>
          </a:prstGeom>
          <a:gradFill flip="none" rotWithShape="1">
            <a:gsLst>
              <a:gs pos="0">
                <a:srgbClr val="FFFD78">
                  <a:alpha val="0"/>
                </a:srgbClr>
              </a:gs>
              <a:gs pos="16000">
                <a:srgbClr val="FFFD78">
                  <a:alpha val="15000"/>
                </a:srgbClr>
              </a:gs>
              <a:gs pos="33000">
                <a:srgbClr val="FFFD78">
                  <a:alpha val="15000"/>
                </a:srgbClr>
              </a:gs>
              <a:gs pos="49000">
                <a:srgbClr val="FFC000">
                  <a:alpha val="25000"/>
                </a:srgbClr>
              </a:gs>
              <a:gs pos="81000">
                <a:srgbClr val="FFC000">
                  <a:alpha val="62126"/>
                </a:srgbClr>
              </a:gs>
              <a:gs pos="65000">
                <a:srgbClr val="FFC000">
                  <a:alpha val="50000"/>
                </a:srgbClr>
              </a:gs>
              <a:gs pos="100000">
                <a:srgbClr val="FFC000">
                  <a:alpha val="51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7" name="Chevron 6">
            <a:extLst>
              <a:ext uri="{FF2B5EF4-FFF2-40B4-BE49-F238E27FC236}">
                <a16:creationId xmlns:a16="http://schemas.microsoft.com/office/drawing/2014/main" id="{F64C08E4-B09A-1AC0-F14A-4B8ACB8CC4F3}"/>
              </a:ext>
            </a:extLst>
          </p:cNvPr>
          <p:cNvSpPr/>
          <p:nvPr/>
        </p:nvSpPr>
        <p:spPr>
          <a:xfrm>
            <a:off x="1792465" y="-2"/>
            <a:ext cx="3160535" cy="6858002"/>
          </a:xfrm>
          <a:prstGeom prst="chevron">
            <a:avLst/>
          </a:prstGeom>
          <a:solidFill>
            <a:schemeClr val="bg1">
              <a:lumMod val="95000"/>
              <a:alpha val="139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solidFill>
                <a:schemeClr val="tx1"/>
              </a:solidFill>
            </a:endParaRPr>
          </a:p>
        </p:txBody>
      </p:sp>
      <p:sp>
        <p:nvSpPr>
          <p:cNvPr id="4" name="Chevron 3">
            <a:extLst>
              <a:ext uri="{FF2B5EF4-FFF2-40B4-BE49-F238E27FC236}">
                <a16:creationId xmlns:a16="http://schemas.microsoft.com/office/drawing/2014/main" id="{B4CA9AC4-BA70-4AAB-40BE-D8D94E37B754}"/>
              </a:ext>
            </a:extLst>
          </p:cNvPr>
          <p:cNvSpPr/>
          <p:nvPr/>
        </p:nvSpPr>
        <p:spPr>
          <a:xfrm>
            <a:off x="32259" y="-5"/>
            <a:ext cx="3160535" cy="6858002"/>
          </a:xfrm>
          <a:prstGeom prst="chevron">
            <a:avLst/>
          </a:prstGeom>
          <a:solidFill>
            <a:schemeClr val="bg1">
              <a:lumMod val="95000"/>
              <a:alpha val="139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solidFill>
                <a:schemeClr val="tx1"/>
              </a:solidFill>
            </a:endParaRPr>
          </a:p>
        </p:txBody>
      </p:sp>
      <p:sp>
        <p:nvSpPr>
          <p:cNvPr id="10" name="Title 1">
            <a:extLst>
              <a:ext uri="{FF2B5EF4-FFF2-40B4-BE49-F238E27FC236}">
                <a16:creationId xmlns:a16="http://schemas.microsoft.com/office/drawing/2014/main" id="{0202AAA7-F036-0DA7-2D65-30256624A9BB}"/>
              </a:ext>
            </a:extLst>
          </p:cNvPr>
          <p:cNvSpPr txBox="1">
            <a:spLocks/>
          </p:cNvSpPr>
          <p:nvPr/>
        </p:nvSpPr>
        <p:spPr>
          <a:xfrm>
            <a:off x="1129902" y="2032100"/>
            <a:ext cx="5986515" cy="22224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a:solidFill>
                  <a:schemeClr val="accent1">
                    <a:lumMod val="75000"/>
                  </a:schemeClr>
                </a:solidFill>
                <a:latin typeface="Times New Roman" panose="02020603050405020304" pitchFamily="18" charset="0"/>
                <a:cs typeface="Times New Roman" panose="02020603050405020304" pitchFamily="18" charset="0"/>
              </a:rPr>
              <a:t>Landscape Analysis</a:t>
            </a:r>
          </a:p>
        </p:txBody>
      </p:sp>
    </p:spTree>
    <p:extLst>
      <p:ext uri="{BB962C8B-B14F-4D97-AF65-F5344CB8AC3E}">
        <p14:creationId xmlns:p14="http://schemas.microsoft.com/office/powerpoint/2010/main" val="914228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29E9A-FA42-068D-1056-DB9CED40DA5C}"/>
            </a:ext>
          </a:extLst>
        </p:cNvPr>
        <p:cNvGrpSpPr/>
        <p:nvPr/>
      </p:nvGrpSpPr>
      <p:grpSpPr>
        <a:xfrm>
          <a:off x="0" y="0"/>
          <a:ext cx="0" cy="0"/>
          <a:chOff x="0" y="0"/>
          <a:chExt cx="0" cy="0"/>
        </a:xfrm>
      </p:grpSpPr>
      <p:sp>
        <p:nvSpPr>
          <p:cNvPr id="222" name="Rectangle 221">
            <a:extLst>
              <a:ext uri="{FF2B5EF4-FFF2-40B4-BE49-F238E27FC236}">
                <a16:creationId xmlns:a16="http://schemas.microsoft.com/office/drawing/2014/main" id="{D67F3C1F-785A-9DFA-89AE-7F66706A40DE}"/>
              </a:ext>
            </a:extLst>
          </p:cNvPr>
          <p:cNvSpPr/>
          <p:nvPr/>
        </p:nvSpPr>
        <p:spPr>
          <a:xfrm>
            <a:off x="607114" y="1722065"/>
            <a:ext cx="8633960" cy="42367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7EE15E7-D497-9F95-8CEE-A97817A5D3C8}"/>
              </a:ext>
            </a:extLst>
          </p:cNvPr>
          <p:cNvSpPr txBox="1"/>
          <p:nvPr/>
        </p:nvSpPr>
        <p:spPr>
          <a:xfrm>
            <a:off x="647965" y="850334"/>
            <a:ext cx="8616644" cy="411779"/>
          </a:xfrm>
          <a:prstGeom prst="rect">
            <a:avLst/>
          </a:prstGeom>
        </p:spPr>
        <p:txBody>
          <a:bodyPr wrap="square" lIns="0" tIns="0" rIns="0" bIns="0" rtlCol="0" anchor="t">
            <a:spAutoFit/>
          </a:bodyPr>
          <a:lstStyle/>
          <a:p>
            <a:pPr>
              <a:lnSpc>
                <a:spcPts val="3479"/>
              </a:lnSpc>
            </a:pPr>
            <a:r>
              <a:rPr lang="en-US" sz="2500" b="1">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Landscape Analysis: Key Actors </a:t>
            </a:r>
          </a:p>
        </p:txBody>
      </p:sp>
      <p:sp>
        <p:nvSpPr>
          <p:cNvPr id="57" name="Freeform 38">
            <a:extLst>
              <a:ext uri="{FF2B5EF4-FFF2-40B4-BE49-F238E27FC236}">
                <a16:creationId xmlns:a16="http://schemas.microsoft.com/office/drawing/2014/main" id="{E19AE143-5706-51C3-C532-47738E98380F}"/>
              </a:ext>
            </a:extLst>
          </p:cNvPr>
          <p:cNvSpPr/>
          <p:nvPr/>
        </p:nvSpPr>
        <p:spPr>
          <a:xfrm>
            <a:off x="863468" y="5906265"/>
            <a:ext cx="214426" cy="286858"/>
          </a:xfrm>
          <a:custGeom>
            <a:avLst/>
            <a:gdLst/>
            <a:ahLst/>
            <a:cxnLst/>
            <a:rect l="l" t="t" r="r" b="b"/>
            <a:pathLst>
              <a:path w="263909" h="353056">
                <a:moveTo>
                  <a:pt x="0" y="0"/>
                </a:moveTo>
                <a:lnTo>
                  <a:pt x="263909" y="0"/>
                </a:lnTo>
                <a:lnTo>
                  <a:pt x="263909" y="353056"/>
                </a:lnTo>
                <a:lnTo>
                  <a:pt x="0" y="3530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sz="1463"/>
          </a:p>
        </p:txBody>
      </p:sp>
      <p:sp>
        <p:nvSpPr>
          <p:cNvPr id="137" name="TextBox 136">
            <a:extLst>
              <a:ext uri="{FF2B5EF4-FFF2-40B4-BE49-F238E27FC236}">
                <a16:creationId xmlns:a16="http://schemas.microsoft.com/office/drawing/2014/main" id="{C6DAEB05-3BB4-79E9-265B-59F583D7DAA8}"/>
              </a:ext>
            </a:extLst>
          </p:cNvPr>
          <p:cNvSpPr txBox="1"/>
          <p:nvPr/>
        </p:nvSpPr>
        <p:spPr>
          <a:xfrm>
            <a:off x="3688080" y="6014720"/>
            <a:ext cx="184731" cy="369332"/>
          </a:xfrm>
          <a:prstGeom prst="rect">
            <a:avLst/>
          </a:prstGeom>
          <a:noFill/>
        </p:spPr>
        <p:txBody>
          <a:bodyPr wrap="none" rtlCol="0">
            <a:spAutoFit/>
          </a:bodyPr>
          <a:lstStyle/>
          <a:p>
            <a:endParaRPr lang="en-US"/>
          </a:p>
        </p:txBody>
      </p:sp>
      <p:sp>
        <p:nvSpPr>
          <p:cNvPr id="4" name="Rectangle 3">
            <a:extLst>
              <a:ext uri="{FF2B5EF4-FFF2-40B4-BE49-F238E27FC236}">
                <a16:creationId xmlns:a16="http://schemas.microsoft.com/office/drawing/2014/main" id="{F9B1F122-91A3-6646-4444-656ED85E7618}"/>
              </a:ext>
            </a:extLst>
          </p:cNvPr>
          <p:cNvSpPr/>
          <p:nvPr/>
        </p:nvSpPr>
        <p:spPr>
          <a:xfrm>
            <a:off x="2772506" y="1810634"/>
            <a:ext cx="4360985" cy="293077"/>
          </a:xfrm>
          <a:prstGeom prst="rect">
            <a:avLst/>
          </a:prstGeom>
          <a:solidFill>
            <a:schemeClr val="accent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Times New Roman" panose="02020603050405020304" pitchFamily="18" charset="0"/>
                <a:cs typeface="Times New Roman" panose="02020603050405020304" pitchFamily="18" charset="0"/>
              </a:rPr>
              <a:t>Brazil’s AI Ecosystem</a:t>
            </a:r>
          </a:p>
        </p:txBody>
      </p:sp>
      <p:sp>
        <p:nvSpPr>
          <p:cNvPr id="26" name="Rectangle 25">
            <a:extLst>
              <a:ext uri="{FF2B5EF4-FFF2-40B4-BE49-F238E27FC236}">
                <a16:creationId xmlns:a16="http://schemas.microsoft.com/office/drawing/2014/main" id="{90805AB4-2AA9-F397-41BE-108A499E0EE6}"/>
              </a:ext>
            </a:extLst>
          </p:cNvPr>
          <p:cNvSpPr/>
          <p:nvPr/>
        </p:nvSpPr>
        <p:spPr>
          <a:xfrm>
            <a:off x="973169" y="2508738"/>
            <a:ext cx="1206000" cy="540000"/>
          </a:xfrm>
          <a:prstGeom prst="rect">
            <a:avLst/>
          </a:prstGeom>
          <a:solidFill>
            <a:srgbClr val="8ED97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200">
                <a:solidFill>
                  <a:schemeClr val="tx1"/>
                </a:solidFill>
                <a:latin typeface="Times New Roman" panose="02020603050405020304" pitchFamily="18" charset="0"/>
                <a:cs typeface="Times New Roman" panose="02020603050405020304" pitchFamily="18" charset="0"/>
              </a:rPr>
              <a:t>Government</a:t>
            </a:r>
          </a:p>
        </p:txBody>
      </p:sp>
      <p:sp>
        <p:nvSpPr>
          <p:cNvPr id="27" name="Rectangle 26">
            <a:extLst>
              <a:ext uri="{FF2B5EF4-FFF2-40B4-BE49-F238E27FC236}">
                <a16:creationId xmlns:a16="http://schemas.microsoft.com/office/drawing/2014/main" id="{16257224-0F9B-9FD5-ABD1-6F2D7542F022}"/>
              </a:ext>
            </a:extLst>
          </p:cNvPr>
          <p:cNvSpPr/>
          <p:nvPr/>
        </p:nvSpPr>
        <p:spPr>
          <a:xfrm>
            <a:off x="2610267" y="2508738"/>
            <a:ext cx="1205598" cy="540000"/>
          </a:xfrm>
          <a:prstGeom prst="rect">
            <a:avLst/>
          </a:prstGeom>
          <a:solidFill>
            <a:srgbClr val="DAF2D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200">
                <a:solidFill>
                  <a:schemeClr val="tx1"/>
                </a:solidFill>
                <a:latin typeface="Times New Roman" panose="02020603050405020304" pitchFamily="18" charset="0"/>
                <a:cs typeface="Times New Roman" panose="02020603050405020304" pitchFamily="18" charset="0"/>
              </a:rPr>
              <a:t>Philanthropy</a:t>
            </a:r>
          </a:p>
        </p:txBody>
      </p:sp>
      <p:sp>
        <p:nvSpPr>
          <p:cNvPr id="31" name="Rectangle 30">
            <a:extLst>
              <a:ext uri="{FF2B5EF4-FFF2-40B4-BE49-F238E27FC236}">
                <a16:creationId xmlns:a16="http://schemas.microsoft.com/office/drawing/2014/main" id="{7C422A6B-4475-9E4B-26AD-8B4521822739}"/>
              </a:ext>
            </a:extLst>
          </p:cNvPr>
          <p:cNvSpPr/>
          <p:nvPr/>
        </p:nvSpPr>
        <p:spPr>
          <a:xfrm>
            <a:off x="4360693" y="2508738"/>
            <a:ext cx="1205598" cy="540000"/>
          </a:xfrm>
          <a:prstGeom prst="rect">
            <a:avLst/>
          </a:prstGeom>
          <a:solidFill>
            <a:srgbClr val="FFE7B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200">
                <a:solidFill>
                  <a:schemeClr val="tx1"/>
                </a:solidFill>
                <a:latin typeface="Times New Roman" panose="02020603050405020304" pitchFamily="18" charset="0"/>
                <a:cs typeface="Times New Roman" panose="02020603050405020304" pitchFamily="18" charset="0"/>
              </a:rPr>
              <a:t>Civil Society</a:t>
            </a:r>
          </a:p>
        </p:txBody>
      </p:sp>
      <p:sp>
        <p:nvSpPr>
          <p:cNvPr id="32" name="Rectangle 31">
            <a:extLst>
              <a:ext uri="{FF2B5EF4-FFF2-40B4-BE49-F238E27FC236}">
                <a16:creationId xmlns:a16="http://schemas.microsoft.com/office/drawing/2014/main" id="{32C7FB97-0F8C-A66A-D54C-31FFF61141DA}"/>
              </a:ext>
            </a:extLst>
          </p:cNvPr>
          <p:cNvSpPr/>
          <p:nvPr/>
        </p:nvSpPr>
        <p:spPr>
          <a:xfrm>
            <a:off x="6101788" y="2508738"/>
            <a:ext cx="1205599" cy="540000"/>
          </a:xfrm>
          <a:prstGeom prst="rect">
            <a:avLst/>
          </a:prstGeom>
          <a:solidFill>
            <a:srgbClr val="FFD87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200">
                <a:solidFill>
                  <a:schemeClr val="tx1"/>
                </a:solidFill>
                <a:latin typeface="Times New Roman" panose="02020603050405020304" pitchFamily="18" charset="0"/>
                <a:cs typeface="Times New Roman" panose="02020603050405020304" pitchFamily="18" charset="0"/>
              </a:rPr>
              <a:t>Academia</a:t>
            </a:r>
          </a:p>
        </p:txBody>
      </p:sp>
      <p:sp>
        <p:nvSpPr>
          <p:cNvPr id="34" name="Rectangle 33">
            <a:extLst>
              <a:ext uri="{FF2B5EF4-FFF2-40B4-BE49-F238E27FC236}">
                <a16:creationId xmlns:a16="http://schemas.microsoft.com/office/drawing/2014/main" id="{6874F8BE-297F-E151-F156-47D1B36CC652}"/>
              </a:ext>
            </a:extLst>
          </p:cNvPr>
          <p:cNvSpPr/>
          <p:nvPr/>
        </p:nvSpPr>
        <p:spPr>
          <a:xfrm>
            <a:off x="7702920" y="2508738"/>
            <a:ext cx="1234117" cy="540000"/>
          </a:xfrm>
          <a:prstGeom prst="rect">
            <a:avLst/>
          </a:prstGeom>
          <a:solidFill>
            <a:srgbClr val="E0F2F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200">
                <a:solidFill>
                  <a:schemeClr val="tx1"/>
                </a:solidFill>
                <a:latin typeface="Times New Roman" panose="02020603050405020304" pitchFamily="18" charset="0"/>
                <a:cs typeface="Times New Roman" panose="02020603050405020304" pitchFamily="18" charset="0"/>
              </a:rPr>
              <a:t>Private Sector</a:t>
            </a:r>
          </a:p>
        </p:txBody>
      </p:sp>
      <p:sp>
        <p:nvSpPr>
          <p:cNvPr id="35" name="Rectangle 34">
            <a:extLst>
              <a:ext uri="{FF2B5EF4-FFF2-40B4-BE49-F238E27FC236}">
                <a16:creationId xmlns:a16="http://schemas.microsoft.com/office/drawing/2014/main" id="{ADBBC778-B71B-3719-53A3-0DE4ACA10945}"/>
              </a:ext>
            </a:extLst>
          </p:cNvPr>
          <p:cNvSpPr/>
          <p:nvPr/>
        </p:nvSpPr>
        <p:spPr>
          <a:xfrm>
            <a:off x="941488" y="3200402"/>
            <a:ext cx="1242166" cy="540000"/>
          </a:xfrm>
          <a:prstGeom prst="rect">
            <a:avLst/>
          </a:prstGeom>
          <a:solidFill>
            <a:srgbClr val="8ED9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National Data Protection Authority</a:t>
            </a:r>
          </a:p>
        </p:txBody>
      </p:sp>
      <p:sp>
        <p:nvSpPr>
          <p:cNvPr id="37" name="Rectangle 36">
            <a:extLst>
              <a:ext uri="{FF2B5EF4-FFF2-40B4-BE49-F238E27FC236}">
                <a16:creationId xmlns:a16="http://schemas.microsoft.com/office/drawing/2014/main" id="{5E1BF480-E2B3-6D56-3EA5-AF290BFB4756}"/>
              </a:ext>
            </a:extLst>
          </p:cNvPr>
          <p:cNvSpPr/>
          <p:nvPr/>
        </p:nvSpPr>
        <p:spPr>
          <a:xfrm>
            <a:off x="941488" y="3923567"/>
            <a:ext cx="1242166" cy="540000"/>
          </a:xfrm>
          <a:prstGeom prst="rect">
            <a:avLst/>
          </a:prstGeom>
          <a:solidFill>
            <a:srgbClr val="8ED9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Ministry of Education</a:t>
            </a:r>
          </a:p>
        </p:txBody>
      </p:sp>
      <p:sp>
        <p:nvSpPr>
          <p:cNvPr id="38" name="Rectangle 37">
            <a:extLst>
              <a:ext uri="{FF2B5EF4-FFF2-40B4-BE49-F238E27FC236}">
                <a16:creationId xmlns:a16="http://schemas.microsoft.com/office/drawing/2014/main" id="{00D5565F-1450-8E7D-9422-BB356BC2DE86}"/>
              </a:ext>
            </a:extLst>
          </p:cNvPr>
          <p:cNvSpPr/>
          <p:nvPr/>
        </p:nvSpPr>
        <p:spPr>
          <a:xfrm>
            <a:off x="941488" y="4646733"/>
            <a:ext cx="1242166" cy="540000"/>
          </a:xfrm>
          <a:prstGeom prst="rect">
            <a:avLst/>
          </a:prstGeom>
          <a:solidFill>
            <a:srgbClr val="8ED9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São Paulo Legislative Assembly</a:t>
            </a:r>
          </a:p>
        </p:txBody>
      </p:sp>
      <p:sp>
        <p:nvSpPr>
          <p:cNvPr id="40" name="Rectangle 39">
            <a:extLst>
              <a:ext uri="{FF2B5EF4-FFF2-40B4-BE49-F238E27FC236}">
                <a16:creationId xmlns:a16="http://schemas.microsoft.com/office/drawing/2014/main" id="{3FB792E7-CCF1-1DDB-5E5E-922451452DCC}"/>
              </a:ext>
            </a:extLst>
          </p:cNvPr>
          <p:cNvSpPr/>
          <p:nvPr/>
        </p:nvSpPr>
        <p:spPr>
          <a:xfrm>
            <a:off x="2636583" y="3154791"/>
            <a:ext cx="1248493" cy="360000"/>
          </a:xfrm>
          <a:prstGeom prst="rect">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BRAVA Foundation</a:t>
            </a:r>
          </a:p>
        </p:txBody>
      </p:sp>
      <p:sp>
        <p:nvSpPr>
          <p:cNvPr id="41" name="Rectangle 40">
            <a:extLst>
              <a:ext uri="{FF2B5EF4-FFF2-40B4-BE49-F238E27FC236}">
                <a16:creationId xmlns:a16="http://schemas.microsoft.com/office/drawing/2014/main" id="{B2ED9A78-4E0B-70C9-0D43-E044256012FB}"/>
              </a:ext>
            </a:extLst>
          </p:cNvPr>
          <p:cNvSpPr/>
          <p:nvPr/>
        </p:nvSpPr>
        <p:spPr>
          <a:xfrm>
            <a:off x="2636583" y="3627859"/>
            <a:ext cx="1248493" cy="360000"/>
          </a:xfrm>
          <a:prstGeom prst="rect">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Lemann Foundation</a:t>
            </a:r>
          </a:p>
        </p:txBody>
      </p:sp>
      <p:sp>
        <p:nvSpPr>
          <p:cNvPr id="43" name="Rectangle 42">
            <a:extLst>
              <a:ext uri="{FF2B5EF4-FFF2-40B4-BE49-F238E27FC236}">
                <a16:creationId xmlns:a16="http://schemas.microsoft.com/office/drawing/2014/main" id="{D468BBFD-4B84-4630-9155-9985A37EDCAC}"/>
              </a:ext>
            </a:extLst>
          </p:cNvPr>
          <p:cNvSpPr/>
          <p:nvPr/>
        </p:nvSpPr>
        <p:spPr>
          <a:xfrm>
            <a:off x="2636583" y="4100927"/>
            <a:ext cx="1248493" cy="360000"/>
          </a:xfrm>
          <a:prstGeom prst="rect">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Ford Foundation</a:t>
            </a:r>
          </a:p>
        </p:txBody>
      </p:sp>
      <p:sp>
        <p:nvSpPr>
          <p:cNvPr id="44" name="Rectangle 43">
            <a:extLst>
              <a:ext uri="{FF2B5EF4-FFF2-40B4-BE49-F238E27FC236}">
                <a16:creationId xmlns:a16="http://schemas.microsoft.com/office/drawing/2014/main" id="{B648D718-D615-84A0-8A53-21153BDC4552}"/>
              </a:ext>
            </a:extLst>
          </p:cNvPr>
          <p:cNvSpPr/>
          <p:nvPr/>
        </p:nvSpPr>
        <p:spPr>
          <a:xfrm>
            <a:off x="4368483" y="3200402"/>
            <a:ext cx="1200427" cy="360000"/>
          </a:xfrm>
          <a:prstGeom prst="rect">
            <a:avLst/>
          </a:prstGeom>
          <a:solidFill>
            <a:srgbClr val="FFE7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err="1">
                <a:solidFill>
                  <a:schemeClr val="tx1"/>
                </a:solidFill>
                <a:latin typeface="Times New Roman" panose="02020603050405020304" pitchFamily="18" charset="0"/>
                <a:cs typeface="Times New Roman" panose="02020603050405020304" pitchFamily="18" charset="0"/>
              </a:rPr>
              <a:t>MegaEdu</a:t>
            </a:r>
            <a:endParaRPr lang="en-US" sz="1000">
              <a:solidFill>
                <a:schemeClr val="tx1"/>
              </a:solidFill>
              <a:latin typeface="Times New Roman" panose="02020603050405020304" pitchFamily="18" charset="0"/>
              <a:cs typeface="Times New Roman" panose="02020603050405020304" pitchFamily="18" charset="0"/>
            </a:endParaRPr>
          </a:p>
        </p:txBody>
      </p:sp>
      <p:sp>
        <p:nvSpPr>
          <p:cNvPr id="46" name="Rectangle 45">
            <a:extLst>
              <a:ext uri="{FF2B5EF4-FFF2-40B4-BE49-F238E27FC236}">
                <a16:creationId xmlns:a16="http://schemas.microsoft.com/office/drawing/2014/main" id="{3D018116-D03F-E792-4699-546C3158D1BD}"/>
              </a:ext>
            </a:extLst>
          </p:cNvPr>
          <p:cNvSpPr/>
          <p:nvPr/>
        </p:nvSpPr>
        <p:spPr>
          <a:xfrm>
            <a:off x="4368483" y="3652788"/>
            <a:ext cx="1200427" cy="360000"/>
          </a:xfrm>
          <a:prstGeom prst="rect">
            <a:avLst/>
          </a:prstGeom>
          <a:solidFill>
            <a:srgbClr val="FFE7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err="1">
                <a:solidFill>
                  <a:schemeClr val="tx1"/>
                </a:solidFill>
                <a:latin typeface="Times New Roman" panose="02020603050405020304" pitchFamily="18" charset="0"/>
                <a:cs typeface="Times New Roman" panose="02020603050405020304" pitchFamily="18" charset="0"/>
              </a:rPr>
              <a:t>InternetLab</a:t>
            </a:r>
            <a:endParaRPr lang="en-US" sz="1000">
              <a:solidFill>
                <a:schemeClr val="tx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CB44C023-8FF1-7486-9B15-70BCEB80CFBC}"/>
              </a:ext>
            </a:extLst>
          </p:cNvPr>
          <p:cNvSpPr/>
          <p:nvPr/>
        </p:nvSpPr>
        <p:spPr>
          <a:xfrm>
            <a:off x="4368483" y="4105174"/>
            <a:ext cx="1200427" cy="360000"/>
          </a:xfrm>
          <a:prstGeom prst="rect">
            <a:avLst/>
          </a:prstGeom>
          <a:solidFill>
            <a:srgbClr val="FFE7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Instituto </a:t>
            </a:r>
            <a:r>
              <a:rPr lang="en-US" sz="1000" err="1">
                <a:solidFill>
                  <a:schemeClr val="tx1"/>
                </a:solidFill>
                <a:latin typeface="Times New Roman" panose="02020603050405020304" pitchFamily="18" charset="0"/>
                <a:cs typeface="Times New Roman" panose="02020603050405020304" pitchFamily="18" charset="0"/>
              </a:rPr>
              <a:t>Decodifica</a:t>
            </a:r>
            <a:endParaRPr lang="en-US" sz="1000">
              <a:solidFill>
                <a:schemeClr val="tx1"/>
              </a:solidFill>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0BC8DFE6-D93E-0B97-32A8-2546E436C57F}"/>
              </a:ext>
            </a:extLst>
          </p:cNvPr>
          <p:cNvSpPr/>
          <p:nvPr/>
        </p:nvSpPr>
        <p:spPr>
          <a:xfrm>
            <a:off x="6219859" y="3136036"/>
            <a:ext cx="991301" cy="504000"/>
          </a:xfrm>
          <a:prstGeom prst="rect">
            <a:avLst/>
          </a:prstGeom>
          <a:solidFill>
            <a:srgbClr val="FFD8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INSPER</a:t>
            </a:r>
          </a:p>
        </p:txBody>
      </p:sp>
      <p:sp>
        <p:nvSpPr>
          <p:cNvPr id="50" name="Rectangle 49">
            <a:extLst>
              <a:ext uri="{FF2B5EF4-FFF2-40B4-BE49-F238E27FC236}">
                <a16:creationId xmlns:a16="http://schemas.microsoft.com/office/drawing/2014/main" id="{6BDC80B4-B384-2861-0E66-426DC5CB78FC}"/>
              </a:ext>
            </a:extLst>
          </p:cNvPr>
          <p:cNvSpPr/>
          <p:nvPr/>
        </p:nvSpPr>
        <p:spPr>
          <a:xfrm>
            <a:off x="6194267" y="3723134"/>
            <a:ext cx="991301" cy="504000"/>
          </a:xfrm>
          <a:prstGeom prst="rect">
            <a:avLst/>
          </a:prstGeom>
          <a:solidFill>
            <a:srgbClr val="FFD8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Getulo Vargas Foundation (FVG)</a:t>
            </a:r>
          </a:p>
        </p:txBody>
      </p:sp>
      <p:sp>
        <p:nvSpPr>
          <p:cNvPr id="53" name="Rectangle 52">
            <a:extLst>
              <a:ext uri="{FF2B5EF4-FFF2-40B4-BE49-F238E27FC236}">
                <a16:creationId xmlns:a16="http://schemas.microsoft.com/office/drawing/2014/main" id="{277D344B-0EB2-8B2D-4FE2-E50F05554456}"/>
              </a:ext>
            </a:extLst>
          </p:cNvPr>
          <p:cNvSpPr/>
          <p:nvPr/>
        </p:nvSpPr>
        <p:spPr>
          <a:xfrm>
            <a:off x="6219858" y="4319475"/>
            <a:ext cx="991301" cy="504000"/>
          </a:xfrm>
          <a:prstGeom prst="rect">
            <a:avLst/>
          </a:prstGeom>
          <a:solidFill>
            <a:srgbClr val="FFD8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IMPA Tech</a:t>
            </a:r>
          </a:p>
        </p:txBody>
      </p:sp>
      <p:sp>
        <p:nvSpPr>
          <p:cNvPr id="54" name="Rectangle 53">
            <a:extLst>
              <a:ext uri="{FF2B5EF4-FFF2-40B4-BE49-F238E27FC236}">
                <a16:creationId xmlns:a16="http://schemas.microsoft.com/office/drawing/2014/main" id="{C186658D-66CB-EED1-B6FE-4603FEACA8F5}"/>
              </a:ext>
            </a:extLst>
          </p:cNvPr>
          <p:cNvSpPr/>
          <p:nvPr/>
        </p:nvSpPr>
        <p:spPr>
          <a:xfrm>
            <a:off x="7732019" y="3200402"/>
            <a:ext cx="1053435" cy="360000"/>
          </a:xfrm>
          <a:prstGeom prst="rect">
            <a:avLst/>
          </a:prstGeom>
          <a:solidFill>
            <a:srgbClr val="E0F2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err="1">
                <a:solidFill>
                  <a:schemeClr val="tx1"/>
                </a:solidFill>
                <a:latin typeface="Times New Roman" panose="02020603050405020304" pitchFamily="18" charset="0"/>
                <a:cs typeface="Times New Roman" panose="02020603050405020304" pitchFamily="18" charset="0"/>
              </a:rPr>
              <a:t>InvestSP</a:t>
            </a:r>
            <a:endParaRPr lang="en-US" sz="1000">
              <a:solidFill>
                <a:schemeClr val="tx1"/>
              </a:solidFill>
              <a:latin typeface="Times New Roman" panose="02020603050405020304" pitchFamily="18" charset="0"/>
              <a:cs typeface="Times New Roman" panose="02020603050405020304" pitchFamily="18" charset="0"/>
            </a:endParaRPr>
          </a:p>
        </p:txBody>
      </p:sp>
      <p:sp>
        <p:nvSpPr>
          <p:cNvPr id="55" name="Rectangle 54">
            <a:extLst>
              <a:ext uri="{FF2B5EF4-FFF2-40B4-BE49-F238E27FC236}">
                <a16:creationId xmlns:a16="http://schemas.microsoft.com/office/drawing/2014/main" id="{0DFDF237-AC30-3653-BF6B-DEE5D6B2E94C}"/>
              </a:ext>
            </a:extLst>
          </p:cNvPr>
          <p:cNvSpPr/>
          <p:nvPr/>
        </p:nvSpPr>
        <p:spPr>
          <a:xfrm>
            <a:off x="7732019" y="3640036"/>
            <a:ext cx="1053435" cy="360000"/>
          </a:xfrm>
          <a:prstGeom prst="rect">
            <a:avLst/>
          </a:prstGeom>
          <a:solidFill>
            <a:srgbClr val="E0F2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Google Cloud</a:t>
            </a:r>
          </a:p>
        </p:txBody>
      </p:sp>
      <p:sp>
        <p:nvSpPr>
          <p:cNvPr id="58" name="Rectangle 57">
            <a:extLst>
              <a:ext uri="{FF2B5EF4-FFF2-40B4-BE49-F238E27FC236}">
                <a16:creationId xmlns:a16="http://schemas.microsoft.com/office/drawing/2014/main" id="{4160FC91-ECCB-A3C4-9A2E-AE3E4EFA36BA}"/>
              </a:ext>
            </a:extLst>
          </p:cNvPr>
          <p:cNvSpPr/>
          <p:nvPr/>
        </p:nvSpPr>
        <p:spPr>
          <a:xfrm>
            <a:off x="7732019" y="4084325"/>
            <a:ext cx="1053435" cy="360000"/>
          </a:xfrm>
          <a:prstGeom prst="rect">
            <a:avLst/>
          </a:prstGeom>
          <a:solidFill>
            <a:srgbClr val="E0F2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Microsoft</a:t>
            </a:r>
          </a:p>
        </p:txBody>
      </p:sp>
      <p:cxnSp>
        <p:nvCxnSpPr>
          <p:cNvPr id="59" name="Elbow Connector 58">
            <a:extLst>
              <a:ext uri="{FF2B5EF4-FFF2-40B4-BE49-F238E27FC236}">
                <a16:creationId xmlns:a16="http://schemas.microsoft.com/office/drawing/2014/main" id="{E0286405-321B-642A-4DB5-DC5EE2B2A311}"/>
              </a:ext>
            </a:extLst>
          </p:cNvPr>
          <p:cNvCxnSpPr>
            <a:cxnSpLocks/>
            <a:stCxn id="26" idx="1"/>
            <a:endCxn id="35" idx="1"/>
          </p:cNvCxnSpPr>
          <p:nvPr/>
        </p:nvCxnSpPr>
        <p:spPr>
          <a:xfrm rot="10800000" flipV="1">
            <a:off x="941489" y="2778738"/>
            <a:ext cx="31681" cy="691664"/>
          </a:xfrm>
          <a:prstGeom prst="bentConnector3">
            <a:avLst>
              <a:gd name="adj1" fmla="val 821568"/>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60" name="Elbow Connector 59">
            <a:extLst>
              <a:ext uri="{FF2B5EF4-FFF2-40B4-BE49-F238E27FC236}">
                <a16:creationId xmlns:a16="http://schemas.microsoft.com/office/drawing/2014/main" id="{65C672F5-5B8E-17B7-34CA-83712D05E8E5}"/>
              </a:ext>
            </a:extLst>
          </p:cNvPr>
          <p:cNvCxnSpPr>
            <a:cxnSpLocks/>
            <a:stCxn id="26" idx="1"/>
            <a:endCxn id="37" idx="1"/>
          </p:cNvCxnSpPr>
          <p:nvPr/>
        </p:nvCxnSpPr>
        <p:spPr>
          <a:xfrm rot="10800000" flipV="1">
            <a:off x="941489" y="2778737"/>
            <a:ext cx="31681" cy="1414829"/>
          </a:xfrm>
          <a:prstGeom prst="bentConnector3">
            <a:avLst>
              <a:gd name="adj1" fmla="val 821568"/>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64" name="Elbow Connector 63">
            <a:extLst>
              <a:ext uri="{FF2B5EF4-FFF2-40B4-BE49-F238E27FC236}">
                <a16:creationId xmlns:a16="http://schemas.microsoft.com/office/drawing/2014/main" id="{FA99F045-209E-0571-A47D-152E2EBB56D7}"/>
              </a:ext>
            </a:extLst>
          </p:cNvPr>
          <p:cNvCxnSpPr>
            <a:cxnSpLocks/>
            <a:stCxn id="26" idx="1"/>
            <a:endCxn id="38" idx="1"/>
          </p:cNvCxnSpPr>
          <p:nvPr/>
        </p:nvCxnSpPr>
        <p:spPr>
          <a:xfrm rot="10800000" flipV="1">
            <a:off x="941489" y="2778737"/>
            <a:ext cx="31681" cy="2137995"/>
          </a:xfrm>
          <a:prstGeom prst="bentConnector3">
            <a:avLst>
              <a:gd name="adj1" fmla="val 821568"/>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65" name="Elbow Connector 64">
            <a:extLst>
              <a:ext uri="{FF2B5EF4-FFF2-40B4-BE49-F238E27FC236}">
                <a16:creationId xmlns:a16="http://schemas.microsoft.com/office/drawing/2014/main" id="{1D914B38-1DD9-927E-6CE6-9609BDCC444C}"/>
              </a:ext>
            </a:extLst>
          </p:cNvPr>
          <p:cNvCxnSpPr>
            <a:cxnSpLocks/>
            <a:stCxn id="4" idx="2"/>
            <a:endCxn id="26" idx="0"/>
          </p:cNvCxnSpPr>
          <p:nvPr/>
        </p:nvCxnSpPr>
        <p:spPr>
          <a:xfrm rot="5400000">
            <a:off x="3062071" y="617809"/>
            <a:ext cx="405027" cy="3376830"/>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66" name="Elbow Connector 65">
            <a:extLst>
              <a:ext uri="{FF2B5EF4-FFF2-40B4-BE49-F238E27FC236}">
                <a16:creationId xmlns:a16="http://schemas.microsoft.com/office/drawing/2014/main" id="{D5409659-E89C-1A96-D055-8C5100DE4B3B}"/>
              </a:ext>
            </a:extLst>
          </p:cNvPr>
          <p:cNvCxnSpPr>
            <a:cxnSpLocks/>
            <a:stCxn id="4" idx="2"/>
            <a:endCxn id="27" idx="0"/>
          </p:cNvCxnSpPr>
          <p:nvPr/>
        </p:nvCxnSpPr>
        <p:spPr>
          <a:xfrm rot="5400000">
            <a:off x="3880520" y="1436258"/>
            <a:ext cx="405027" cy="1739933"/>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67" name="Elbow Connector 66">
            <a:extLst>
              <a:ext uri="{FF2B5EF4-FFF2-40B4-BE49-F238E27FC236}">
                <a16:creationId xmlns:a16="http://schemas.microsoft.com/office/drawing/2014/main" id="{72E1D32B-B830-2D17-8C92-BF5B927B747D}"/>
              </a:ext>
            </a:extLst>
          </p:cNvPr>
          <p:cNvCxnSpPr>
            <a:cxnSpLocks/>
            <a:endCxn id="31" idx="0"/>
          </p:cNvCxnSpPr>
          <p:nvPr/>
        </p:nvCxnSpPr>
        <p:spPr>
          <a:xfrm rot="5400000">
            <a:off x="4769729" y="2297474"/>
            <a:ext cx="405027" cy="17500"/>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68" name="Elbow Connector 67">
            <a:extLst>
              <a:ext uri="{FF2B5EF4-FFF2-40B4-BE49-F238E27FC236}">
                <a16:creationId xmlns:a16="http://schemas.microsoft.com/office/drawing/2014/main" id="{43D16306-D9D5-EA03-06B0-2AF05E0DA73C}"/>
              </a:ext>
            </a:extLst>
          </p:cNvPr>
          <p:cNvCxnSpPr>
            <a:cxnSpLocks/>
            <a:stCxn id="4" idx="2"/>
            <a:endCxn id="32" idx="0"/>
          </p:cNvCxnSpPr>
          <p:nvPr/>
        </p:nvCxnSpPr>
        <p:spPr>
          <a:xfrm rot="16200000" flipH="1">
            <a:off x="5626280" y="1430429"/>
            <a:ext cx="405027" cy="1751589"/>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69" name="Elbow Connector 68">
            <a:extLst>
              <a:ext uri="{FF2B5EF4-FFF2-40B4-BE49-F238E27FC236}">
                <a16:creationId xmlns:a16="http://schemas.microsoft.com/office/drawing/2014/main" id="{FA9DC764-E0AD-5D12-60B2-E00C9B91CFF4}"/>
              </a:ext>
            </a:extLst>
          </p:cNvPr>
          <p:cNvCxnSpPr>
            <a:cxnSpLocks/>
            <a:stCxn id="4" idx="2"/>
            <a:endCxn id="34" idx="0"/>
          </p:cNvCxnSpPr>
          <p:nvPr/>
        </p:nvCxnSpPr>
        <p:spPr>
          <a:xfrm rot="16200000" flipH="1">
            <a:off x="6433976" y="622734"/>
            <a:ext cx="405027" cy="3366980"/>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0" name="Elbow Connector 69">
            <a:extLst>
              <a:ext uri="{FF2B5EF4-FFF2-40B4-BE49-F238E27FC236}">
                <a16:creationId xmlns:a16="http://schemas.microsoft.com/office/drawing/2014/main" id="{9F1A9872-C773-F7C8-3501-581902506FA3}"/>
              </a:ext>
            </a:extLst>
          </p:cNvPr>
          <p:cNvCxnSpPr>
            <a:cxnSpLocks/>
            <a:stCxn id="27" idx="1"/>
            <a:endCxn id="88" idx="1"/>
          </p:cNvCxnSpPr>
          <p:nvPr/>
        </p:nvCxnSpPr>
        <p:spPr>
          <a:xfrm rot="10800000" flipH="1" flipV="1">
            <a:off x="2610267" y="2778738"/>
            <a:ext cx="26316" cy="2448326"/>
          </a:xfrm>
          <a:prstGeom prst="bentConnector3">
            <a:avLst>
              <a:gd name="adj1" fmla="val -868673"/>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72" name="Elbow Connector 71">
            <a:extLst>
              <a:ext uri="{FF2B5EF4-FFF2-40B4-BE49-F238E27FC236}">
                <a16:creationId xmlns:a16="http://schemas.microsoft.com/office/drawing/2014/main" id="{C74AEC13-E7BA-95F8-3A93-1D3C4A393D80}"/>
              </a:ext>
            </a:extLst>
          </p:cNvPr>
          <p:cNvCxnSpPr>
            <a:cxnSpLocks/>
            <a:stCxn id="31" idx="1"/>
            <a:endCxn id="44" idx="1"/>
          </p:cNvCxnSpPr>
          <p:nvPr/>
        </p:nvCxnSpPr>
        <p:spPr>
          <a:xfrm rot="10800000" flipH="1" flipV="1">
            <a:off x="4360693" y="2778738"/>
            <a:ext cx="7790" cy="601664"/>
          </a:xfrm>
          <a:prstGeom prst="bentConnector3">
            <a:avLst>
              <a:gd name="adj1" fmla="val -2934531"/>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73" name="Elbow Connector 72">
            <a:extLst>
              <a:ext uri="{FF2B5EF4-FFF2-40B4-BE49-F238E27FC236}">
                <a16:creationId xmlns:a16="http://schemas.microsoft.com/office/drawing/2014/main" id="{04F28CF3-464B-E87C-9A85-A7085F692304}"/>
              </a:ext>
            </a:extLst>
          </p:cNvPr>
          <p:cNvCxnSpPr>
            <a:cxnSpLocks/>
            <a:stCxn id="31" idx="1"/>
            <a:endCxn id="46" idx="1"/>
          </p:cNvCxnSpPr>
          <p:nvPr/>
        </p:nvCxnSpPr>
        <p:spPr>
          <a:xfrm rot="10800000" flipH="1" flipV="1">
            <a:off x="4360693" y="2778738"/>
            <a:ext cx="7790" cy="1054050"/>
          </a:xfrm>
          <a:prstGeom prst="bentConnector3">
            <a:avLst>
              <a:gd name="adj1" fmla="val -2934531"/>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74" name="Elbow Connector 73">
            <a:extLst>
              <a:ext uri="{FF2B5EF4-FFF2-40B4-BE49-F238E27FC236}">
                <a16:creationId xmlns:a16="http://schemas.microsoft.com/office/drawing/2014/main" id="{FAF07106-6C09-6305-77BB-368E9282F0C2}"/>
              </a:ext>
            </a:extLst>
          </p:cNvPr>
          <p:cNvCxnSpPr>
            <a:cxnSpLocks/>
            <a:stCxn id="31" idx="1"/>
            <a:endCxn id="47" idx="1"/>
          </p:cNvCxnSpPr>
          <p:nvPr/>
        </p:nvCxnSpPr>
        <p:spPr>
          <a:xfrm rot="10800000" flipH="1" flipV="1">
            <a:off x="4360693" y="2778738"/>
            <a:ext cx="7790" cy="1506436"/>
          </a:xfrm>
          <a:prstGeom prst="bentConnector3">
            <a:avLst>
              <a:gd name="adj1" fmla="val -2934531"/>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75" name="Elbow Connector 74">
            <a:extLst>
              <a:ext uri="{FF2B5EF4-FFF2-40B4-BE49-F238E27FC236}">
                <a16:creationId xmlns:a16="http://schemas.microsoft.com/office/drawing/2014/main" id="{BCD326F5-90D2-0294-FC7C-6C95287F2839}"/>
              </a:ext>
            </a:extLst>
          </p:cNvPr>
          <p:cNvCxnSpPr>
            <a:cxnSpLocks/>
            <a:stCxn id="32" idx="1"/>
            <a:endCxn id="49" idx="1"/>
          </p:cNvCxnSpPr>
          <p:nvPr/>
        </p:nvCxnSpPr>
        <p:spPr>
          <a:xfrm rot="10800000" flipH="1" flipV="1">
            <a:off x="6101787" y="2778738"/>
            <a:ext cx="118071" cy="609298"/>
          </a:xfrm>
          <a:prstGeom prst="bentConnector3">
            <a:avLst>
              <a:gd name="adj1" fmla="val -193612"/>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76" name="Elbow Connector 75">
            <a:extLst>
              <a:ext uri="{FF2B5EF4-FFF2-40B4-BE49-F238E27FC236}">
                <a16:creationId xmlns:a16="http://schemas.microsoft.com/office/drawing/2014/main" id="{70AB25EC-0C6A-F0F0-3666-70D042E472FA}"/>
              </a:ext>
            </a:extLst>
          </p:cNvPr>
          <p:cNvCxnSpPr>
            <a:cxnSpLocks/>
            <a:stCxn id="32" idx="1"/>
            <a:endCxn id="50" idx="1"/>
          </p:cNvCxnSpPr>
          <p:nvPr/>
        </p:nvCxnSpPr>
        <p:spPr>
          <a:xfrm rot="10800000" flipH="1" flipV="1">
            <a:off x="6101787" y="2778738"/>
            <a:ext cx="92479" cy="1196396"/>
          </a:xfrm>
          <a:prstGeom prst="bentConnector3">
            <a:avLst>
              <a:gd name="adj1" fmla="val -247191"/>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77" name="Elbow Connector 76">
            <a:extLst>
              <a:ext uri="{FF2B5EF4-FFF2-40B4-BE49-F238E27FC236}">
                <a16:creationId xmlns:a16="http://schemas.microsoft.com/office/drawing/2014/main" id="{08C28587-649D-74C2-28B4-24423EE0C3A4}"/>
              </a:ext>
            </a:extLst>
          </p:cNvPr>
          <p:cNvCxnSpPr>
            <a:cxnSpLocks/>
            <a:stCxn id="32" idx="1"/>
            <a:endCxn id="53" idx="1"/>
          </p:cNvCxnSpPr>
          <p:nvPr/>
        </p:nvCxnSpPr>
        <p:spPr>
          <a:xfrm rot="10800000" flipH="1" flipV="1">
            <a:off x="6101788" y="2778737"/>
            <a:ext cx="118070" cy="1792737"/>
          </a:xfrm>
          <a:prstGeom prst="bentConnector3">
            <a:avLst>
              <a:gd name="adj1" fmla="val -193614"/>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78" name="Elbow Connector 77">
            <a:extLst>
              <a:ext uri="{FF2B5EF4-FFF2-40B4-BE49-F238E27FC236}">
                <a16:creationId xmlns:a16="http://schemas.microsoft.com/office/drawing/2014/main" id="{55673BB4-6F05-5E1E-CBAE-84561E85270E}"/>
              </a:ext>
            </a:extLst>
          </p:cNvPr>
          <p:cNvCxnSpPr>
            <a:cxnSpLocks/>
            <a:stCxn id="34" idx="1"/>
            <a:endCxn id="58" idx="1"/>
          </p:cNvCxnSpPr>
          <p:nvPr/>
        </p:nvCxnSpPr>
        <p:spPr>
          <a:xfrm rot="10800000" flipH="1" flipV="1">
            <a:off x="7702919" y="2778737"/>
            <a:ext cx="29099" cy="1485587"/>
          </a:xfrm>
          <a:prstGeom prst="bentConnector3">
            <a:avLst>
              <a:gd name="adj1" fmla="val -785594"/>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79" name="Elbow Connector 78">
            <a:extLst>
              <a:ext uri="{FF2B5EF4-FFF2-40B4-BE49-F238E27FC236}">
                <a16:creationId xmlns:a16="http://schemas.microsoft.com/office/drawing/2014/main" id="{3FC39A86-4283-467E-4B90-C9E3E5784A64}"/>
              </a:ext>
            </a:extLst>
          </p:cNvPr>
          <p:cNvCxnSpPr>
            <a:cxnSpLocks/>
            <a:stCxn id="34" idx="1"/>
            <a:endCxn id="55" idx="1"/>
          </p:cNvCxnSpPr>
          <p:nvPr/>
        </p:nvCxnSpPr>
        <p:spPr>
          <a:xfrm rot="10800000" flipH="1" flipV="1">
            <a:off x="7702919" y="2778738"/>
            <a:ext cx="29099" cy="1041298"/>
          </a:xfrm>
          <a:prstGeom prst="bentConnector3">
            <a:avLst>
              <a:gd name="adj1" fmla="val -785594"/>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80" name="Elbow Connector 79">
            <a:extLst>
              <a:ext uri="{FF2B5EF4-FFF2-40B4-BE49-F238E27FC236}">
                <a16:creationId xmlns:a16="http://schemas.microsoft.com/office/drawing/2014/main" id="{8ACD86FD-DA34-39A0-D6AA-D0EAF08B3B94}"/>
              </a:ext>
            </a:extLst>
          </p:cNvPr>
          <p:cNvCxnSpPr>
            <a:cxnSpLocks/>
            <a:stCxn id="34" idx="1"/>
            <a:endCxn id="54" idx="1"/>
          </p:cNvCxnSpPr>
          <p:nvPr/>
        </p:nvCxnSpPr>
        <p:spPr>
          <a:xfrm rot="10800000" flipH="1" flipV="1">
            <a:off x="7702919" y="2778738"/>
            <a:ext cx="29099" cy="601664"/>
          </a:xfrm>
          <a:prstGeom prst="bentConnector3">
            <a:avLst>
              <a:gd name="adj1" fmla="val -785594"/>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pic>
        <p:nvPicPr>
          <p:cNvPr id="81" name="Graphic 80" descr="Internet with solid fill">
            <a:extLst>
              <a:ext uri="{FF2B5EF4-FFF2-40B4-BE49-F238E27FC236}">
                <a16:creationId xmlns:a16="http://schemas.microsoft.com/office/drawing/2014/main" id="{5B97981F-1D3F-2583-82B9-D5140573C5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20112" y="2520180"/>
            <a:ext cx="360000" cy="360000"/>
          </a:xfrm>
          <a:prstGeom prst="rect">
            <a:avLst/>
          </a:prstGeom>
        </p:spPr>
      </p:pic>
      <p:pic>
        <p:nvPicPr>
          <p:cNvPr id="82" name="Graphic 81" descr="Graduation cap with solid fill">
            <a:extLst>
              <a:ext uri="{FF2B5EF4-FFF2-40B4-BE49-F238E27FC236}">
                <a16:creationId xmlns:a16="http://schemas.microsoft.com/office/drawing/2014/main" id="{7D9B9405-99C4-D738-830D-DF613EC604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23012" y="2520180"/>
            <a:ext cx="360000" cy="360000"/>
          </a:xfrm>
          <a:prstGeom prst="rect">
            <a:avLst/>
          </a:prstGeom>
        </p:spPr>
      </p:pic>
      <p:pic>
        <p:nvPicPr>
          <p:cNvPr id="84" name="Graphic 83" descr="Philanthropy with solid fill">
            <a:extLst>
              <a:ext uri="{FF2B5EF4-FFF2-40B4-BE49-F238E27FC236}">
                <a16:creationId xmlns:a16="http://schemas.microsoft.com/office/drawing/2014/main" id="{7D9F6143-B9F1-4E1D-5CF5-87347AC369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39553" y="2466180"/>
            <a:ext cx="360000" cy="360000"/>
          </a:xfrm>
          <a:prstGeom prst="rect">
            <a:avLst/>
          </a:prstGeom>
        </p:spPr>
      </p:pic>
      <p:pic>
        <p:nvPicPr>
          <p:cNvPr id="85" name="Graphic 84" descr="Bank with solid fill">
            <a:extLst>
              <a:ext uri="{FF2B5EF4-FFF2-40B4-BE49-F238E27FC236}">
                <a16:creationId xmlns:a16="http://schemas.microsoft.com/office/drawing/2014/main" id="{A962DA4C-D7A7-3C06-6BD7-0499DDE1D9F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49144" y="2487386"/>
            <a:ext cx="360000" cy="360000"/>
          </a:xfrm>
          <a:prstGeom prst="rect">
            <a:avLst/>
          </a:prstGeom>
        </p:spPr>
      </p:pic>
      <p:pic>
        <p:nvPicPr>
          <p:cNvPr id="86" name="Graphic 85" descr="Cheers with solid fill">
            <a:extLst>
              <a:ext uri="{FF2B5EF4-FFF2-40B4-BE49-F238E27FC236}">
                <a16:creationId xmlns:a16="http://schemas.microsoft.com/office/drawing/2014/main" id="{26DE86F9-2565-E4E4-3155-08386DF56FD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85948" y="2538180"/>
            <a:ext cx="360000" cy="360000"/>
          </a:xfrm>
          <a:prstGeom prst="rect">
            <a:avLst/>
          </a:prstGeom>
        </p:spPr>
      </p:pic>
      <p:sp>
        <p:nvSpPr>
          <p:cNvPr id="87" name="Rectangle 86">
            <a:extLst>
              <a:ext uri="{FF2B5EF4-FFF2-40B4-BE49-F238E27FC236}">
                <a16:creationId xmlns:a16="http://schemas.microsoft.com/office/drawing/2014/main" id="{044309F9-4E0B-6D09-8845-9A0C59398FD7}"/>
              </a:ext>
            </a:extLst>
          </p:cNvPr>
          <p:cNvSpPr/>
          <p:nvPr/>
        </p:nvSpPr>
        <p:spPr>
          <a:xfrm>
            <a:off x="2636583" y="4573995"/>
            <a:ext cx="1248493" cy="360000"/>
          </a:xfrm>
          <a:prstGeom prst="rect">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MacArthur Foundation</a:t>
            </a:r>
          </a:p>
        </p:txBody>
      </p:sp>
      <p:sp>
        <p:nvSpPr>
          <p:cNvPr id="88" name="Rectangle 87">
            <a:extLst>
              <a:ext uri="{FF2B5EF4-FFF2-40B4-BE49-F238E27FC236}">
                <a16:creationId xmlns:a16="http://schemas.microsoft.com/office/drawing/2014/main" id="{77A86461-8A07-C397-45B3-604A5498F7A3}"/>
              </a:ext>
            </a:extLst>
          </p:cNvPr>
          <p:cNvSpPr/>
          <p:nvPr/>
        </p:nvSpPr>
        <p:spPr>
          <a:xfrm>
            <a:off x="2636583" y="5047064"/>
            <a:ext cx="1248493" cy="360000"/>
          </a:xfrm>
          <a:prstGeom prst="rect">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McGovern Foundation</a:t>
            </a:r>
          </a:p>
        </p:txBody>
      </p:sp>
      <p:sp>
        <p:nvSpPr>
          <p:cNvPr id="95" name="Rectangle 94">
            <a:extLst>
              <a:ext uri="{FF2B5EF4-FFF2-40B4-BE49-F238E27FC236}">
                <a16:creationId xmlns:a16="http://schemas.microsoft.com/office/drawing/2014/main" id="{EE825354-F08F-0500-251A-C828520EE02B}"/>
              </a:ext>
            </a:extLst>
          </p:cNvPr>
          <p:cNvSpPr/>
          <p:nvPr/>
        </p:nvSpPr>
        <p:spPr>
          <a:xfrm>
            <a:off x="4372704" y="4557560"/>
            <a:ext cx="1200427" cy="360000"/>
          </a:xfrm>
          <a:prstGeom prst="rect">
            <a:avLst/>
          </a:prstGeom>
          <a:solidFill>
            <a:srgbClr val="FFE7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Nova Escola</a:t>
            </a:r>
          </a:p>
        </p:txBody>
      </p:sp>
      <p:sp>
        <p:nvSpPr>
          <p:cNvPr id="96" name="Rectangle 95">
            <a:extLst>
              <a:ext uri="{FF2B5EF4-FFF2-40B4-BE49-F238E27FC236}">
                <a16:creationId xmlns:a16="http://schemas.microsoft.com/office/drawing/2014/main" id="{F2765783-BBA4-184D-63EB-92092B5D3F67}"/>
              </a:ext>
            </a:extLst>
          </p:cNvPr>
          <p:cNvSpPr/>
          <p:nvPr/>
        </p:nvSpPr>
        <p:spPr>
          <a:xfrm>
            <a:off x="4368482" y="5009947"/>
            <a:ext cx="1200427" cy="360000"/>
          </a:xfrm>
          <a:prstGeom prst="rect">
            <a:avLst/>
          </a:prstGeom>
          <a:solidFill>
            <a:srgbClr val="FFE7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latin typeface="Times New Roman" panose="02020603050405020304" pitchFamily="18" charset="0"/>
                <a:cs typeface="Times New Roman" panose="02020603050405020304" pitchFamily="18" charset="0"/>
              </a:rPr>
              <a:t>NIC.br/Cetic.br </a:t>
            </a:r>
          </a:p>
        </p:txBody>
      </p:sp>
      <p:cxnSp>
        <p:nvCxnSpPr>
          <p:cNvPr id="151" name="Elbow Connector 150">
            <a:extLst>
              <a:ext uri="{FF2B5EF4-FFF2-40B4-BE49-F238E27FC236}">
                <a16:creationId xmlns:a16="http://schemas.microsoft.com/office/drawing/2014/main" id="{929D09A7-E086-1E69-49BC-340B9DA73FCD}"/>
              </a:ext>
            </a:extLst>
          </p:cNvPr>
          <p:cNvCxnSpPr>
            <a:cxnSpLocks/>
            <a:stCxn id="31" idx="1"/>
            <a:endCxn id="95" idx="1"/>
          </p:cNvCxnSpPr>
          <p:nvPr/>
        </p:nvCxnSpPr>
        <p:spPr>
          <a:xfrm rot="10800000" flipH="1" flipV="1">
            <a:off x="4360692" y="2778738"/>
            <a:ext cx="12011" cy="1958822"/>
          </a:xfrm>
          <a:prstGeom prst="bentConnector3">
            <a:avLst>
              <a:gd name="adj1" fmla="val -1903255"/>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154" name="Elbow Connector 153">
            <a:extLst>
              <a:ext uri="{FF2B5EF4-FFF2-40B4-BE49-F238E27FC236}">
                <a16:creationId xmlns:a16="http://schemas.microsoft.com/office/drawing/2014/main" id="{17D51A5C-EEDE-FF2B-1190-CBD095F59EE5}"/>
              </a:ext>
            </a:extLst>
          </p:cNvPr>
          <p:cNvCxnSpPr>
            <a:cxnSpLocks/>
            <a:stCxn id="31" idx="1"/>
            <a:endCxn id="96" idx="1"/>
          </p:cNvCxnSpPr>
          <p:nvPr/>
        </p:nvCxnSpPr>
        <p:spPr>
          <a:xfrm rot="10800000" flipH="1" flipV="1">
            <a:off x="4360692" y="2778737"/>
            <a:ext cx="7789" cy="2411209"/>
          </a:xfrm>
          <a:prstGeom prst="bentConnector3">
            <a:avLst>
              <a:gd name="adj1" fmla="val -2934908"/>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167" name="Elbow Connector 166">
            <a:extLst>
              <a:ext uri="{FF2B5EF4-FFF2-40B4-BE49-F238E27FC236}">
                <a16:creationId xmlns:a16="http://schemas.microsoft.com/office/drawing/2014/main" id="{E98F5222-423A-4775-5EBA-5AB263F06AA6}"/>
              </a:ext>
            </a:extLst>
          </p:cNvPr>
          <p:cNvCxnSpPr>
            <a:cxnSpLocks/>
            <a:stCxn id="27" idx="1"/>
            <a:endCxn id="87" idx="1"/>
          </p:cNvCxnSpPr>
          <p:nvPr/>
        </p:nvCxnSpPr>
        <p:spPr>
          <a:xfrm rot="10800000" flipH="1" flipV="1">
            <a:off x="2610267" y="2778737"/>
            <a:ext cx="26316" cy="1975257"/>
          </a:xfrm>
          <a:prstGeom prst="bentConnector3">
            <a:avLst>
              <a:gd name="adj1" fmla="val -868673"/>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170" name="Elbow Connector 169">
            <a:extLst>
              <a:ext uri="{FF2B5EF4-FFF2-40B4-BE49-F238E27FC236}">
                <a16:creationId xmlns:a16="http://schemas.microsoft.com/office/drawing/2014/main" id="{C479A350-9E2B-5CDD-9020-11293343CF6F}"/>
              </a:ext>
            </a:extLst>
          </p:cNvPr>
          <p:cNvCxnSpPr>
            <a:cxnSpLocks/>
            <a:stCxn id="27" idx="1"/>
            <a:endCxn id="43" idx="1"/>
          </p:cNvCxnSpPr>
          <p:nvPr/>
        </p:nvCxnSpPr>
        <p:spPr>
          <a:xfrm rot="10800000" flipH="1" flipV="1">
            <a:off x="2610267" y="2778737"/>
            <a:ext cx="26316" cy="1502189"/>
          </a:xfrm>
          <a:prstGeom prst="bentConnector3">
            <a:avLst>
              <a:gd name="adj1" fmla="val -868673"/>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175" name="Elbow Connector 174">
            <a:extLst>
              <a:ext uri="{FF2B5EF4-FFF2-40B4-BE49-F238E27FC236}">
                <a16:creationId xmlns:a16="http://schemas.microsoft.com/office/drawing/2014/main" id="{7BD858BC-79B2-3812-43DE-99AA191606F0}"/>
              </a:ext>
            </a:extLst>
          </p:cNvPr>
          <p:cNvCxnSpPr>
            <a:cxnSpLocks/>
            <a:stCxn id="27" idx="1"/>
            <a:endCxn id="40" idx="1"/>
          </p:cNvCxnSpPr>
          <p:nvPr/>
        </p:nvCxnSpPr>
        <p:spPr>
          <a:xfrm rot="10800000" flipH="1" flipV="1">
            <a:off x="2610267" y="2778737"/>
            <a:ext cx="26316" cy="556053"/>
          </a:xfrm>
          <a:prstGeom prst="bentConnector3">
            <a:avLst>
              <a:gd name="adj1" fmla="val -868673"/>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176" name="Elbow Connector 175">
            <a:extLst>
              <a:ext uri="{FF2B5EF4-FFF2-40B4-BE49-F238E27FC236}">
                <a16:creationId xmlns:a16="http://schemas.microsoft.com/office/drawing/2014/main" id="{9814BADB-1C17-84D5-348D-9298F058DDE5}"/>
              </a:ext>
            </a:extLst>
          </p:cNvPr>
          <p:cNvCxnSpPr>
            <a:cxnSpLocks/>
            <a:stCxn id="27" idx="1"/>
            <a:endCxn id="41" idx="1"/>
          </p:cNvCxnSpPr>
          <p:nvPr/>
        </p:nvCxnSpPr>
        <p:spPr>
          <a:xfrm rot="10800000" flipH="1" flipV="1">
            <a:off x="2610267" y="2778737"/>
            <a:ext cx="26316" cy="1029121"/>
          </a:xfrm>
          <a:prstGeom prst="bentConnector3">
            <a:avLst>
              <a:gd name="adj1" fmla="val -868673"/>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49725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3BFFB-86A7-9E4D-9DA9-74B1CB8712F6}"/>
            </a:ext>
          </a:extLst>
        </p:cNvPr>
        <p:cNvGrpSpPr/>
        <p:nvPr/>
      </p:nvGrpSpPr>
      <p:grpSpPr>
        <a:xfrm>
          <a:off x="0" y="0"/>
          <a:ext cx="0" cy="0"/>
          <a:chOff x="0" y="0"/>
          <a:chExt cx="0" cy="0"/>
        </a:xfrm>
      </p:grpSpPr>
      <p:sp>
        <p:nvSpPr>
          <p:cNvPr id="5" name="Trapezium 4">
            <a:extLst>
              <a:ext uri="{FF2B5EF4-FFF2-40B4-BE49-F238E27FC236}">
                <a16:creationId xmlns:a16="http://schemas.microsoft.com/office/drawing/2014/main" id="{F712D24A-0932-1C42-E581-C31BF79AED8F}"/>
              </a:ext>
            </a:extLst>
          </p:cNvPr>
          <p:cNvSpPr/>
          <p:nvPr/>
        </p:nvSpPr>
        <p:spPr>
          <a:xfrm rot="10800000">
            <a:off x="1064313" y="5941436"/>
            <a:ext cx="1820421" cy="176145"/>
          </a:xfrm>
          <a:prstGeom prst="trapezoid">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A0B089A-6306-E0A9-6494-8DB14402265C}"/>
              </a:ext>
            </a:extLst>
          </p:cNvPr>
          <p:cNvSpPr txBox="1"/>
          <p:nvPr/>
        </p:nvSpPr>
        <p:spPr>
          <a:xfrm>
            <a:off x="644678" y="864258"/>
            <a:ext cx="8616644" cy="411779"/>
          </a:xfrm>
          <a:prstGeom prst="rect">
            <a:avLst/>
          </a:prstGeom>
        </p:spPr>
        <p:txBody>
          <a:bodyPr wrap="square" lIns="0" tIns="0" rIns="0" bIns="0" rtlCol="0" anchor="t">
            <a:spAutoFit/>
          </a:bodyPr>
          <a:lstStyle/>
          <a:p>
            <a:pPr>
              <a:lnSpc>
                <a:spcPts val="3479"/>
              </a:lnSpc>
            </a:pPr>
            <a:r>
              <a:rPr lang="en-US" sz="2500" b="1">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Landscape Analysis: Constraint</a:t>
            </a:r>
          </a:p>
        </p:txBody>
      </p:sp>
      <p:grpSp>
        <p:nvGrpSpPr>
          <p:cNvPr id="33" name="Group 32">
            <a:extLst>
              <a:ext uri="{FF2B5EF4-FFF2-40B4-BE49-F238E27FC236}">
                <a16:creationId xmlns:a16="http://schemas.microsoft.com/office/drawing/2014/main" id="{8774B728-1F34-2E29-5693-3EC3C41EF344}"/>
              </a:ext>
            </a:extLst>
          </p:cNvPr>
          <p:cNvGrpSpPr/>
          <p:nvPr/>
        </p:nvGrpSpPr>
        <p:grpSpPr>
          <a:xfrm>
            <a:off x="644677" y="1857378"/>
            <a:ext cx="8961335" cy="4071938"/>
            <a:chOff x="644678" y="1771650"/>
            <a:chExt cx="8616644" cy="4314825"/>
          </a:xfrm>
        </p:grpSpPr>
        <p:sp>
          <p:nvSpPr>
            <p:cNvPr id="24" name="Rectangle 23">
              <a:extLst>
                <a:ext uri="{FF2B5EF4-FFF2-40B4-BE49-F238E27FC236}">
                  <a16:creationId xmlns:a16="http://schemas.microsoft.com/office/drawing/2014/main" id="{16AA2EA4-7A1A-167E-47FA-E23B95DBA6A8}"/>
                </a:ext>
              </a:extLst>
            </p:cNvPr>
            <p:cNvSpPr/>
            <p:nvPr/>
          </p:nvSpPr>
          <p:spPr>
            <a:xfrm>
              <a:off x="644678" y="1771650"/>
              <a:ext cx="8616644" cy="771525"/>
            </a:xfrm>
            <a:prstGeom prst="rect">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chemeClr val="accent3"/>
                  </a:solidFill>
                  <a:latin typeface="Times New Roman" panose="02020603050405020304" pitchFamily="18" charset="0"/>
                  <a:cs typeface="Times New Roman" panose="02020603050405020304" pitchFamily="18" charset="0"/>
                </a:rPr>
                <a:t>1</a:t>
              </a:r>
              <a:endParaRPr lang="en-US" b="1">
                <a:solidFill>
                  <a:schemeClr val="accent3"/>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A217971F-6FCB-A5E2-7F8B-CFF273788F7C}"/>
                </a:ext>
              </a:extLst>
            </p:cNvPr>
            <p:cNvSpPr/>
            <p:nvPr/>
          </p:nvSpPr>
          <p:spPr>
            <a:xfrm>
              <a:off x="644678" y="2657475"/>
              <a:ext cx="8616644" cy="771525"/>
            </a:xfrm>
            <a:prstGeom prst="rect">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chemeClr val="accent3"/>
                  </a:solidFill>
                  <a:latin typeface="Times New Roman" panose="02020603050405020304" pitchFamily="18" charset="0"/>
                  <a:cs typeface="Times New Roman" panose="02020603050405020304" pitchFamily="18" charset="0"/>
                </a:rPr>
                <a:t>2</a:t>
              </a:r>
            </a:p>
          </p:txBody>
        </p:sp>
        <p:sp>
          <p:nvSpPr>
            <p:cNvPr id="29" name="Rectangle 28">
              <a:extLst>
                <a:ext uri="{FF2B5EF4-FFF2-40B4-BE49-F238E27FC236}">
                  <a16:creationId xmlns:a16="http://schemas.microsoft.com/office/drawing/2014/main" id="{77627E13-D4EC-50B5-252E-75DB803DE426}"/>
                </a:ext>
              </a:extLst>
            </p:cNvPr>
            <p:cNvSpPr/>
            <p:nvPr/>
          </p:nvSpPr>
          <p:spPr>
            <a:xfrm>
              <a:off x="644678" y="3543300"/>
              <a:ext cx="8616644" cy="771525"/>
            </a:xfrm>
            <a:prstGeom prst="rect">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chemeClr val="accent3"/>
                  </a:solidFill>
                  <a:latin typeface="Times New Roman" panose="02020603050405020304" pitchFamily="18" charset="0"/>
                  <a:cs typeface="Times New Roman" panose="02020603050405020304" pitchFamily="18" charset="0"/>
                </a:rPr>
                <a:t>3</a:t>
              </a:r>
            </a:p>
          </p:txBody>
        </p:sp>
        <p:sp>
          <p:nvSpPr>
            <p:cNvPr id="30" name="Rectangle 29">
              <a:extLst>
                <a:ext uri="{FF2B5EF4-FFF2-40B4-BE49-F238E27FC236}">
                  <a16:creationId xmlns:a16="http://schemas.microsoft.com/office/drawing/2014/main" id="{3847F94B-D2E7-3362-2D82-C14904FA7215}"/>
                </a:ext>
              </a:extLst>
            </p:cNvPr>
            <p:cNvSpPr/>
            <p:nvPr/>
          </p:nvSpPr>
          <p:spPr>
            <a:xfrm>
              <a:off x="644678" y="4429125"/>
              <a:ext cx="8616644" cy="771525"/>
            </a:xfrm>
            <a:prstGeom prst="rect">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chemeClr val="accent3"/>
                  </a:solidFill>
                  <a:latin typeface="Times New Roman" panose="02020603050405020304" pitchFamily="18" charset="0"/>
                  <a:cs typeface="Times New Roman" panose="02020603050405020304" pitchFamily="18" charset="0"/>
                </a:rPr>
                <a:t>4</a:t>
              </a:r>
            </a:p>
          </p:txBody>
        </p:sp>
        <p:sp>
          <p:nvSpPr>
            <p:cNvPr id="31" name="Rectangle 30">
              <a:extLst>
                <a:ext uri="{FF2B5EF4-FFF2-40B4-BE49-F238E27FC236}">
                  <a16:creationId xmlns:a16="http://schemas.microsoft.com/office/drawing/2014/main" id="{A5A3A3A9-109E-A91F-E15A-1C59C62FF01E}"/>
                </a:ext>
              </a:extLst>
            </p:cNvPr>
            <p:cNvSpPr/>
            <p:nvPr/>
          </p:nvSpPr>
          <p:spPr>
            <a:xfrm>
              <a:off x="644678" y="5314950"/>
              <a:ext cx="8616644" cy="771525"/>
            </a:xfrm>
            <a:prstGeom prst="rect">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chemeClr val="accent3"/>
                  </a:solidFill>
                  <a:latin typeface="Times New Roman" panose="02020603050405020304" pitchFamily="18" charset="0"/>
                  <a:cs typeface="Times New Roman" panose="02020603050405020304" pitchFamily="18" charset="0"/>
                </a:rPr>
                <a:t>5</a:t>
              </a:r>
            </a:p>
          </p:txBody>
        </p:sp>
      </p:grpSp>
      <p:sp>
        <p:nvSpPr>
          <p:cNvPr id="35" name="Trapezium 34">
            <a:extLst>
              <a:ext uri="{FF2B5EF4-FFF2-40B4-BE49-F238E27FC236}">
                <a16:creationId xmlns:a16="http://schemas.microsoft.com/office/drawing/2014/main" id="{5153278F-0271-744F-F271-87BF02DF26E3}"/>
              </a:ext>
            </a:extLst>
          </p:cNvPr>
          <p:cNvSpPr/>
          <p:nvPr/>
        </p:nvSpPr>
        <p:spPr>
          <a:xfrm>
            <a:off x="1064313" y="1695527"/>
            <a:ext cx="1820421" cy="176145"/>
          </a:xfrm>
          <a:prstGeom prst="trapezoid">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EC1D952-03F4-40CC-6565-E96AF52E81DB}"/>
              </a:ext>
            </a:extLst>
          </p:cNvPr>
          <p:cNvSpPr/>
          <p:nvPr/>
        </p:nvSpPr>
        <p:spPr>
          <a:xfrm>
            <a:off x="976184" y="1695526"/>
            <a:ext cx="1804861" cy="4422055"/>
          </a:xfrm>
          <a:prstGeom prst="rect">
            <a:avLst/>
          </a:prstGeom>
          <a:solidFill>
            <a:srgbClr val="7EAE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B9670900-D5F0-D602-8366-D9383B879FAB}"/>
              </a:ext>
            </a:extLst>
          </p:cNvPr>
          <p:cNvSpPr txBox="1"/>
          <p:nvPr/>
        </p:nvSpPr>
        <p:spPr>
          <a:xfrm>
            <a:off x="986255" y="1834601"/>
            <a:ext cx="1745362" cy="612036"/>
          </a:xfrm>
          <a:prstGeom prst="rect">
            <a:avLst/>
          </a:prstGeom>
          <a:noFill/>
        </p:spPr>
        <p:txBody>
          <a:bodyPr wrap="square" rtlCol="0" anchor="ctr">
            <a:noAutofit/>
          </a:bodyPr>
          <a:lstStyle/>
          <a:p>
            <a:pPr algn="ctr"/>
            <a:r>
              <a:rPr lang="en-US" sz="1400" b="1" i="1" dirty="0">
                <a:solidFill>
                  <a:schemeClr val="bg1"/>
                </a:solidFill>
                <a:latin typeface="Times New Roman" panose="02020603050405020304" pitchFamily="18" charset="0"/>
                <a:cs typeface="Times New Roman" panose="02020603050405020304" pitchFamily="18" charset="0"/>
              </a:rPr>
              <a:t>Fragmented Governance</a:t>
            </a:r>
          </a:p>
        </p:txBody>
      </p:sp>
      <p:sp>
        <p:nvSpPr>
          <p:cNvPr id="38" name="TextBox 37">
            <a:extLst>
              <a:ext uri="{FF2B5EF4-FFF2-40B4-BE49-F238E27FC236}">
                <a16:creationId xmlns:a16="http://schemas.microsoft.com/office/drawing/2014/main" id="{19438CA7-8191-709C-6A8A-4C1FDE019CE9}"/>
              </a:ext>
            </a:extLst>
          </p:cNvPr>
          <p:cNvSpPr txBox="1"/>
          <p:nvPr/>
        </p:nvSpPr>
        <p:spPr>
          <a:xfrm>
            <a:off x="986255" y="2692749"/>
            <a:ext cx="1745362" cy="612036"/>
          </a:xfrm>
          <a:prstGeom prst="rect">
            <a:avLst/>
          </a:prstGeom>
          <a:noFill/>
        </p:spPr>
        <p:txBody>
          <a:bodyPr wrap="square" rtlCol="0" anchor="ctr">
            <a:noAutofit/>
          </a:bodyPr>
          <a:lstStyle/>
          <a:p>
            <a:pPr algn="ctr"/>
            <a:r>
              <a:rPr lang="en-US" sz="1400" b="1" i="1">
                <a:solidFill>
                  <a:schemeClr val="bg1"/>
                </a:solidFill>
                <a:latin typeface="Times New Roman" panose="02020603050405020304" pitchFamily="18" charset="0"/>
                <a:cs typeface="Times New Roman" panose="02020603050405020304" pitchFamily="18" charset="0"/>
              </a:rPr>
              <a:t>No Coordination Mechanisms</a:t>
            </a:r>
          </a:p>
        </p:txBody>
      </p:sp>
      <p:sp>
        <p:nvSpPr>
          <p:cNvPr id="39" name="TextBox 38">
            <a:extLst>
              <a:ext uri="{FF2B5EF4-FFF2-40B4-BE49-F238E27FC236}">
                <a16:creationId xmlns:a16="http://schemas.microsoft.com/office/drawing/2014/main" id="{452E3D19-45ED-2658-91C6-271F86F8950A}"/>
              </a:ext>
            </a:extLst>
          </p:cNvPr>
          <p:cNvSpPr txBox="1"/>
          <p:nvPr/>
        </p:nvSpPr>
        <p:spPr>
          <a:xfrm>
            <a:off x="986255" y="3550897"/>
            <a:ext cx="1745362" cy="612036"/>
          </a:xfrm>
          <a:prstGeom prst="rect">
            <a:avLst/>
          </a:prstGeom>
          <a:noFill/>
        </p:spPr>
        <p:txBody>
          <a:bodyPr wrap="square" rtlCol="0" anchor="ctr">
            <a:noAutofit/>
          </a:bodyPr>
          <a:lstStyle/>
          <a:p>
            <a:pPr algn="ctr"/>
            <a:r>
              <a:rPr lang="en-US" sz="1400" b="1" i="1">
                <a:solidFill>
                  <a:schemeClr val="bg1"/>
                </a:solidFill>
                <a:latin typeface="Times New Roman" panose="02020603050405020304" pitchFamily="18" charset="0"/>
                <a:cs typeface="Times New Roman" panose="02020603050405020304" pitchFamily="18" charset="0"/>
              </a:rPr>
              <a:t>Data Silos</a:t>
            </a:r>
          </a:p>
        </p:txBody>
      </p:sp>
      <p:sp>
        <p:nvSpPr>
          <p:cNvPr id="40" name="TextBox 39">
            <a:extLst>
              <a:ext uri="{FF2B5EF4-FFF2-40B4-BE49-F238E27FC236}">
                <a16:creationId xmlns:a16="http://schemas.microsoft.com/office/drawing/2014/main" id="{865FC271-5D04-5777-A5C5-FE49D803F3DC}"/>
              </a:ext>
            </a:extLst>
          </p:cNvPr>
          <p:cNvSpPr txBox="1"/>
          <p:nvPr/>
        </p:nvSpPr>
        <p:spPr>
          <a:xfrm>
            <a:off x="986255" y="4409045"/>
            <a:ext cx="1745362" cy="612036"/>
          </a:xfrm>
          <a:prstGeom prst="rect">
            <a:avLst/>
          </a:prstGeom>
          <a:noFill/>
        </p:spPr>
        <p:txBody>
          <a:bodyPr wrap="square" rtlCol="0" anchor="ctr">
            <a:noAutofit/>
          </a:bodyPr>
          <a:lstStyle/>
          <a:p>
            <a:pPr algn="ctr"/>
            <a:r>
              <a:rPr lang="en-US" sz="1400" b="1" i="1">
                <a:solidFill>
                  <a:schemeClr val="bg1"/>
                </a:solidFill>
                <a:latin typeface="Times New Roman" panose="02020603050405020304" pitchFamily="18" charset="0"/>
                <a:cs typeface="Times New Roman" panose="02020603050405020304" pitchFamily="18" charset="0"/>
              </a:rPr>
              <a:t>Institutional Capacity Gaps</a:t>
            </a:r>
          </a:p>
        </p:txBody>
      </p:sp>
      <p:sp>
        <p:nvSpPr>
          <p:cNvPr id="41" name="TextBox 40">
            <a:extLst>
              <a:ext uri="{FF2B5EF4-FFF2-40B4-BE49-F238E27FC236}">
                <a16:creationId xmlns:a16="http://schemas.microsoft.com/office/drawing/2014/main" id="{25C34980-BD2F-3068-D698-40189087798A}"/>
              </a:ext>
            </a:extLst>
          </p:cNvPr>
          <p:cNvSpPr txBox="1"/>
          <p:nvPr/>
        </p:nvSpPr>
        <p:spPr>
          <a:xfrm>
            <a:off x="986255" y="5267192"/>
            <a:ext cx="1745362" cy="612036"/>
          </a:xfrm>
          <a:prstGeom prst="rect">
            <a:avLst/>
          </a:prstGeom>
          <a:noFill/>
        </p:spPr>
        <p:txBody>
          <a:bodyPr wrap="square" rtlCol="0" anchor="ctr">
            <a:noAutofit/>
          </a:bodyPr>
          <a:lstStyle/>
          <a:p>
            <a:pPr algn="ctr"/>
            <a:r>
              <a:rPr lang="en-US" sz="1400" b="1" i="1">
                <a:solidFill>
                  <a:schemeClr val="bg1"/>
                </a:solidFill>
                <a:latin typeface="Times New Roman" panose="02020603050405020304" pitchFamily="18" charset="0"/>
                <a:cs typeface="Times New Roman" panose="02020603050405020304" pitchFamily="18" charset="0"/>
              </a:rPr>
              <a:t>Foreign Technology Dependence</a:t>
            </a:r>
          </a:p>
        </p:txBody>
      </p:sp>
      <p:sp>
        <p:nvSpPr>
          <p:cNvPr id="43" name="TextBox 42">
            <a:extLst>
              <a:ext uri="{FF2B5EF4-FFF2-40B4-BE49-F238E27FC236}">
                <a16:creationId xmlns:a16="http://schemas.microsoft.com/office/drawing/2014/main" id="{FC4BA921-78DB-314D-0F39-7F82F1C7FFC6}"/>
              </a:ext>
            </a:extLst>
          </p:cNvPr>
          <p:cNvSpPr txBox="1"/>
          <p:nvPr/>
        </p:nvSpPr>
        <p:spPr>
          <a:xfrm>
            <a:off x="2791116" y="1845258"/>
            <a:ext cx="6814896" cy="728095"/>
          </a:xfrm>
          <a:prstGeom prst="rect">
            <a:avLst/>
          </a:prstGeom>
          <a:noFill/>
        </p:spPr>
        <p:txBody>
          <a:bodyPr wrap="square" lIns="91440" tIns="45720" rIns="91440" bIns="45720" rtlCol="0" anchor="ctr">
            <a:noAutofit/>
          </a:bodyPr>
          <a:lstStyle/>
          <a:p>
            <a:pPr algn="ctr"/>
            <a:r>
              <a:rPr lang="en-US" sz="1300" dirty="0">
                <a:latin typeface="Times New Roman" panose="02020603050405020304" pitchFamily="18" charset="0"/>
                <a:cs typeface="Times New Roman" panose="02020603050405020304" pitchFamily="18" charset="0"/>
              </a:rPr>
              <a:t>AI governance is split across at least six federal entities with limited coordination, no shared standards, and minimal oversight</a:t>
            </a:r>
          </a:p>
        </p:txBody>
      </p:sp>
      <p:sp>
        <p:nvSpPr>
          <p:cNvPr id="44" name="TextBox 43">
            <a:extLst>
              <a:ext uri="{FF2B5EF4-FFF2-40B4-BE49-F238E27FC236}">
                <a16:creationId xmlns:a16="http://schemas.microsoft.com/office/drawing/2014/main" id="{2C03AE83-6E4A-0C04-B962-2CD9E0A735F2}"/>
              </a:ext>
            </a:extLst>
          </p:cNvPr>
          <p:cNvSpPr txBox="1"/>
          <p:nvPr/>
        </p:nvSpPr>
        <p:spPr>
          <a:xfrm>
            <a:off x="2791115" y="2700711"/>
            <a:ext cx="6814896" cy="748350"/>
          </a:xfrm>
          <a:prstGeom prst="rect">
            <a:avLst/>
          </a:prstGeom>
          <a:noFill/>
        </p:spPr>
        <p:txBody>
          <a:bodyPr wrap="square" lIns="91440" tIns="45720" rIns="91440" bIns="45720" rtlCol="0" anchor="ctr">
            <a:noAutofit/>
          </a:bodyPr>
          <a:lstStyle>
            <a:defPPr>
              <a:defRPr lang="en-US"/>
            </a:defPPr>
            <a:lvl1pPr marL="171450" indent="-171450">
              <a:buFont typeface="Arial" panose="020B0604020202020204" pitchFamily="34" charset="0"/>
              <a:buChar char="•"/>
              <a:defRPr sz="1400">
                <a:latin typeface="Times New Roman" panose="02020603050405020304" pitchFamily="18" charset="0"/>
                <a:cs typeface="Times New Roman" panose="02020603050405020304" pitchFamily="18" charset="0"/>
              </a:defRPr>
            </a:lvl1pPr>
          </a:lstStyle>
          <a:p>
            <a:pPr marL="0" indent="0" algn="ctr">
              <a:buNone/>
            </a:pPr>
            <a:r>
              <a:rPr lang="en-US" sz="1300" dirty="0"/>
              <a:t>Multi-stakeholder coordination occurs on an ad hoc basis, with no formal body responsible for ensuring consistency in AI standards across agencies or levels of government</a:t>
            </a:r>
          </a:p>
        </p:txBody>
      </p:sp>
      <p:sp>
        <p:nvSpPr>
          <p:cNvPr id="45" name="TextBox 44">
            <a:extLst>
              <a:ext uri="{FF2B5EF4-FFF2-40B4-BE49-F238E27FC236}">
                <a16:creationId xmlns:a16="http://schemas.microsoft.com/office/drawing/2014/main" id="{5BD92090-A13A-A5B0-B04E-E813ECD1236E}"/>
              </a:ext>
            </a:extLst>
          </p:cNvPr>
          <p:cNvSpPr txBox="1"/>
          <p:nvPr/>
        </p:nvSpPr>
        <p:spPr>
          <a:xfrm>
            <a:off x="2791114" y="3538666"/>
            <a:ext cx="6814896" cy="701772"/>
          </a:xfrm>
          <a:prstGeom prst="rect">
            <a:avLst/>
          </a:prstGeom>
          <a:noFill/>
        </p:spPr>
        <p:txBody>
          <a:bodyPr wrap="square" lIns="91440" tIns="45720" rIns="91440" bIns="45720" rtlCol="0" anchor="ctr">
            <a:noAutofit/>
          </a:bodyPr>
          <a:lstStyle>
            <a:defPPr>
              <a:defRPr lang="en-US"/>
            </a:defPPr>
            <a:lvl1pPr marL="171450" indent="-171450">
              <a:buFont typeface="Arial" panose="020B0604020202020204" pitchFamily="34" charset="0"/>
              <a:buChar char="•"/>
              <a:defRPr sz="1400">
                <a:latin typeface="Times New Roman" panose="02020603050405020304" pitchFamily="18" charset="0"/>
                <a:cs typeface="Times New Roman" panose="02020603050405020304" pitchFamily="18" charset="0"/>
              </a:defRPr>
            </a:lvl1pPr>
          </a:lstStyle>
          <a:p>
            <a:pPr marL="0" indent="0" algn="ctr">
              <a:buNone/>
            </a:pPr>
            <a:r>
              <a:rPr lang="en-US" sz="1300" dirty="0"/>
              <a:t>Brazil’s public-sector data silos and lack of standardized data governance protocols results in less reliable and scalable AI systems</a:t>
            </a:r>
          </a:p>
        </p:txBody>
      </p:sp>
      <p:sp>
        <p:nvSpPr>
          <p:cNvPr id="46" name="TextBox 45">
            <a:extLst>
              <a:ext uri="{FF2B5EF4-FFF2-40B4-BE49-F238E27FC236}">
                <a16:creationId xmlns:a16="http://schemas.microsoft.com/office/drawing/2014/main" id="{7449C1EB-7268-39FE-7388-72E1283ECD4F}"/>
              </a:ext>
            </a:extLst>
          </p:cNvPr>
          <p:cNvSpPr txBox="1"/>
          <p:nvPr/>
        </p:nvSpPr>
        <p:spPr>
          <a:xfrm>
            <a:off x="2791113" y="4362886"/>
            <a:ext cx="6814896" cy="710800"/>
          </a:xfrm>
          <a:prstGeom prst="rect">
            <a:avLst/>
          </a:prstGeom>
          <a:noFill/>
        </p:spPr>
        <p:txBody>
          <a:bodyPr wrap="square" lIns="91440" tIns="45720" rIns="91440" bIns="45720" rtlCol="0" anchor="ctr">
            <a:noAutofit/>
          </a:bodyPr>
          <a:lstStyle>
            <a:defPPr>
              <a:defRPr lang="en-US"/>
            </a:defPPr>
            <a:lvl1pPr marL="171450" indent="-171450">
              <a:buFont typeface="Arial" panose="020B0604020202020204" pitchFamily="34" charset="0"/>
              <a:buChar char="•"/>
              <a:defRPr sz="1400">
                <a:latin typeface="Times New Roman" panose="02020603050405020304" pitchFamily="18" charset="0"/>
                <a:cs typeface="Times New Roman" panose="02020603050405020304" pitchFamily="18" charset="0"/>
              </a:defRPr>
            </a:lvl1pPr>
          </a:lstStyle>
          <a:p>
            <a:pPr marL="0" indent="0" algn="ctr">
              <a:buNone/>
            </a:pPr>
            <a:r>
              <a:rPr lang="en-US" sz="1300" dirty="0"/>
              <a:t>Public managers frequently lack capacity, resulting in vendor capture, as they are unable to evaluate AI vendor claims or define problems before procurement decisions, leading to external reliance</a:t>
            </a:r>
          </a:p>
        </p:txBody>
      </p:sp>
      <p:sp>
        <p:nvSpPr>
          <p:cNvPr id="47" name="TextBox 46">
            <a:extLst>
              <a:ext uri="{FF2B5EF4-FFF2-40B4-BE49-F238E27FC236}">
                <a16:creationId xmlns:a16="http://schemas.microsoft.com/office/drawing/2014/main" id="{7C0B7703-3109-405F-F7D6-95E20448436A}"/>
              </a:ext>
            </a:extLst>
          </p:cNvPr>
          <p:cNvSpPr txBox="1"/>
          <p:nvPr/>
        </p:nvSpPr>
        <p:spPr>
          <a:xfrm>
            <a:off x="2791112" y="5232280"/>
            <a:ext cx="6814896" cy="656523"/>
          </a:xfrm>
          <a:prstGeom prst="rect">
            <a:avLst/>
          </a:prstGeom>
          <a:noFill/>
        </p:spPr>
        <p:txBody>
          <a:bodyPr wrap="square" lIns="91440" tIns="45720" rIns="91440" bIns="45720" rtlCol="0" anchor="ctr">
            <a:noAutofit/>
          </a:bodyPr>
          <a:lstStyle>
            <a:defPPr>
              <a:defRPr lang="en-US"/>
            </a:defPPr>
            <a:lvl1pPr marL="171450" indent="-171450">
              <a:buFont typeface="Arial" panose="020B0604020202020204" pitchFamily="34" charset="0"/>
              <a:buChar char="•"/>
              <a:defRPr sz="1400">
                <a:latin typeface="Times New Roman" panose="02020603050405020304" pitchFamily="18" charset="0"/>
                <a:cs typeface="Times New Roman" panose="02020603050405020304" pitchFamily="18" charset="0"/>
              </a:defRPr>
            </a:lvl1pPr>
          </a:lstStyle>
          <a:p>
            <a:pPr marL="0" indent="0" algn="ctr">
              <a:buNone/>
            </a:pPr>
            <a:r>
              <a:rPr lang="en-US" sz="1300" dirty="0"/>
              <a:t>AI ecosystem is reliant on infrastructure and models provided by international technology companies with design assumptions that do not always reflect Brazilian institutional realities.</a:t>
            </a:r>
          </a:p>
        </p:txBody>
      </p:sp>
      <p:cxnSp>
        <p:nvCxnSpPr>
          <p:cNvPr id="6" name="Straight Connector 5">
            <a:extLst>
              <a:ext uri="{FF2B5EF4-FFF2-40B4-BE49-F238E27FC236}">
                <a16:creationId xmlns:a16="http://schemas.microsoft.com/office/drawing/2014/main" id="{FD94A5E1-2158-88A3-02A8-97A0A7E100E5}"/>
              </a:ext>
            </a:extLst>
          </p:cNvPr>
          <p:cNvCxnSpPr/>
          <p:nvPr/>
        </p:nvCxnSpPr>
        <p:spPr>
          <a:xfrm>
            <a:off x="1182029" y="2552020"/>
            <a:ext cx="1371600" cy="0"/>
          </a:xfrm>
          <a:prstGeom prst="line">
            <a:avLst/>
          </a:prstGeom>
          <a:ln w="6350">
            <a:solidFill>
              <a:schemeClr val="bg1"/>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BF285EF-9A76-62A5-99A6-E6B44FB26AEB}"/>
              </a:ext>
            </a:extLst>
          </p:cNvPr>
          <p:cNvCxnSpPr/>
          <p:nvPr/>
        </p:nvCxnSpPr>
        <p:spPr>
          <a:xfrm>
            <a:off x="1182029" y="3429000"/>
            <a:ext cx="1371600" cy="0"/>
          </a:xfrm>
          <a:prstGeom prst="line">
            <a:avLst/>
          </a:prstGeom>
          <a:ln w="6350">
            <a:solidFill>
              <a:schemeClr val="bg1"/>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1984CD1-B09E-5C66-28FC-62A9941FB45B}"/>
              </a:ext>
            </a:extLst>
          </p:cNvPr>
          <p:cNvCxnSpPr/>
          <p:nvPr/>
        </p:nvCxnSpPr>
        <p:spPr>
          <a:xfrm>
            <a:off x="1182029" y="4305980"/>
            <a:ext cx="1371600" cy="0"/>
          </a:xfrm>
          <a:prstGeom prst="line">
            <a:avLst/>
          </a:prstGeom>
          <a:ln w="6350">
            <a:solidFill>
              <a:schemeClr val="bg1"/>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B8EC8A2-F4F1-BA1A-B381-60D611C71ABB}"/>
              </a:ext>
            </a:extLst>
          </p:cNvPr>
          <p:cNvCxnSpPr/>
          <p:nvPr/>
        </p:nvCxnSpPr>
        <p:spPr>
          <a:xfrm>
            <a:off x="1182029" y="5182960"/>
            <a:ext cx="1371600" cy="0"/>
          </a:xfrm>
          <a:prstGeom prst="line">
            <a:avLst/>
          </a:prstGeom>
          <a:ln w="6350">
            <a:solidFill>
              <a:schemeClr val="bg1"/>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2680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4108B-E5C8-6CC3-7B0A-0B667801DF64}"/>
            </a:ext>
          </a:extLst>
        </p:cNvPr>
        <p:cNvGrpSpPr/>
        <p:nvPr/>
      </p:nvGrpSpPr>
      <p:grpSpPr>
        <a:xfrm>
          <a:off x="0" y="0"/>
          <a:ext cx="0" cy="0"/>
          <a:chOff x="0" y="0"/>
          <a:chExt cx="0" cy="0"/>
        </a:xfrm>
      </p:grpSpPr>
      <p:sp>
        <p:nvSpPr>
          <p:cNvPr id="119" name="Rectangle 118">
            <a:extLst>
              <a:ext uri="{FF2B5EF4-FFF2-40B4-BE49-F238E27FC236}">
                <a16:creationId xmlns:a16="http://schemas.microsoft.com/office/drawing/2014/main" id="{EBD6EBA2-D8AE-22ED-4066-869CDAC356D5}"/>
              </a:ext>
            </a:extLst>
          </p:cNvPr>
          <p:cNvSpPr/>
          <p:nvPr/>
        </p:nvSpPr>
        <p:spPr>
          <a:xfrm>
            <a:off x="511629" y="1435608"/>
            <a:ext cx="8882742" cy="398678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FA00238E-1B3E-12DD-493F-BF9AF0A975F0}"/>
              </a:ext>
            </a:extLst>
          </p:cNvPr>
          <p:cNvSpPr txBox="1"/>
          <p:nvPr/>
        </p:nvSpPr>
        <p:spPr>
          <a:xfrm>
            <a:off x="644678" y="860811"/>
            <a:ext cx="8616644" cy="411779"/>
          </a:xfrm>
          <a:prstGeom prst="rect">
            <a:avLst/>
          </a:prstGeom>
        </p:spPr>
        <p:txBody>
          <a:bodyPr wrap="square" lIns="0" tIns="0" rIns="0" bIns="0" rtlCol="0" anchor="t">
            <a:spAutoFit/>
          </a:bodyPr>
          <a:lstStyle/>
          <a:p>
            <a:pPr>
              <a:lnSpc>
                <a:spcPts val="3479"/>
              </a:lnSpc>
            </a:pPr>
            <a:r>
              <a:rPr lang="en-US" sz="2500" b="1">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Landscape Analysis: Intervention Modalities</a:t>
            </a:r>
          </a:p>
        </p:txBody>
      </p:sp>
      <p:sp>
        <p:nvSpPr>
          <p:cNvPr id="76" name="Freeform 22">
            <a:extLst>
              <a:ext uri="{FF2B5EF4-FFF2-40B4-BE49-F238E27FC236}">
                <a16:creationId xmlns:a16="http://schemas.microsoft.com/office/drawing/2014/main" id="{3E7420D5-C811-78BE-A63B-8BBEC80EBE9B}"/>
              </a:ext>
            </a:extLst>
          </p:cNvPr>
          <p:cNvSpPr/>
          <p:nvPr/>
        </p:nvSpPr>
        <p:spPr>
          <a:xfrm>
            <a:off x="11934323" y="6137466"/>
            <a:ext cx="5374871" cy="354598"/>
          </a:xfrm>
          <a:custGeom>
            <a:avLst/>
            <a:gdLst/>
            <a:ahLst/>
            <a:cxnLst/>
            <a:rect l="l" t="t" r="r" b="b"/>
            <a:pathLst>
              <a:path w="5374871" h="354598">
                <a:moveTo>
                  <a:pt x="0" y="0"/>
                </a:moveTo>
                <a:lnTo>
                  <a:pt x="5374871" y="0"/>
                </a:lnTo>
                <a:lnTo>
                  <a:pt x="5374871" y="354598"/>
                </a:lnTo>
                <a:lnTo>
                  <a:pt x="0" y="354598"/>
                </a:lnTo>
                <a:lnTo>
                  <a:pt x="0" y="0"/>
                </a:lnTo>
                <a:close/>
              </a:path>
            </a:pathLst>
          </a:custGeom>
          <a:blipFill>
            <a:blip r:embed="rId2">
              <a:alphaModFix amt="29000"/>
            </a:blip>
            <a:stretch>
              <a:fillRect t="-73623"/>
            </a:stretch>
          </a:blipFill>
        </p:spPr>
        <p:txBody>
          <a:bodyPr/>
          <a:lstStyle/>
          <a:p>
            <a:endParaRPr lang="en-US"/>
          </a:p>
        </p:txBody>
      </p:sp>
      <p:grpSp>
        <p:nvGrpSpPr>
          <p:cNvPr id="106" name="Group 105">
            <a:extLst>
              <a:ext uri="{FF2B5EF4-FFF2-40B4-BE49-F238E27FC236}">
                <a16:creationId xmlns:a16="http://schemas.microsoft.com/office/drawing/2014/main" id="{942E6DA8-D052-3C80-6B34-346ABFC04F37}"/>
              </a:ext>
            </a:extLst>
          </p:cNvPr>
          <p:cNvGrpSpPr>
            <a:grpSpLocks noChangeAspect="1"/>
          </p:cNvGrpSpPr>
          <p:nvPr/>
        </p:nvGrpSpPr>
        <p:grpSpPr>
          <a:xfrm>
            <a:off x="609134" y="1999442"/>
            <a:ext cx="5374860" cy="2852962"/>
            <a:chOff x="832393" y="2476500"/>
            <a:chExt cx="10439589" cy="5447290"/>
          </a:xfrm>
        </p:grpSpPr>
        <p:sp>
          <p:nvSpPr>
            <p:cNvPr id="57" name="Freeform 38">
              <a:extLst>
                <a:ext uri="{FF2B5EF4-FFF2-40B4-BE49-F238E27FC236}">
                  <a16:creationId xmlns:a16="http://schemas.microsoft.com/office/drawing/2014/main" id="{F7FDE281-4F3B-9BC8-0A40-60579DE3B659}"/>
                </a:ext>
              </a:extLst>
            </p:cNvPr>
            <p:cNvSpPr/>
            <p:nvPr/>
          </p:nvSpPr>
          <p:spPr>
            <a:xfrm>
              <a:off x="863468" y="5906265"/>
              <a:ext cx="214426" cy="286858"/>
            </a:xfrm>
            <a:custGeom>
              <a:avLst/>
              <a:gdLst/>
              <a:ahLst/>
              <a:cxnLst/>
              <a:rect l="l" t="t" r="r" b="b"/>
              <a:pathLst>
                <a:path w="263909" h="353056">
                  <a:moveTo>
                    <a:pt x="0" y="0"/>
                  </a:moveTo>
                  <a:lnTo>
                    <a:pt x="263909" y="0"/>
                  </a:lnTo>
                  <a:lnTo>
                    <a:pt x="263909" y="353056"/>
                  </a:lnTo>
                  <a:lnTo>
                    <a:pt x="0" y="3530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sz="1000">
                <a:latin typeface="Times New Roman" panose="02020603050405020304" pitchFamily="18" charset="0"/>
                <a:cs typeface="Times New Roman" panose="02020603050405020304" pitchFamily="18" charset="0"/>
              </a:endParaRPr>
            </a:p>
          </p:txBody>
        </p:sp>
        <p:grpSp>
          <p:nvGrpSpPr>
            <p:cNvPr id="55" name="Group 2">
              <a:extLst>
                <a:ext uri="{FF2B5EF4-FFF2-40B4-BE49-F238E27FC236}">
                  <a16:creationId xmlns:a16="http://schemas.microsoft.com/office/drawing/2014/main" id="{46AB95AF-91AC-3BCD-471B-90E23CA9F4DC}"/>
                </a:ext>
              </a:extLst>
            </p:cNvPr>
            <p:cNvGrpSpPr/>
            <p:nvPr/>
          </p:nvGrpSpPr>
          <p:grpSpPr>
            <a:xfrm>
              <a:off x="3577104" y="4541215"/>
              <a:ext cx="7694878" cy="1476650"/>
              <a:chOff x="0" y="-19050"/>
              <a:chExt cx="2217036" cy="425450"/>
            </a:xfrm>
          </p:grpSpPr>
          <p:sp>
            <p:nvSpPr>
              <p:cNvPr id="56" name="Freeform 3">
                <a:extLst>
                  <a:ext uri="{FF2B5EF4-FFF2-40B4-BE49-F238E27FC236}">
                    <a16:creationId xmlns:a16="http://schemas.microsoft.com/office/drawing/2014/main" id="{F781316F-39AB-FADB-6585-5A1701664F9E}"/>
                  </a:ext>
                </a:extLst>
              </p:cNvPr>
              <p:cNvSpPr/>
              <p:nvPr/>
            </p:nvSpPr>
            <p:spPr>
              <a:xfrm>
                <a:off x="0" y="0"/>
                <a:ext cx="2217036" cy="406400"/>
              </a:xfrm>
              <a:custGeom>
                <a:avLst/>
                <a:gdLst/>
                <a:ahLst/>
                <a:cxnLst/>
                <a:rect l="l" t="t" r="r" b="b"/>
                <a:pathLst>
                  <a:path w="2217036" h="406400">
                    <a:moveTo>
                      <a:pt x="2013836" y="0"/>
                    </a:moveTo>
                    <a:lnTo>
                      <a:pt x="0" y="0"/>
                    </a:lnTo>
                    <a:lnTo>
                      <a:pt x="0" y="406400"/>
                    </a:lnTo>
                    <a:lnTo>
                      <a:pt x="2013836" y="406400"/>
                    </a:lnTo>
                    <a:lnTo>
                      <a:pt x="2217036" y="203200"/>
                    </a:lnTo>
                    <a:lnTo>
                      <a:pt x="2013836" y="0"/>
                    </a:lnTo>
                    <a:close/>
                  </a:path>
                </a:pathLst>
              </a:custGeom>
              <a:solidFill>
                <a:srgbClr val="FFE7B3"/>
              </a:solidFill>
            </p:spPr>
            <p:txBody>
              <a:bodyPr/>
              <a:lstStyle/>
              <a:p>
                <a:endParaRPr lang="en-US" sz="1000">
                  <a:latin typeface="Times New Roman" panose="02020603050405020304" pitchFamily="18" charset="0"/>
                  <a:cs typeface="Times New Roman" panose="02020603050405020304" pitchFamily="18" charset="0"/>
                </a:endParaRPr>
              </a:p>
            </p:txBody>
          </p:sp>
          <p:sp>
            <p:nvSpPr>
              <p:cNvPr id="58" name="TextBox 4">
                <a:extLst>
                  <a:ext uri="{FF2B5EF4-FFF2-40B4-BE49-F238E27FC236}">
                    <a16:creationId xmlns:a16="http://schemas.microsoft.com/office/drawing/2014/main" id="{7A1D5326-F7E1-DE5C-05CA-8206747EC528}"/>
                  </a:ext>
                </a:extLst>
              </p:cNvPr>
              <p:cNvSpPr txBox="1"/>
              <p:nvPr/>
            </p:nvSpPr>
            <p:spPr>
              <a:xfrm>
                <a:off x="0" y="-19050"/>
                <a:ext cx="2102736" cy="425450"/>
              </a:xfrm>
              <a:prstGeom prst="rect">
                <a:avLst/>
              </a:prstGeom>
            </p:spPr>
            <p:txBody>
              <a:bodyPr lIns="43615" tIns="43615" rIns="43615" bIns="43615" rtlCol="0" anchor="ctr"/>
              <a:lstStyle/>
              <a:p>
                <a:pPr marL="0" lvl="0" indent="0" algn="ctr">
                  <a:lnSpc>
                    <a:spcPts val="2163"/>
                  </a:lnSpc>
                  <a:spcBef>
                    <a:spcPct val="0"/>
                  </a:spcBef>
                </a:pPr>
                <a:endParaRPr sz="1000">
                  <a:latin typeface="Times New Roman" panose="02020603050405020304" pitchFamily="18" charset="0"/>
                  <a:cs typeface="Times New Roman" panose="02020603050405020304" pitchFamily="18" charset="0"/>
                </a:endParaRPr>
              </a:p>
            </p:txBody>
          </p:sp>
        </p:grpSp>
        <p:grpSp>
          <p:nvGrpSpPr>
            <p:cNvPr id="59" name="Group 5">
              <a:extLst>
                <a:ext uri="{FF2B5EF4-FFF2-40B4-BE49-F238E27FC236}">
                  <a16:creationId xmlns:a16="http://schemas.microsoft.com/office/drawing/2014/main" id="{208248FC-7611-34BF-1832-B7CC0E04E7B5}"/>
                </a:ext>
              </a:extLst>
            </p:cNvPr>
            <p:cNvGrpSpPr/>
            <p:nvPr/>
          </p:nvGrpSpPr>
          <p:grpSpPr>
            <a:xfrm>
              <a:off x="3624779" y="3123717"/>
              <a:ext cx="5544080" cy="1372847"/>
              <a:chOff x="0" y="-19050"/>
              <a:chExt cx="1445080" cy="357836"/>
            </a:xfrm>
          </p:grpSpPr>
          <p:sp>
            <p:nvSpPr>
              <p:cNvPr id="60" name="Freeform 6">
                <a:extLst>
                  <a:ext uri="{FF2B5EF4-FFF2-40B4-BE49-F238E27FC236}">
                    <a16:creationId xmlns:a16="http://schemas.microsoft.com/office/drawing/2014/main" id="{07F85569-C5C0-09EA-6540-5DDE1EE864F0}"/>
                  </a:ext>
                </a:extLst>
              </p:cNvPr>
              <p:cNvSpPr/>
              <p:nvPr/>
            </p:nvSpPr>
            <p:spPr>
              <a:xfrm>
                <a:off x="0" y="0"/>
                <a:ext cx="1445080" cy="338786"/>
              </a:xfrm>
              <a:custGeom>
                <a:avLst/>
                <a:gdLst/>
                <a:ahLst/>
                <a:cxnLst/>
                <a:rect l="l" t="t" r="r" b="b"/>
                <a:pathLst>
                  <a:path w="1445080" h="338786">
                    <a:moveTo>
                      <a:pt x="0" y="0"/>
                    </a:moveTo>
                    <a:lnTo>
                      <a:pt x="1445080" y="0"/>
                    </a:lnTo>
                    <a:lnTo>
                      <a:pt x="1445080" y="338786"/>
                    </a:lnTo>
                    <a:lnTo>
                      <a:pt x="0" y="338786"/>
                    </a:lnTo>
                    <a:close/>
                  </a:path>
                </a:pathLst>
              </a:custGeom>
              <a:solidFill>
                <a:srgbClr val="BCD8EF"/>
              </a:solidFill>
            </p:spPr>
            <p:txBody>
              <a:bodyPr/>
              <a:lstStyle/>
              <a:p>
                <a:endParaRPr lang="en-US" sz="1000">
                  <a:latin typeface="Times New Roman" panose="02020603050405020304" pitchFamily="18" charset="0"/>
                  <a:cs typeface="Times New Roman" panose="02020603050405020304" pitchFamily="18" charset="0"/>
                </a:endParaRPr>
              </a:p>
            </p:txBody>
          </p:sp>
          <p:sp>
            <p:nvSpPr>
              <p:cNvPr id="61" name="TextBox 7">
                <a:extLst>
                  <a:ext uri="{FF2B5EF4-FFF2-40B4-BE49-F238E27FC236}">
                    <a16:creationId xmlns:a16="http://schemas.microsoft.com/office/drawing/2014/main" id="{77620BAE-D077-255C-F221-7F921D267910}"/>
                  </a:ext>
                </a:extLst>
              </p:cNvPr>
              <p:cNvSpPr txBox="1"/>
              <p:nvPr/>
            </p:nvSpPr>
            <p:spPr>
              <a:xfrm>
                <a:off x="0" y="-19050"/>
                <a:ext cx="1445080" cy="357836"/>
              </a:xfrm>
              <a:prstGeom prst="rect">
                <a:avLst/>
              </a:prstGeom>
            </p:spPr>
            <p:txBody>
              <a:bodyPr lIns="43615" tIns="43615" rIns="43615" bIns="43615" rtlCol="0" anchor="ctr"/>
              <a:lstStyle/>
              <a:p>
                <a:pPr marL="0" lvl="0" indent="0" algn="ctr">
                  <a:lnSpc>
                    <a:spcPts val="2163"/>
                  </a:lnSpc>
                  <a:spcBef>
                    <a:spcPct val="0"/>
                  </a:spcBef>
                </a:pPr>
                <a:endParaRPr sz="1000">
                  <a:latin typeface="Times New Roman" panose="02020603050405020304" pitchFamily="18" charset="0"/>
                  <a:cs typeface="Times New Roman" panose="02020603050405020304" pitchFamily="18" charset="0"/>
                </a:endParaRPr>
              </a:p>
            </p:txBody>
          </p:sp>
        </p:grpSp>
        <p:grpSp>
          <p:nvGrpSpPr>
            <p:cNvPr id="62" name="Group 8">
              <a:extLst>
                <a:ext uri="{FF2B5EF4-FFF2-40B4-BE49-F238E27FC236}">
                  <a16:creationId xmlns:a16="http://schemas.microsoft.com/office/drawing/2014/main" id="{1F4B5412-DC88-0C8F-9992-672706100A72}"/>
                </a:ext>
              </a:extLst>
            </p:cNvPr>
            <p:cNvGrpSpPr/>
            <p:nvPr/>
          </p:nvGrpSpPr>
          <p:grpSpPr>
            <a:xfrm>
              <a:off x="8676749" y="2572115"/>
              <a:ext cx="1842558" cy="1924449"/>
              <a:chOff x="0" y="0"/>
              <a:chExt cx="571500" cy="596900"/>
            </a:xfrm>
          </p:grpSpPr>
          <p:sp>
            <p:nvSpPr>
              <p:cNvPr id="63" name="Freeform 9">
                <a:extLst>
                  <a:ext uri="{FF2B5EF4-FFF2-40B4-BE49-F238E27FC236}">
                    <a16:creationId xmlns:a16="http://schemas.microsoft.com/office/drawing/2014/main" id="{49BD78C5-6ED6-CAFB-A0FE-CB76F0B686A9}"/>
                  </a:ext>
                </a:extLst>
              </p:cNvPr>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BCD8EF"/>
              </a:solidFill>
            </p:spPr>
            <p:txBody>
              <a:bodyPr/>
              <a:lstStyle/>
              <a:p>
                <a:endParaRPr lang="en-US" sz="1000">
                  <a:latin typeface="Times New Roman" panose="02020603050405020304" pitchFamily="18" charset="0"/>
                  <a:cs typeface="Times New Roman" panose="02020603050405020304" pitchFamily="18" charset="0"/>
                </a:endParaRPr>
              </a:p>
            </p:txBody>
          </p:sp>
          <p:sp>
            <p:nvSpPr>
              <p:cNvPr id="64" name="TextBox 10">
                <a:extLst>
                  <a:ext uri="{FF2B5EF4-FFF2-40B4-BE49-F238E27FC236}">
                    <a16:creationId xmlns:a16="http://schemas.microsoft.com/office/drawing/2014/main" id="{0C5BABE6-CC66-840C-0A91-F9E853CDC58E}"/>
                  </a:ext>
                </a:extLst>
              </p:cNvPr>
              <p:cNvSpPr txBox="1"/>
              <p:nvPr/>
            </p:nvSpPr>
            <p:spPr>
              <a:xfrm>
                <a:off x="0" y="279400"/>
                <a:ext cx="285750" cy="317500"/>
              </a:xfrm>
              <a:prstGeom prst="rect">
                <a:avLst/>
              </a:prstGeom>
            </p:spPr>
            <p:txBody>
              <a:bodyPr lIns="43615" tIns="43615" rIns="43615" bIns="43615" rtlCol="0" anchor="ctr"/>
              <a:lstStyle/>
              <a:p>
                <a:pPr marL="0" lvl="0" indent="0" algn="ctr">
                  <a:lnSpc>
                    <a:spcPts val="2163"/>
                  </a:lnSpc>
                  <a:spcBef>
                    <a:spcPct val="0"/>
                  </a:spcBef>
                </a:pPr>
                <a:endParaRPr sz="1000">
                  <a:latin typeface="Times New Roman" panose="02020603050405020304" pitchFamily="18" charset="0"/>
                  <a:cs typeface="Times New Roman" panose="02020603050405020304" pitchFamily="18" charset="0"/>
                </a:endParaRPr>
              </a:p>
            </p:txBody>
          </p:sp>
        </p:grpSp>
        <p:grpSp>
          <p:nvGrpSpPr>
            <p:cNvPr id="65" name="Group 11">
              <a:extLst>
                <a:ext uri="{FF2B5EF4-FFF2-40B4-BE49-F238E27FC236}">
                  <a16:creationId xmlns:a16="http://schemas.microsoft.com/office/drawing/2014/main" id="{A96CB8AD-1A44-962E-D5CF-50C48668B6AE}"/>
                </a:ext>
              </a:extLst>
            </p:cNvPr>
            <p:cNvGrpSpPr/>
            <p:nvPr/>
          </p:nvGrpSpPr>
          <p:grpSpPr>
            <a:xfrm>
              <a:off x="3577104" y="6059268"/>
              <a:ext cx="5544080" cy="1372847"/>
              <a:chOff x="0" y="-19050"/>
              <a:chExt cx="1445080" cy="357836"/>
            </a:xfrm>
          </p:grpSpPr>
          <p:sp>
            <p:nvSpPr>
              <p:cNvPr id="66" name="Freeform 12">
                <a:extLst>
                  <a:ext uri="{FF2B5EF4-FFF2-40B4-BE49-F238E27FC236}">
                    <a16:creationId xmlns:a16="http://schemas.microsoft.com/office/drawing/2014/main" id="{61D28ABB-A367-D90B-777D-46AE1A182202}"/>
                  </a:ext>
                </a:extLst>
              </p:cNvPr>
              <p:cNvSpPr/>
              <p:nvPr/>
            </p:nvSpPr>
            <p:spPr>
              <a:xfrm>
                <a:off x="0" y="0"/>
                <a:ext cx="1445080" cy="338786"/>
              </a:xfrm>
              <a:custGeom>
                <a:avLst/>
                <a:gdLst/>
                <a:ahLst/>
                <a:cxnLst/>
                <a:rect l="l" t="t" r="r" b="b"/>
                <a:pathLst>
                  <a:path w="1445080" h="338786">
                    <a:moveTo>
                      <a:pt x="0" y="0"/>
                    </a:moveTo>
                    <a:lnTo>
                      <a:pt x="1445080" y="0"/>
                    </a:lnTo>
                    <a:lnTo>
                      <a:pt x="1445080" y="338786"/>
                    </a:lnTo>
                    <a:lnTo>
                      <a:pt x="0" y="338786"/>
                    </a:lnTo>
                    <a:close/>
                  </a:path>
                </a:pathLst>
              </a:custGeom>
              <a:solidFill>
                <a:srgbClr val="DAF2D1"/>
              </a:solidFill>
            </p:spPr>
            <p:txBody>
              <a:bodyPr/>
              <a:lstStyle/>
              <a:p>
                <a:endParaRPr lang="en-US" sz="1000">
                  <a:latin typeface="Times New Roman" panose="02020603050405020304" pitchFamily="18" charset="0"/>
                  <a:cs typeface="Times New Roman" panose="02020603050405020304" pitchFamily="18" charset="0"/>
                </a:endParaRPr>
              </a:p>
            </p:txBody>
          </p:sp>
          <p:sp>
            <p:nvSpPr>
              <p:cNvPr id="67" name="TextBox 13">
                <a:extLst>
                  <a:ext uri="{FF2B5EF4-FFF2-40B4-BE49-F238E27FC236}">
                    <a16:creationId xmlns:a16="http://schemas.microsoft.com/office/drawing/2014/main" id="{8FA9BA1E-2542-1475-7B3E-A6819F6D7A6A}"/>
                  </a:ext>
                </a:extLst>
              </p:cNvPr>
              <p:cNvSpPr txBox="1"/>
              <p:nvPr/>
            </p:nvSpPr>
            <p:spPr>
              <a:xfrm>
                <a:off x="0" y="-19050"/>
                <a:ext cx="1445080" cy="357836"/>
              </a:xfrm>
              <a:prstGeom prst="rect">
                <a:avLst/>
              </a:prstGeom>
            </p:spPr>
            <p:txBody>
              <a:bodyPr lIns="43615" tIns="43615" rIns="43615" bIns="43615" rtlCol="0" anchor="ctr"/>
              <a:lstStyle/>
              <a:p>
                <a:pPr marL="0" lvl="0" indent="0" algn="ctr">
                  <a:lnSpc>
                    <a:spcPts val="2163"/>
                  </a:lnSpc>
                  <a:spcBef>
                    <a:spcPct val="0"/>
                  </a:spcBef>
                </a:pPr>
                <a:endParaRPr sz="1000">
                  <a:latin typeface="Times New Roman" panose="02020603050405020304" pitchFamily="18" charset="0"/>
                  <a:cs typeface="Times New Roman" panose="02020603050405020304" pitchFamily="18" charset="0"/>
                </a:endParaRPr>
              </a:p>
            </p:txBody>
          </p:sp>
        </p:grpSp>
        <p:grpSp>
          <p:nvGrpSpPr>
            <p:cNvPr id="68" name="Group 14">
              <a:extLst>
                <a:ext uri="{FF2B5EF4-FFF2-40B4-BE49-F238E27FC236}">
                  <a16:creationId xmlns:a16="http://schemas.microsoft.com/office/drawing/2014/main" id="{85481EA3-8554-1AA4-7299-A1C5A51A5539}"/>
                </a:ext>
              </a:extLst>
            </p:cNvPr>
            <p:cNvGrpSpPr/>
            <p:nvPr/>
          </p:nvGrpSpPr>
          <p:grpSpPr>
            <a:xfrm rot="5400000">
              <a:off x="8715953" y="6076871"/>
              <a:ext cx="1764151" cy="1842558"/>
              <a:chOff x="0" y="0"/>
              <a:chExt cx="571500" cy="596900"/>
            </a:xfrm>
          </p:grpSpPr>
          <p:sp>
            <p:nvSpPr>
              <p:cNvPr id="69" name="Freeform 15">
                <a:extLst>
                  <a:ext uri="{FF2B5EF4-FFF2-40B4-BE49-F238E27FC236}">
                    <a16:creationId xmlns:a16="http://schemas.microsoft.com/office/drawing/2014/main" id="{0066659D-856C-F208-EB76-C0554CC8D967}"/>
                  </a:ext>
                </a:extLst>
              </p:cNvPr>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DAF2D1"/>
              </a:solidFill>
            </p:spPr>
            <p:txBody>
              <a:bodyPr/>
              <a:lstStyle/>
              <a:p>
                <a:endParaRPr lang="en-US" sz="1000">
                  <a:latin typeface="Times New Roman" panose="02020603050405020304" pitchFamily="18" charset="0"/>
                  <a:cs typeface="Times New Roman" panose="02020603050405020304" pitchFamily="18" charset="0"/>
                </a:endParaRPr>
              </a:p>
            </p:txBody>
          </p:sp>
          <p:sp>
            <p:nvSpPr>
              <p:cNvPr id="70" name="TextBox 16">
                <a:extLst>
                  <a:ext uri="{FF2B5EF4-FFF2-40B4-BE49-F238E27FC236}">
                    <a16:creationId xmlns:a16="http://schemas.microsoft.com/office/drawing/2014/main" id="{48A32313-1332-74A4-B07C-AD48E60AA052}"/>
                  </a:ext>
                </a:extLst>
              </p:cNvPr>
              <p:cNvSpPr txBox="1"/>
              <p:nvPr/>
            </p:nvSpPr>
            <p:spPr>
              <a:xfrm>
                <a:off x="0" y="279400"/>
                <a:ext cx="285750" cy="317500"/>
              </a:xfrm>
              <a:prstGeom prst="rect">
                <a:avLst/>
              </a:prstGeom>
            </p:spPr>
            <p:txBody>
              <a:bodyPr lIns="43615" tIns="43615" rIns="43615" bIns="43615" rtlCol="0" anchor="ctr"/>
              <a:lstStyle/>
              <a:p>
                <a:pPr marL="0" lvl="0" indent="0" algn="ctr">
                  <a:lnSpc>
                    <a:spcPts val="2163"/>
                  </a:lnSpc>
                  <a:spcBef>
                    <a:spcPct val="0"/>
                  </a:spcBef>
                </a:pPr>
                <a:endParaRPr sz="1000">
                  <a:latin typeface="Times New Roman" panose="02020603050405020304" pitchFamily="18" charset="0"/>
                  <a:cs typeface="Times New Roman" panose="02020603050405020304" pitchFamily="18" charset="0"/>
                </a:endParaRPr>
              </a:p>
            </p:txBody>
          </p:sp>
        </p:grpSp>
        <p:sp>
          <p:nvSpPr>
            <p:cNvPr id="71" name="Freeform 17">
              <a:extLst>
                <a:ext uri="{FF2B5EF4-FFF2-40B4-BE49-F238E27FC236}">
                  <a16:creationId xmlns:a16="http://schemas.microsoft.com/office/drawing/2014/main" id="{DC8505CF-2F2B-0635-0E9F-FFC5AAE275EA}"/>
                </a:ext>
              </a:extLst>
            </p:cNvPr>
            <p:cNvSpPr/>
            <p:nvPr/>
          </p:nvSpPr>
          <p:spPr>
            <a:xfrm>
              <a:off x="832393" y="2476500"/>
              <a:ext cx="5454107" cy="5447290"/>
            </a:xfrm>
            <a:custGeom>
              <a:avLst/>
              <a:gdLst/>
              <a:ahLst/>
              <a:cxnLst/>
              <a:rect l="l" t="t" r="r" b="b"/>
              <a:pathLst>
                <a:path w="5454107" h="5447290">
                  <a:moveTo>
                    <a:pt x="0" y="0"/>
                  </a:moveTo>
                  <a:lnTo>
                    <a:pt x="5454107" y="0"/>
                  </a:lnTo>
                  <a:lnTo>
                    <a:pt x="5454107" y="5447290"/>
                  </a:lnTo>
                  <a:lnTo>
                    <a:pt x="0" y="5447290"/>
                  </a:lnTo>
                  <a:lnTo>
                    <a:pt x="0" y="0"/>
                  </a:lnTo>
                  <a:close/>
                </a:path>
              </a:pathLst>
            </a:custGeom>
            <a:blipFill>
              <a:blip r:embed="rId4"/>
              <a:stretch>
                <a:fillRect/>
              </a:stretch>
            </a:blipFill>
          </p:spPr>
          <p:txBody>
            <a:bodyPr/>
            <a:lstStyle/>
            <a:p>
              <a:endParaRPr lang="en-US" sz="1000">
                <a:latin typeface="Times New Roman" panose="02020603050405020304" pitchFamily="18" charset="0"/>
                <a:cs typeface="Times New Roman" panose="02020603050405020304" pitchFamily="18" charset="0"/>
              </a:endParaRPr>
            </a:p>
          </p:txBody>
        </p:sp>
        <p:grpSp>
          <p:nvGrpSpPr>
            <p:cNvPr id="72" name="Group 18">
              <a:extLst>
                <a:ext uri="{FF2B5EF4-FFF2-40B4-BE49-F238E27FC236}">
                  <a16:creationId xmlns:a16="http://schemas.microsoft.com/office/drawing/2014/main" id="{479FE175-5922-7E96-AA77-55E5E425C5C1}"/>
                </a:ext>
              </a:extLst>
            </p:cNvPr>
            <p:cNvGrpSpPr/>
            <p:nvPr/>
          </p:nvGrpSpPr>
          <p:grpSpPr>
            <a:xfrm>
              <a:off x="832393" y="3052712"/>
              <a:ext cx="4563933" cy="4563933"/>
              <a:chOff x="0" y="0"/>
              <a:chExt cx="812800" cy="812800"/>
            </a:xfrm>
          </p:grpSpPr>
          <p:sp>
            <p:nvSpPr>
              <p:cNvPr id="73" name="Freeform 19">
                <a:extLst>
                  <a:ext uri="{FF2B5EF4-FFF2-40B4-BE49-F238E27FC236}">
                    <a16:creationId xmlns:a16="http://schemas.microsoft.com/office/drawing/2014/main" id="{AC93F134-EDBC-9F9B-AC5E-84D1F267C84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6B25"/>
              </a:solidFill>
            </p:spPr>
            <p:txBody>
              <a:bodyPr/>
              <a:lstStyle/>
              <a:p>
                <a:endParaRPr lang="en-US" sz="1000">
                  <a:latin typeface="Times New Roman" panose="02020603050405020304" pitchFamily="18" charset="0"/>
                  <a:cs typeface="Times New Roman" panose="02020603050405020304" pitchFamily="18" charset="0"/>
                </a:endParaRPr>
              </a:p>
            </p:txBody>
          </p:sp>
          <p:sp>
            <p:nvSpPr>
              <p:cNvPr id="74" name="TextBox 20">
                <a:extLst>
                  <a:ext uri="{FF2B5EF4-FFF2-40B4-BE49-F238E27FC236}">
                    <a16:creationId xmlns:a16="http://schemas.microsoft.com/office/drawing/2014/main" id="{0E8C6E70-7AB3-DFA9-EA45-BB352A373EA5}"/>
                  </a:ext>
                </a:extLst>
              </p:cNvPr>
              <p:cNvSpPr txBox="1"/>
              <p:nvPr/>
            </p:nvSpPr>
            <p:spPr>
              <a:xfrm>
                <a:off x="86175" y="57150"/>
                <a:ext cx="660400" cy="755650"/>
              </a:xfrm>
              <a:prstGeom prst="rect">
                <a:avLst/>
              </a:prstGeom>
            </p:spPr>
            <p:txBody>
              <a:bodyPr lIns="50800" tIns="50800" rIns="50800" bIns="50800" rtlCol="0" anchor="ctr"/>
              <a:lstStyle/>
              <a:p>
                <a:pPr algn="ctr"/>
                <a:endParaRPr lang="en-US" sz="1000" b="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a:p>
                <a:pPr algn="ctr"/>
                <a:endParaRPr lang="en-US" sz="1000" b="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a:p>
                <a:pPr algn="ctr"/>
                <a:endParaRPr lang="en-US" sz="1000" b="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a:p>
                <a:pPr algn="ctr"/>
                <a:endParaRPr lang="en-US" sz="1000" b="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a:p>
                <a:pPr algn="ctr"/>
                <a:endParaRPr lang="en-US" sz="1000" b="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a:p>
                <a:pPr algn="ctr"/>
                <a:r>
                  <a:rPr lang="en-US" b="1" dirty="0">
                    <a:solidFill>
                      <a:schemeClr val="bg1"/>
                    </a:solidFill>
                    <a:latin typeface="Times New Roman" panose="02020603050405020304" pitchFamily="18" charset="0"/>
                    <a:ea typeface="Times New Roman Bold"/>
                    <a:cs typeface="Times New Roman" panose="02020603050405020304" pitchFamily="18" charset="0"/>
                    <a:sym typeface="Times New Roman Bold"/>
                  </a:rPr>
                  <a:t>3 Intervention Modalities</a:t>
                </a:r>
              </a:p>
              <a:p>
                <a:pPr marL="0" lvl="0" indent="0" algn="ctr">
                  <a:spcBef>
                    <a:spcPct val="0"/>
                  </a:spcBef>
                </a:pPr>
                <a:r>
                  <a:rPr lang="en-US" b="1" dirty="0">
                    <a:solidFill>
                      <a:schemeClr val="bg1"/>
                    </a:solidFill>
                    <a:latin typeface="Times New Roman" panose="02020603050405020304" pitchFamily="18" charset="0"/>
                    <a:ea typeface="Times New Roman Bold"/>
                    <a:cs typeface="Times New Roman" panose="02020603050405020304" pitchFamily="18" charset="0"/>
                    <a:sym typeface="Times New Roman Bold"/>
                  </a:rPr>
                  <a:t>for BRAVA</a:t>
                </a:r>
              </a:p>
            </p:txBody>
          </p:sp>
        </p:grpSp>
        <p:sp>
          <p:nvSpPr>
            <p:cNvPr id="96" name="TextBox 42">
              <a:extLst>
                <a:ext uri="{FF2B5EF4-FFF2-40B4-BE49-F238E27FC236}">
                  <a16:creationId xmlns:a16="http://schemas.microsoft.com/office/drawing/2014/main" id="{FBCF7CBC-679C-E488-F349-960FBF7B0486}"/>
                </a:ext>
              </a:extLst>
            </p:cNvPr>
            <p:cNvSpPr txBox="1"/>
            <p:nvPr/>
          </p:nvSpPr>
          <p:spPr>
            <a:xfrm>
              <a:off x="5435853" y="3552858"/>
              <a:ext cx="3537851" cy="587652"/>
            </a:xfrm>
            <a:prstGeom prst="rect">
              <a:avLst/>
            </a:prstGeom>
          </p:spPr>
          <p:txBody>
            <a:bodyPr lIns="0" tIns="0" rIns="0" bIns="0" rtlCol="0" anchor="t">
              <a:spAutoFit/>
            </a:bodyPr>
            <a:lstStyle/>
            <a:p>
              <a:pPr algn="just"/>
              <a:r>
                <a:rPr lang="en-US" sz="1000" b="1">
                  <a:latin typeface="Times New Roman" panose="02020603050405020304" pitchFamily="18" charset="0"/>
                  <a:ea typeface="Times New Roman Bold"/>
                  <a:cs typeface="Times New Roman" panose="02020603050405020304" pitchFamily="18" charset="0"/>
                  <a:sym typeface="Times New Roman Bold"/>
                </a:rPr>
                <a:t>1. Institutional Capacity   </a:t>
              </a:r>
            </a:p>
            <a:p>
              <a:pPr algn="just">
                <a:spcBef>
                  <a:spcPct val="0"/>
                </a:spcBef>
              </a:pPr>
              <a:r>
                <a:rPr lang="en-US" sz="1000" b="1">
                  <a:latin typeface="Times New Roman" panose="02020603050405020304" pitchFamily="18" charset="0"/>
                  <a:ea typeface="Times New Roman Bold"/>
                  <a:cs typeface="Times New Roman" panose="02020603050405020304" pitchFamily="18" charset="0"/>
                  <a:sym typeface="Times New Roman Bold"/>
                </a:rPr>
                <a:t>&amp; Technical Assistance</a:t>
              </a:r>
            </a:p>
          </p:txBody>
        </p:sp>
        <p:sp>
          <p:nvSpPr>
            <p:cNvPr id="97" name="TextBox 43">
              <a:extLst>
                <a:ext uri="{FF2B5EF4-FFF2-40B4-BE49-F238E27FC236}">
                  <a16:creationId xmlns:a16="http://schemas.microsoft.com/office/drawing/2014/main" id="{40603DC3-0AAD-F5CC-E143-C704D5649641}"/>
                </a:ext>
              </a:extLst>
            </p:cNvPr>
            <p:cNvSpPr txBox="1"/>
            <p:nvPr/>
          </p:nvSpPr>
          <p:spPr>
            <a:xfrm>
              <a:off x="5293677" y="6451866"/>
              <a:ext cx="3680027" cy="587652"/>
            </a:xfrm>
            <a:prstGeom prst="rect">
              <a:avLst/>
            </a:prstGeom>
          </p:spPr>
          <p:txBody>
            <a:bodyPr lIns="0" tIns="0" rIns="0" bIns="0" rtlCol="0" anchor="t">
              <a:spAutoFit/>
            </a:bodyPr>
            <a:lstStyle/>
            <a:p>
              <a:pPr algn="just"/>
              <a:r>
                <a:rPr lang="en-US" sz="1000" b="1">
                  <a:latin typeface="Times New Roman" panose="02020603050405020304" pitchFamily="18" charset="0"/>
                  <a:ea typeface="Times New Roman Bold"/>
                  <a:cs typeface="Times New Roman" panose="02020603050405020304" pitchFamily="18" charset="0"/>
                  <a:sym typeface="Times New Roman Bold"/>
                </a:rPr>
                <a:t>3. Civil Society &amp; </a:t>
              </a:r>
            </a:p>
            <a:p>
              <a:pPr algn="just"/>
              <a:r>
                <a:rPr lang="en-US" sz="1000" b="1">
                  <a:latin typeface="Times New Roman" panose="02020603050405020304" pitchFamily="18" charset="0"/>
                  <a:ea typeface="Times New Roman Bold"/>
                  <a:cs typeface="Times New Roman" panose="02020603050405020304" pitchFamily="18" charset="0"/>
                  <a:sym typeface="Times New Roman Bold"/>
                </a:rPr>
                <a:t>Oversight Strengthening</a:t>
              </a:r>
            </a:p>
          </p:txBody>
        </p:sp>
        <p:sp>
          <p:nvSpPr>
            <p:cNvPr id="98" name="TextBox 44">
              <a:extLst>
                <a:ext uri="{FF2B5EF4-FFF2-40B4-BE49-F238E27FC236}">
                  <a16:creationId xmlns:a16="http://schemas.microsoft.com/office/drawing/2014/main" id="{4D9B8EBF-6C51-DED1-659A-EF2BDAD30526}"/>
                </a:ext>
              </a:extLst>
            </p:cNvPr>
            <p:cNvSpPr txBox="1"/>
            <p:nvPr/>
          </p:nvSpPr>
          <p:spPr>
            <a:xfrm>
              <a:off x="5418582" y="5018774"/>
              <a:ext cx="3555122" cy="587652"/>
            </a:xfrm>
            <a:prstGeom prst="rect">
              <a:avLst/>
            </a:prstGeom>
          </p:spPr>
          <p:txBody>
            <a:bodyPr lIns="0" tIns="0" rIns="0" bIns="0" rtlCol="0" anchor="t">
              <a:spAutoFit/>
            </a:bodyPr>
            <a:lstStyle/>
            <a:p>
              <a:pPr algn="ctr"/>
              <a:r>
                <a:rPr lang="en-US" sz="1000" b="1">
                  <a:latin typeface="Times New Roman" panose="02020603050405020304" pitchFamily="18" charset="0"/>
                  <a:ea typeface="Times New Roman Bold"/>
                  <a:cs typeface="Times New Roman" panose="02020603050405020304" pitchFamily="18" charset="0"/>
                  <a:sym typeface="Times New Roman Bold"/>
                </a:rPr>
                <a:t>2. Data Governance &amp;  </a:t>
              </a:r>
            </a:p>
            <a:p>
              <a:pPr algn="ctr"/>
              <a:r>
                <a:rPr lang="en-US" sz="1000" b="1">
                  <a:latin typeface="Times New Roman" panose="02020603050405020304" pitchFamily="18" charset="0"/>
                  <a:ea typeface="Times New Roman Bold"/>
                  <a:cs typeface="Times New Roman" panose="02020603050405020304" pitchFamily="18" charset="0"/>
                  <a:sym typeface="Times New Roman Bold"/>
                </a:rPr>
                <a:t>Public Infrastructure</a:t>
              </a:r>
            </a:p>
          </p:txBody>
        </p:sp>
      </p:grpSp>
      <p:sp>
        <p:nvSpPr>
          <p:cNvPr id="107" name="Rectangle 106">
            <a:extLst>
              <a:ext uri="{FF2B5EF4-FFF2-40B4-BE49-F238E27FC236}">
                <a16:creationId xmlns:a16="http://schemas.microsoft.com/office/drawing/2014/main" id="{52197DC7-9363-302D-2E14-E3B13F6AF809}"/>
              </a:ext>
            </a:extLst>
          </p:cNvPr>
          <p:cNvSpPr/>
          <p:nvPr/>
        </p:nvSpPr>
        <p:spPr>
          <a:xfrm>
            <a:off x="5645667" y="1984780"/>
            <a:ext cx="3629426" cy="924317"/>
          </a:xfrm>
          <a:prstGeom prst="rect">
            <a:avLst/>
          </a:prstGeom>
          <a:solidFill>
            <a:srgbClr val="BCD8F0"/>
          </a:solidFill>
          <a:ln>
            <a:noFill/>
          </a:ln>
        </p:spPr>
        <p:style>
          <a:lnRef idx="2">
            <a:schemeClr val="accent1">
              <a:shade val="15000"/>
            </a:schemeClr>
          </a:lnRef>
          <a:fillRef idx="1">
            <a:schemeClr val="accent1"/>
          </a:fillRef>
          <a:effectRef idx="0">
            <a:schemeClr val="accent1"/>
          </a:effectRef>
          <a:fontRef idx="minor">
            <a:schemeClr val="lt1"/>
          </a:fontRef>
        </p:style>
        <p:txBody>
          <a:bodyPr lIns="288000" rtlCol="0" anchor="ctr"/>
          <a:lstStyle/>
          <a:p>
            <a:pPr algn="just">
              <a:spcBef>
                <a:spcPct val="0"/>
              </a:spcBef>
            </a:pPr>
            <a:r>
              <a:rPr lang="en-US" sz="1000">
                <a:solidFill>
                  <a:srgbClr val="000000"/>
                </a:solidFill>
                <a:latin typeface="Times New Roman" panose="02020603050405020304" pitchFamily="18" charset="0"/>
                <a:ea typeface="Times New Roman"/>
                <a:cs typeface="Times New Roman" panose="02020603050405020304" pitchFamily="18" charset="0"/>
                <a:sym typeface="Times New Roman"/>
              </a:rPr>
              <a:t> Addresses the gap between Brazil’s </a:t>
            </a:r>
            <a:r>
              <a:rPr lang="en-US" sz="1000" b="1">
                <a:solidFill>
                  <a:srgbClr val="000000"/>
                </a:solidFill>
                <a:latin typeface="Times New Roman" panose="02020603050405020304" pitchFamily="18" charset="0"/>
                <a:ea typeface="Times New Roman Bold"/>
                <a:cs typeface="Times New Roman" panose="02020603050405020304" pitchFamily="18" charset="0"/>
                <a:sym typeface="Times New Roman Bold"/>
              </a:rPr>
              <a:t>regulatory ambition and operational execution</a:t>
            </a:r>
            <a:r>
              <a:rPr lang="en-US" sz="1000">
                <a:solidFill>
                  <a:srgbClr val="000000"/>
                </a:solidFill>
                <a:latin typeface="Times New Roman" panose="02020603050405020304" pitchFamily="18" charset="0"/>
                <a:ea typeface="Times New Roman"/>
                <a:cs typeface="Times New Roman" panose="02020603050405020304" pitchFamily="18" charset="0"/>
                <a:sym typeface="Times New Roman"/>
              </a:rPr>
              <a:t> by fostering:</a:t>
            </a:r>
          </a:p>
          <a:p>
            <a:pPr marL="431801" lvl="1" indent="-215900">
              <a:spcBef>
                <a:spcPct val="0"/>
              </a:spcBef>
              <a:buFont typeface="Arial"/>
              <a:buChar char="•"/>
            </a:pPr>
            <a:r>
              <a:rPr lang="en-US" sz="1000">
                <a:solidFill>
                  <a:srgbClr val="000000"/>
                </a:solidFill>
                <a:latin typeface="Times New Roman" panose="02020603050405020304" pitchFamily="18" charset="0"/>
                <a:ea typeface="Times New Roman"/>
                <a:cs typeface="Times New Roman" panose="02020603050405020304" pitchFamily="18" charset="0"/>
                <a:sym typeface="Times New Roman"/>
              </a:rPr>
              <a:t>Governance literacy</a:t>
            </a:r>
          </a:p>
          <a:p>
            <a:pPr marL="431801" lvl="1" indent="-215900">
              <a:spcBef>
                <a:spcPct val="0"/>
              </a:spcBef>
              <a:buFont typeface="Arial"/>
              <a:buChar char="•"/>
            </a:pPr>
            <a:r>
              <a:rPr lang="en-US" sz="1000">
                <a:solidFill>
                  <a:srgbClr val="000000"/>
                </a:solidFill>
                <a:latin typeface="Times New Roman" panose="02020603050405020304" pitchFamily="18" charset="0"/>
                <a:ea typeface="Times New Roman"/>
                <a:cs typeface="Times New Roman" panose="02020603050405020304" pitchFamily="18" charset="0"/>
                <a:sym typeface="Times New Roman"/>
              </a:rPr>
              <a:t>Leadership capacity </a:t>
            </a:r>
          </a:p>
          <a:p>
            <a:pPr marL="431801" lvl="1" indent="-215900">
              <a:spcBef>
                <a:spcPct val="0"/>
              </a:spcBef>
              <a:buFont typeface="Arial"/>
              <a:buChar char="•"/>
            </a:pPr>
            <a:r>
              <a:rPr lang="en-US" sz="1000">
                <a:solidFill>
                  <a:srgbClr val="000000"/>
                </a:solidFill>
                <a:latin typeface="Times New Roman" panose="02020603050405020304" pitchFamily="18" charset="0"/>
                <a:ea typeface="Times New Roman"/>
                <a:cs typeface="Times New Roman" panose="02020603050405020304" pitchFamily="18" charset="0"/>
                <a:sym typeface="Times New Roman"/>
              </a:rPr>
              <a:t>Strategic AI fluency</a:t>
            </a:r>
          </a:p>
        </p:txBody>
      </p:sp>
      <p:sp>
        <p:nvSpPr>
          <p:cNvPr id="108" name="Rectangle 107">
            <a:extLst>
              <a:ext uri="{FF2B5EF4-FFF2-40B4-BE49-F238E27FC236}">
                <a16:creationId xmlns:a16="http://schemas.microsoft.com/office/drawing/2014/main" id="{CA7D446B-E129-68E0-C70C-9482863CA450}"/>
              </a:ext>
            </a:extLst>
          </p:cNvPr>
          <p:cNvSpPr/>
          <p:nvPr/>
        </p:nvSpPr>
        <p:spPr>
          <a:xfrm>
            <a:off x="6015296" y="3020787"/>
            <a:ext cx="3243798" cy="925200"/>
          </a:xfrm>
          <a:prstGeom prst="rect">
            <a:avLst/>
          </a:prstGeom>
          <a:solidFill>
            <a:srgbClr val="FFE7B3"/>
          </a:solidFill>
          <a:ln>
            <a:noFill/>
          </a:ln>
        </p:spPr>
        <p:style>
          <a:lnRef idx="2">
            <a:schemeClr val="accent1">
              <a:shade val="15000"/>
            </a:schemeClr>
          </a:lnRef>
          <a:fillRef idx="1">
            <a:schemeClr val="accent1"/>
          </a:fillRef>
          <a:effectRef idx="0">
            <a:schemeClr val="accent1"/>
          </a:effectRef>
          <a:fontRef idx="minor">
            <a:schemeClr val="lt1"/>
          </a:fontRef>
        </p:style>
        <p:txBody>
          <a:bodyPr lIns="288000" rtlCol="0" anchor="ctr"/>
          <a:lstStyle/>
          <a:p>
            <a:pPr algn="just">
              <a:spcBef>
                <a:spcPct val="0"/>
              </a:spcBef>
            </a:pPr>
            <a:r>
              <a:rPr lang="en-US" sz="1000">
                <a:solidFill>
                  <a:srgbClr val="000000"/>
                </a:solidFill>
                <a:latin typeface="Times New Roman" panose="02020603050405020304" pitchFamily="18" charset="0"/>
                <a:ea typeface="Times New Roman"/>
                <a:cs typeface="Times New Roman" panose="02020603050405020304" pitchFamily="18" charset="0"/>
                <a:sym typeface="Times New Roman"/>
              </a:rPr>
              <a:t>Addresses the </a:t>
            </a:r>
            <a:r>
              <a:rPr lang="en-US" sz="1000" b="1">
                <a:solidFill>
                  <a:srgbClr val="000000"/>
                </a:solidFill>
                <a:latin typeface="Times New Roman" panose="02020603050405020304" pitchFamily="18" charset="0"/>
                <a:ea typeface="Times New Roman Bold"/>
                <a:cs typeface="Times New Roman" panose="02020603050405020304" pitchFamily="18" charset="0"/>
                <a:sym typeface="Times New Roman Bold"/>
              </a:rPr>
              <a:t>interoperability gap</a:t>
            </a:r>
            <a:r>
              <a:rPr lang="en-US" sz="1000">
                <a:solidFill>
                  <a:srgbClr val="000000"/>
                </a:solidFill>
                <a:latin typeface="Times New Roman" panose="02020603050405020304" pitchFamily="18" charset="0"/>
                <a:ea typeface="Times New Roman"/>
                <a:cs typeface="Times New Roman" panose="02020603050405020304" pitchFamily="18" charset="0"/>
                <a:sym typeface="Times New Roman"/>
              </a:rPr>
              <a:t> in Brazil’s fragmented data systems by improving reliability and scalability of future AI deployments.</a:t>
            </a:r>
          </a:p>
        </p:txBody>
      </p:sp>
      <p:sp>
        <p:nvSpPr>
          <p:cNvPr id="109" name="Rectangle 108">
            <a:extLst>
              <a:ext uri="{FF2B5EF4-FFF2-40B4-BE49-F238E27FC236}">
                <a16:creationId xmlns:a16="http://schemas.microsoft.com/office/drawing/2014/main" id="{0EE232AB-BEDC-72E3-6D66-BCFD69DCC66E}"/>
              </a:ext>
            </a:extLst>
          </p:cNvPr>
          <p:cNvSpPr/>
          <p:nvPr/>
        </p:nvSpPr>
        <p:spPr>
          <a:xfrm>
            <a:off x="5624029" y="4040221"/>
            <a:ext cx="3651064" cy="925200"/>
          </a:xfrm>
          <a:prstGeom prst="rect">
            <a:avLst/>
          </a:prstGeom>
          <a:solidFill>
            <a:srgbClr val="DAF2D1"/>
          </a:solidFill>
          <a:ln>
            <a:noFill/>
          </a:ln>
        </p:spPr>
        <p:style>
          <a:lnRef idx="2">
            <a:schemeClr val="accent1">
              <a:shade val="15000"/>
            </a:schemeClr>
          </a:lnRef>
          <a:fillRef idx="1">
            <a:schemeClr val="accent1"/>
          </a:fillRef>
          <a:effectRef idx="0">
            <a:schemeClr val="accent1"/>
          </a:effectRef>
          <a:fontRef idx="minor">
            <a:schemeClr val="lt1"/>
          </a:fontRef>
        </p:style>
        <p:txBody>
          <a:bodyPr lIns="288000" rtlCol="0" anchor="ctr"/>
          <a:lstStyle/>
          <a:p>
            <a:pPr>
              <a:spcBef>
                <a:spcPct val="0"/>
              </a:spcBef>
            </a:pPr>
            <a:r>
              <a:rPr lang="en-US" sz="1000">
                <a:solidFill>
                  <a:srgbClr val="000000"/>
                </a:solidFill>
                <a:latin typeface="Times New Roman"/>
                <a:ea typeface="Times New Roman"/>
                <a:cs typeface="Times New Roman"/>
                <a:sym typeface="Times New Roman"/>
              </a:rPr>
              <a:t>Addresses the </a:t>
            </a:r>
            <a:r>
              <a:rPr lang="en-US" sz="1000" b="1">
                <a:solidFill>
                  <a:srgbClr val="000000"/>
                </a:solidFill>
                <a:latin typeface="Times New Roman"/>
                <a:ea typeface="Times New Roman"/>
                <a:cs typeface="Times New Roman"/>
                <a:sym typeface="Times New Roman"/>
              </a:rPr>
              <a:t>accountability gap by investing </a:t>
            </a:r>
            <a:r>
              <a:rPr lang="en-US" sz="1000">
                <a:solidFill>
                  <a:srgbClr val="000000"/>
                </a:solidFill>
                <a:latin typeface="Times New Roman"/>
                <a:ea typeface="Times New Roman"/>
                <a:cs typeface="Times New Roman"/>
                <a:sym typeface="Times New Roman"/>
              </a:rPr>
              <a:t>in civil society organizations that are technically credible and politically neutral.</a:t>
            </a:r>
          </a:p>
        </p:txBody>
      </p:sp>
      <p:grpSp>
        <p:nvGrpSpPr>
          <p:cNvPr id="110" name="Group 109">
            <a:extLst>
              <a:ext uri="{FF2B5EF4-FFF2-40B4-BE49-F238E27FC236}">
                <a16:creationId xmlns:a16="http://schemas.microsoft.com/office/drawing/2014/main" id="{29955B96-70D0-78F0-A163-771126244824}"/>
              </a:ext>
            </a:extLst>
          </p:cNvPr>
          <p:cNvGrpSpPr/>
          <p:nvPr/>
        </p:nvGrpSpPr>
        <p:grpSpPr>
          <a:xfrm>
            <a:off x="6118586" y="2933188"/>
            <a:ext cx="386191" cy="313765"/>
            <a:chOff x="690350" y="5114971"/>
            <a:chExt cx="386191" cy="313765"/>
          </a:xfrm>
        </p:grpSpPr>
        <p:sp>
          <p:nvSpPr>
            <p:cNvPr id="111" name="Trapezium 110">
              <a:extLst>
                <a:ext uri="{FF2B5EF4-FFF2-40B4-BE49-F238E27FC236}">
                  <a16:creationId xmlns:a16="http://schemas.microsoft.com/office/drawing/2014/main" id="{2CC78966-3A16-867A-4FFA-0F89486AC808}"/>
                </a:ext>
              </a:extLst>
            </p:cNvPr>
            <p:cNvSpPr/>
            <p:nvPr/>
          </p:nvSpPr>
          <p:spPr>
            <a:xfrm>
              <a:off x="817287" y="5114971"/>
              <a:ext cx="259254" cy="121916"/>
            </a:xfrm>
            <a:prstGeom prst="trapezoid">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ff-page Connector 111">
              <a:extLst>
                <a:ext uri="{FF2B5EF4-FFF2-40B4-BE49-F238E27FC236}">
                  <a16:creationId xmlns:a16="http://schemas.microsoft.com/office/drawing/2014/main" id="{8A9E9914-FD81-45F2-2800-8104DA9B0D03}"/>
                </a:ext>
              </a:extLst>
            </p:cNvPr>
            <p:cNvSpPr/>
            <p:nvPr/>
          </p:nvSpPr>
          <p:spPr>
            <a:xfrm>
              <a:off x="690350" y="5114971"/>
              <a:ext cx="319638" cy="313765"/>
            </a:xfrm>
            <a:prstGeom prst="flowChartOffpageConnector">
              <a:avLst/>
            </a:prstGeom>
            <a:solidFill>
              <a:srgbClr val="FCD5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2</a:t>
              </a:r>
            </a:p>
          </p:txBody>
        </p:sp>
      </p:grpSp>
      <p:grpSp>
        <p:nvGrpSpPr>
          <p:cNvPr id="113" name="Group 112">
            <a:extLst>
              <a:ext uri="{FF2B5EF4-FFF2-40B4-BE49-F238E27FC236}">
                <a16:creationId xmlns:a16="http://schemas.microsoft.com/office/drawing/2014/main" id="{2C7A39F0-B168-B38B-EFBB-384AE81FF4A2}"/>
              </a:ext>
            </a:extLst>
          </p:cNvPr>
          <p:cNvGrpSpPr/>
          <p:nvPr/>
        </p:nvGrpSpPr>
        <p:grpSpPr>
          <a:xfrm>
            <a:off x="5683767" y="1874321"/>
            <a:ext cx="386191" cy="313765"/>
            <a:chOff x="690350" y="5114971"/>
            <a:chExt cx="386191" cy="313765"/>
          </a:xfrm>
        </p:grpSpPr>
        <p:sp>
          <p:nvSpPr>
            <p:cNvPr id="114" name="Trapezium 113">
              <a:extLst>
                <a:ext uri="{FF2B5EF4-FFF2-40B4-BE49-F238E27FC236}">
                  <a16:creationId xmlns:a16="http://schemas.microsoft.com/office/drawing/2014/main" id="{966DC0AE-C210-D4FF-1F37-76AF910A2C24}"/>
                </a:ext>
              </a:extLst>
            </p:cNvPr>
            <p:cNvSpPr/>
            <p:nvPr/>
          </p:nvSpPr>
          <p:spPr>
            <a:xfrm>
              <a:off x="817287" y="5114971"/>
              <a:ext cx="259254" cy="121916"/>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ff-page Connector 114">
              <a:extLst>
                <a:ext uri="{FF2B5EF4-FFF2-40B4-BE49-F238E27FC236}">
                  <a16:creationId xmlns:a16="http://schemas.microsoft.com/office/drawing/2014/main" id="{39B10AC3-A7DE-289C-5C14-1B2DADF19B7B}"/>
                </a:ext>
              </a:extLst>
            </p:cNvPr>
            <p:cNvSpPr/>
            <p:nvPr/>
          </p:nvSpPr>
          <p:spPr>
            <a:xfrm>
              <a:off x="690350" y="5114971"/>
              <a:ext cx="319638" cy="313765"/>
            </a:xfrm>
            <a:prstGeom prst="flowChartOffpageConnector">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1</a:t>
              </a:r>
            </a:p>
          </p:txBody>
        </p:sp>
      </p:grpSp>
      <p:grpSp>
        <p:nvGrpSpPr>
          <p:cNvPr id="116" name="Group 115">
            <a:extLst>
              <a:ext uri="{FF2B5EF4-FFF2-40B4-BE49-F238E27FC236}">
                <a16:creationId xmlns:a16="http://schemas.microsoft.com/office/drawing/2014/main" id="{D1E0E960-7B9D-6B25-2296-84AF2EB40B7C}"/>
              </a:ext>
            </a:extLst>
          </p:cNvPr>
          <p:cNvGrpSpPr/>
          <p:nvPr/>
        </p:nvGrpSpPr>
        <p:grpSpPr>
          <a:xfrm>
            <a:off x="5683767" y="3995452"/>
            <a:ext cx="386191" cy="313765"/>
            <a:chOff x="690350" y="5114971"/>
            <a:chExt cx="386191" cy="313765"/>
          </a:xfrm>
        </p:grpSpPr>
        <p:sp>
          <p:nvSpPr>
            <p:cNvPr id="117" name="Trapezium 116">
              <a:extLst>
                <a:ext uri="{FF2B5EF4-FFF2-40B4-BE49-F238E27FC236}">
                  <a16:creationId xmlns:a16="http://schemas.microsoft.com/office/drawing/2014/main" id="{EC79318E-409C-009A-6C21-5CDA2EAD428F}"/>
                </a:ext>
              </a:extLst>
            </p:cNvPr>
            <p:cNvSpPr/>
            <p:nvPr/>
          </p:nvSpPr>
          <p:spPr>
            <a:xfrm>
              <a:off x="817287" y="5114971"/>
              <a:ext cx="259254" cy="121916"/>
            </a:xfrm>
            <a:prstGeom prst="trapezoid">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ff-page Connector 117">
              <a:extLst>
                <a:ext uri="{FF2B5EF4-FFF2-40B4-BE49-F238E27FC236}">
                  <a16:creationId xmlns:a16="http://schemas.microsoft.com/office/drawing/2014/main" id="{B83D3CB4-1F57-C701-76A2-934C27E2617E}"/>
                </a:ext>
              </a:extLst>
            </p:cNvPr>
            <p:cNvSpPr/>
            <p:nvPr/>
          </p:nvSpPr>
          <p:spPr>
            <a:xfrm>
              <a:off x="690350" y="5114971"/>
              <a:ext cx="319638" cy="313765"/>
            </a:xfrm>
            <a:prstGeom prst="flowChartOffpageConnector">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3</a:t>
              </a:r>
            </a:p>
          </p:txBody>
        </p:sp>
      </p:grpSp>
      <p:pic>
        <p:nvPicPr>
          <p:cNvPr id="121" name="Graphic 120" descr="Playbook with solid fill">
            <a:extLst>
              <a:ext uri="{FF2B5EF4-FFF2-40B4-BE49-F238E27FC236}">
                <a16:creationId xmlns:a16="http://schemas.microsoft.com/office/drawing/2014/main" id="{B9855622-D83D-3910-AC34-3BAEED21D1B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54948" y="2712611"/>
            <a:ext cx="914400" cy="914400"/>
          </a:xfrm>
          <a:prstGeom prst="rect">
            <a:avLst/>
          </a:prstGeom>
        </p:spPr>
      </p:pic>
    </p:spTree>
    <p:extLst>
      <p:ext uri="{BB962C8B-B14F-4D97-AF65-F5344CB8AC3E}">
        <p14:creationId xmlns:p14="http://schemas.microsoft.com/office/powerpoint/2010/main" val="6080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8000"/>
            <a:lum/>
          </a:blip>
          <a:srcRect/>
          <a:stretch>
            <a:fillRect t="-9000" b="-9000"/>
          </a:stretch>
        </a:blipFill>
        <a:effectLst/>
      </p:bgPr>
    </p:bg>
    <p:spTree>
      <p:nvGrpSpPr>
        <p:cNvPr id="1" name="">
          <a:extLst>
            <a:ext uri="{FF2B5EF4-FFF2-40B4-BE49-F238E27FC236}">
              <a16:creationId xmlns:a16="http://schemas.microsoft.com/office/drawing/2014/main" id="{15E37C30-46B8-696C-43C9-27A180F62A2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6D9E824-D454-519C-1EF9-978176BAA40C}"/>
              </a:ext>
            </a:extLst>
          </p:cNvPr>
          <p:cNvSpPr/>
          <p:nvPr/>
        </p:nvSpPr>
        <p:spPr>
          <a:xfrm rot="5400000">
            <a:off x="1524002" y="-1547830"/>
            <a:ext cx="6858001" cy="9953663"/>
          </a:xfrm>
          <a:prstGeom prst="rect">
            <a:avLst/>
          </a:prstGeom>
          <a:solidFill>
            <a:schemeClr val="accent6">
              <a:lumMod val="75000"/>
              <a:alpha val="5845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3B83F11F-0A04-394B-5B3E-B20B94FB6A59}"/>
              </a:ext>
            </a:extLst>
          </p:cNvPr>
          <p:cNvSpPr/>
          <p:nvPr/>
        </p:nvSpPr>
        <p:spPr>
          <a:xfrm rot="5400000">
            <a:off x="1524001" y="-1535916"/>
            <a:ext cx="6857998" cy="9929831"/>
          </a:xfrm>
          <a:prstGeom prst="rect">
            <a:avLst/>
          </a:prstGeom>
          <a:gradFill flip="none" rotWithShape="1">
            <a:gsLst>
              <a:gs pos="0">
                <a:srgbClr val="FFFD78">
                  <a:alpha val="0"/>
                </a:srgbClr>
              </a:gs>
              <a:gs pos="16000">
                <a:srgbClr val="FFFD78">
                  <a:alpha val="15000"/>
                </a:srgbClr>
              </a:gs>
              <a:gs pos="33000">
                <a:srgbClr val="FFFD78">
                  <a:alpha val="15000"/>
                </a:srgbClr>
              </a:gs>
              <a:gs pos="49000">
                <a:srgbClr val="FFC000">
                  <a:alpha val="25000"/>
                </a:srgbClr>
              </a:gs>
              <a:gs pos="81000">
                <a:srgbClr val="FFC000">
                  <a:alpha val="62126"/>
                </a:srgbClr>
              </a:gs>
              <a:gs pos="65000">
                <a:srgbClr val="FFC000">
                  <a:alpha val="50000"/>
                </a:srgbClr>
              </a:gs>
              <a:gs pos="100000">
                <a:srgbClr val="FFC000">
                  <a:alpha val="51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Chevron 6">
            <a:extLst>
              <a:ext uri="{FF2B5EF4-FFF2-40B4-BE49-F238E27FC236}">
                <a16:creationId xmlns:a16="http://schemas.microsoft.com/office/drawing/2014/main" id="{0D2A6104-A77F-11DD-AD3C-A60B3F132377}"/>
              </a:ext>
            </a:extLst>
          </p:cNvPr>
          <p:cNvSpPr/>
          <p:nvPr/>
        </p:nvSpPr>
        <p:spPr>
          <a:xfrm>
            <a:off x="1792465" y="-2"/>
            <a:ext cx="3160535" cy="6858002"/>
          </a:xfrm>
          <a:prstGeom prst="chevron">
            <a:avLst/>
          </a:prstGeom>
          <a:solidFill>
            <a:schemeClr val="bg1">
              <a:lumMod val="95000"/>
              <a:alpha val="139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Chevron 3">
            <a:extLst>
              <a:ext uri="{FF2B5EF4-FFF2-40B4-BE49-F238E27FC236}">
                <a16:creationId xmlns:a16="http://schemas.microsoft.com/office/drawing/2014/main" id="{F91F76DA-81B4-5B78-948C-EB12AFCF9A77}"/>
              </a:ext>
            </a:extLst>
          </p:cNvPr>
          <p:cNvSpPr/>
          <p:nvPr/>
        </p:nvSpPr>
        <p:spPr>
          <a:xfrm>
            <a:off x="32259" y="-5"/>
            <a:ext cx="3160535" cy="6858002"/>
          </a:xfrm>
          <a:prstGeom prst="chevron">
            <a:avLst/>
          </a:prstGeom>
          <a:solidFill>
            <a:schemeClr val="bg1">
              <a:lumMod val="95000"/>
              <a:alpha val="139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471473F-C3D2-A054-137F-834D15599B82}"/>
              </a:ext>
            </a:extLst>
          </p:cNvPr>
          <p:cNvSpPr>
            <a:spLocks noGrp="1"/>
          </p:cNvSpPr>
          <p:nvPr>
            <p:ph type="title"/>
          </p:nvPr>
        </p:nvSpPr>
        <p:spPr>
          <a:xfrm>
            <a:off x="1129902" y="2032100"/>
            <a:ext cx="5986515" cy="2222400"/>
          </a:xfrm>
        </p:spPr>
        <p:txBody>
          <a:bodyPr>
            <a:normAutofit/>
          </a:bodyPr>
          <a:lstStyle/>
          <a:p>
            <a:r>
              <a:rPr lang="en-US" sz="4800" b="1">
                <a:solidFill>
                  <a:schemeClr val="accent1">
                    <a:lumMod val="75000"/>
                  </a:schemeClr>
                </a:solidFill>
                <a:latin typeface="Times New Roman" panose="02020603050405020304" pitchFamily="18" charset="0"/>
                <a:cs typeface="Times New Roman" panose="02020603050405020304" pitchFamily="18" charset="0"/>
              </a:rPr>
              <a:t>Study Recommendations</a:t>
            </a:r>
          </a:p>
        </p:txBody>
      </p:sp>
    </p:spTree>
    <p:extLst>
      <p:ext uri="{BB962C8B-B14F-4D97-AF65-F5344CB8AC3E}">
        <p14:creationId xmlns:p14="http://schemas.microsoft.com/office/powerpoint/2010/main" val="1359511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0B8D7-A878-8124-5579-3FEAE61E93B6}"/>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B7E6F712-6D19-46C6-05C8-560A0FC39B19}"/>
              </a:ext>
            </a:extLst>
          </p:cNvPr>
          <p:cNvSpPr/>
          <p:nvPr/>
        </p:nvSpPr>
        <p:spPr>
          <a:xfrm>
            <a:off x="5002823" y="1743913"/>
            <a:ext cx="4316492" cy="1709449"/>
          </a:xfrm>
          <a:prstGeom prst="rect">
            <a:avLst/>
          </a:prstGeom>
          <a:solidFill>
            <a:srgbClr val="FFE7B3"/>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1200" dirty="0">
              <a:solidFill>
                <a:schemeClr val="tx1"/>
              </a:solidFill>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r>
              <a:rPr lang="en-US" sz="1200" dirty="0">
                <a:solidFill>
                  <a:schemeClr val="tx1"/>
                </a:solidFill>
                <a:latin typeface="Times New Roman"/>
                <a:cs typeface="Times New Roman"/>
              </a:rPr>
              <a:t>Recommendations are provided in a sequential manner, addressing Brazil’s two key constraints</a:t>
            </a:r>
          </a:p>
          <a:p>
            <a:pPr lvl="1"/>
            <a:endParaRPr lang="en-US" sz="1200" dirty="0">
              <a:solidFill>
                <a:schemeClr val="tx1"/>
              </a:solidFill>
              <a:latin typeface="Times New Roman"/>
              <a:cs typeface="Times New Roman"/>
            </a:endParaRPr>
          </a:p>
          <a:p>
            <a:pPr marL="1085850" lvl="2" indent="-171450">
              <a:buFont typeface="Arial" panose="020B0604020202020204" pitchFamily="34" charset="0"/>
              <a:buChar char="•"/>
            </a:pPr>
            <a:r>
              <a:rPr lang="en-US" sz="1200" dirty="0">
                <a:solidFill>
                  <a:schemeClr val="tx1"/>
                </a:solidFill>
                <a:latin typeface="Times New Roman"/>
                <a:cs typeface="Times New Roman"/>
              </a:rPr>
              <a:t>Constraints are interlinked and require layered interventions, thus recommendations are divided across near-term and longer-term. </a:t>
            </a:r>
          </a:p>
        </p:txBody>
      </p:sp>
      <p:sp>
        <p:nvSpPr>
          <p:cNvPr id="18" name="Rectangle 17">
            <a:extLst>
              <a:ext uri="{FF2B5EF4-FFF2-40B4-BE49-F238E27FC236}">
                <a16:creationId xmlns:a16="http://schemas.microsoft.com/office/drawing/2014/main" id="{BABE9EF3-94ED-4A44-EBBB-7FAB4FDEC304}"/>
              </a:ext>
            </a:extLst>
          </p:cNvPr>
          <p:cNvSpPr/>
          <p:nvPr/>
        </p:nvSpPr>
        <p:spPr>
          <a:xfrm>
            <a:off x="4992432" y="3517926"/>
            <a:ext cx="4316492" cy="1709449"/>
          </a:xfrm>
          <a:prstGeom prst="rect">
            <a:avLst/>
          </a:prstGeom>
          <a:solidFill>
            <a:srgbClr val="DAF2D1"/>
          </a:solidFill>
          <a:ln>
            <a:solidFill>
              <a:srgbClr val="8ED97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085850" lvl="2" indent="-171450">
              <a:buFont typeface="Arial" panose="020B0604020202020204" pitchFamily="34" charset="0"/>
              <a:buChar char="•"/>
            </a:pPr>
            <a:r>
              <a:rPr lang="en-US" sz="1200">
                <a:solidFill>
                  <a:schemeClr val="tx1"/>
                </a:solidFill>
                <a:latin typeface="Times New Roman" panose="02020603050405020304" pitchFamily="18" charset="0"/>
                <a:cs typeface="Times New Roman" panose="02020603050405020304" pitchFamily="18" charset="0"/>
              </a:rPr>
              <a:t>Requires political stability and governance conditions that do not yet exist. </a:t>
            </a:r>
          </a:p>
          <a:p>
            <a:pPr marL="1085850" lvl="2" indent="-171450">
              <a:buFont typeface="Arial" panose="020B0604020202020204" pitchFamily="34" charset="0"/>
              <a:buChar char="•"/>
            </a:pPr>
            <a:endParaRPr lang="en-US" sz="1200" dirty="0">
              <a:solidFill>
                <a:schemeClr val="tx1"/>
              </a:solidFill>
              <a:latin typeface="Times New Roman"/>
              <a:cs typeface="Times New Roman"/>
            </a:endParaRPr>
          </a:p>
          <a:p>
            <a:pPr marL="742950" lvl="1" indent="-285750">
              <a:buFont typeface="Arial" panose="020B0604020202020204" pitchFamily="34" charset="0"/>
              <a:buChar char="•"/>
            </a:pPr>
            <a:r>
              <a:rPr lang="en-US" sz="1200">
                <a:solidFill>
                  <a:schemeClr val="tx1"/>
                </a:solidFill>
                <a:latin typeface="Times New Roman" panose="02020603050405020304" pitchFamily="18" charset="0"/>
                <a:cs typeface="Times New Roman" panose="02020603050405020304" pitchFamily="18" charset="0"/>
              </a:rPr>
              <a:t>Ensures that BRAVA begins positioning now, however should not expect returns before the post-election environment stabilizes.</a:t>
            </a:r>
          </a:p>
        </p:txBody>
      </p:sp>
      <p:sp>
        <p:nvSpPr>
          <p:cNvPr id="17" name="Rectangle 16">
            <a:extLst>
              <a:ext uri="{FF2B5EF4-FFF2-40B4-BE49-F238E27FC236}">
                <a16:creationId xmlns:a16="http://schemas.microsoft.com/office/drawing/2014/main" id="{B64E2880-87C4-25F6-DBA2-35108059B119}"/>
              </a:ext>
            </a:extLst>
          </p:cNvPr>
          <p:cNvSpPr/>
          <p:nvPr/>
        </p:nvSpPr>
        <p:spPr>
          <a:xfrm>
            <a:off x="621000" y="3526217"/>
            <a:ext cx="4316492" cy="1709449"/>
          </a:xfrm>
          <a:prstGeom prst="rect">
            <a:avLst/>
          </a:prstGeom>
          <a:solidFill>
            <a:srgbClr val="BCD8F0"/>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88620" lvl="1" indent="-194310">
              <a:buFont typeface="Arial"/>
              <a:buChar char="•"/>
            </a:pPr>
            <a:r>
              <a:rPr lang="en-US" sz="1200" dirty="0">
                <a:solidFill>
                  <a:schemeClr val="tx1"/>
                </a:solidFill>
                <a:latin typeface="Times New Roman"/>
                <a:ea typeface="Times New Roman"/>
                <a:cs typeface="Times New Roman"/>
                <a:sym typeface="Times New Roman"/>
              </a:rPr>
              <a:t>Durable investments positioned </a:t>
            </a:r>
            <a:r>
              <a:rPr lang="en-US" sz="1200">
                <a:solidFill>
                  <a:schemeClr val="tx1"/>
                </a:solidFill>
                <a:latin typeface="Times New Roman"/>
                <a:ea typeface="Times New Roman"/>
                <a:cs typeface="Times New Roman"/>
                <a:sym typeface="Times New Roman"/>
              </a:rPr>
              <a:t>to be able to </a:t>
            </a:r>
            <a:endParaRPr lang="en-US" sz="1200" dirty="0">
              <a:solidFill>
                <a:schemeClr val="tx1"/>
              </a:solidFill>
              <a:latin typeface="Times New Roman"/>
              <a:ea typeface="Times New Roman"/>
              <a:cs typeface="Times New Roman"/>
              <a:sym typeface="Times New Roman"/>
            </a:endParaRPr>
          </a:p>
          <a:p>
            <a:pPr marL="194310" lvl="1"/>
            <a:r>
              <a:rPr lang="en-US" sz="1200" dirty="0">
                <a:solidFill>
                  <a:schemeClr val="tx1"/>
                </a:solidFill>
                <a:latin typeface="Times New Roman"/>
                <a:ea typeface="Times New Roman"/>
                <a:cs typeface="Times New Roman"/>
                <a:sym typeface="Times New Roman"/>
              </a:rPr>
              <a:t>     </a:t>
            </a:r>
            <a:r>
              <a:rPr lang="en-US" sz="1200">
                <a:solidFill>
                  <a:schemeClr val="tx1"/>
                </a:solidFill>
                <a:latin typeface="Times New Roman"/>
                <a:ea typeface="Times New Roman"/>
                <a:cs typeface="Times New Roman"/>
                <a:sym typeface="Times New Roman"/>
              </a:rPr>
              <a:t>begin immediately</a:t>
            </a:r>
            <a:endParaRPr lang="en-US" sz="1200" dirty="0">
              <a:solidFill>
                <a:schemeClr val="tx1"/>
              </a:solidFill>
              <a:latin typeface="Times New Roman"/>
              <a:ea typeface="Times New Roman"/>
              <a:cs typeface="Times New Roman"/>
            </a:endParaRPr>
          </a:p>
          <a:p>
            <a:pPr marL="388620" lvl="1" indent="-194310">
              <a:buFont typeface="Arial"/>
              <a:buChar char="•"/>
            </a:pPr>
            <a:endParaRPr lang="en-US" sz="1200" dirty="0">
              <a:solidFill>
                <a:schemeClr val="tx1"/>
              </a:solidFill>
              <a:latin typeface="Times New Roman"/>
              <a:ea typeface="Times New Roman"/>
              <a:cs typeface="Times New Roman"/>
            </a:endParaRPr>
          </a:p>
          <a:p>
            <a:pPr marL="388620" lvl="1" indent="-194310">
              <a:buFont typeface="Arial"/>
              <a:buChar char="•"/>
            </a:pPr>
            <a:r>
              <a:rPr lang="en-US" sz="1200">
                <a:solidFill>
                  <a:schemeClr val="tx1"/>
                </a:solidFill>
                <a:latin typeface="Times New Roman"/>
                <a:ea typeface="Times New Roman"/>
                <a:cs typeface="Times New Roman"/>
                <a:sym typeface="Times New Roman"/>
              </a:rPr>
              <a:t>Anchored in apolitical institutions and credible partners</a:t>
            </a:r>
          </a:p>
          <a:p>
            <a:pPr marL="388620" lvl="1" indent="-194310">
              <a:buFont typeface="Arial"/>
              <a:buChar char="•"/>
            </a:pPr>
            <a:endParaRPr lang="en-US" sz="1200" dirty="0">
              <a:solidFill>
                <a:schemeClr val="tx1"/>
              </a:solidFill>
              <a:latin typeface="Times New Roman"/>
              <a:ea typeface="Times New Roman"/>
              <a:cs typeface="Times New Roman"/>
              <a:sym typeface="Times New Roman"/>
            </a:endParaRPr>
          </a:p>
          <a:p>
            <a:pPr marL="388620" lvl="1" indent="-194310">
              <a:buFont typeface="Arial"/>
              <a:buChar char="•"/>
            </a:pPr>
            <a:r>
              <a:rPr lang="en-US" sz="1200">
                <a:solidFill>
                  <a:schemeClr val="tx1"/>
                </a:solidFill>
                <a:latin typeface="Times New Roman"/>
                <a:ea typeface="Times New Roman"/>
                <a:cs typeface="Times New Roman"/>
                <a:sym typeface="Times New Roman"/>
              </a:rPr>
              <a:t>Generates impact independent of the 2026 electoral cycle</a:t>
            </a:r>
          </a:p>
        </p:txBody>
      </p:sp>
      <p:sp>
        <p:nvSpPr>
          <p:cNvPr id="16" name="Rectangle 15">
            <a:extLst>
              <a:ext uri="{FF2B5EF4-FFF2-40B4-BE49-F238E27FC236}">
                <a16:creationId xmlns:a16="http://schemas.microsoft.com/office/drawing/2014/main" id="{1789E2B0-48E0-069C-C6D9-864416CF3F2F}"/>
              </a:ext>
            </a:extLst>
          </p:cNvPr>
          <p:cNvSpPr/>
          <p:nvPr/>
        </p:nvSpPr>
        <p:spPr>
          <a:xfrm>
            <a:off x="640085" y="1912615"/>
            <a:ext cx="4277746" cy="1548007"/>
          </a:xfrm>
          <a:prstGeom prst="rect">
            <a:avLst/>
          </a:prstGeom>
          <a:solidFill>
            <a:schemeClr val="accent6">
              <a:lumMod val="20000"/>
              <a:lumOff val="8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91440" tIns="0" rIns="864000" bIns="0" rtlCol="0" anchor="b"/>
          <a:lstStyle/>
          <a:p>
            <a:pPr marL="365760" lvl="1" indent="-171450">
              <a:buFont typeface="Arial" panose="020B0604020202020204" pitchFamily="34" charset="0"/>
              <a:buChar char="•"/>
            </a:pPr>
            <a:endParaRPr lang="en-US" sz="1200" dirty="0">
              <a:solidFill>
                <a:schemeClr val="tx1"/>
              </a:solidFill>
              <a:latin typeface="Times New Roman"/>
              <a:ea typeface="Times New Roman"/>
              <a:cs typeface="Times New Roman"/>
              <a:sym typeface="Times New Roman"/>
            </a:endParaRPr>
          </a:p>
          <a:p>
            <a:pPr marL="365760" lvl="1" indent="-171450">
              <a:buFont typeface="Arial" panose="020B0604020202020204" pitchFamily="34" charset="0"/>
              <a:buChar char="•"/>
            </a:pPr>
            <a:endParaRPr lang="en-US" sz="1200" dirty="0">
              <a:solidFill>
                <a:schemeClr val="tx1"/>
              </a:solidFill>
              <a:latin typeface="Times New Roman"/>
              <a:ea typeface="Times New Roman"/>
              <a:cs typeface="Times New Roman"/>
              <a:sym typeface="Times New Roman"/>
            </a:endParaRPr>
          </a:p>
          <a:p>
            <a:pPr marL="365760" lvl="1" indent="-171450">
              <a:buFont typeface="Arial" panose="020B0604020202020204" pitchFamily="34" charset="0"/>
              <a:buChar char="•"/>
            </a:pPr>
            <a:endParaRPr lang="en-US" sz="1200" dirty="0">
              <a:solidFill>
                <a:schemeClr val="tx1"/>
              </a:solidFill>
              <a:latin typeface="Times New Roman"/>
              <a:ea typeface="Times New Roman"/>
              <a:cs typeface="Times New Roman"/>
              <a:sym typeface="Times New Roman"/>
            </a:endParaRPr>
          </a:p>
          <a:p>
            <a:pPr marL="365760" lvl="1" indent="-171450">
              <a:buFont typeface="Arial" panose="020B0604020202020204" pitchFamily="34" charset="0"/>
              <a:buChar char="•"/>
            </a:pPr>
            <a:endParaRPr lang="en-US" sz="1200" dirty="0">
              <a:solidFill>
                <a:schemeClr val="tx1"/>
              </a:solidFill>
              <a:latin typeface="Times New Roman"/>
              <a:ea typeface="Times New Roman"/>
              <a:cs typeface="Times New Roman"/>
            </a:endParaRPr>
          </a:p>
          <a:p>
            <a:pPr marL="365760" lvl="1" indent="-171450">
              <a:buFont typeface="Arial" panose="020B0604020202020204" pitchFamily="34" charset="0"/>
              <a:buChar char="•"/>
            </a:pPr>
            <a:endParaRPr lang="en-US" sz="1200" dirty="0">
              <a:solidFill>
                <a:schemeClr val="tx1"/>
              </a:solidFill>
              <a:latin typeface="Times New Roman"/>
              <a:ea typeface="Times New Roman"/>
              <a:cs typeface="Times New Roman"/>
            </a:endParaRPr>
          </a:p>
          <a:p>
            <a:pPr marL="365760" lvl="1" indent="-171450">
              <a:buFont typeface="Arial" panose="020B0604020202020204" pitchFamily="34" charset="0"/>
              <a:buChar char="•"/>
            </a:pPr>
            <a:r>
              <a:rPr lang="en-US" sz="1200">
                <a:solidFill>
                  <a:schemeClr val="tx1"/>
                </a:solidFill>
                <a:latin typeface="Times New Roman"/>
                <a:ea typeface="Times New Roman"/>
                <a:cs typeface="Times New Roman"/>
                <a:sym typeface="Times New Roman"/>
              </a:rPr>
              <a:t>BRAVA works through civil society organizations, academic institutions, and training programs. </a:t>
            </a:r>
            <a:endParaRPr lang="en-US">
              <a:solidFill>
                <a:schemeClr val="tx1"/>
              </a:solidFill>
            </a:endParaRPr>
          </a:p>
          <a:p>
            <a:pPr marL="194310" lvl="1"/>
            <a:endParaRPr lang="en-US" sz="1200" dirty="0">
              <a:solidFill>
                <a:schemeClr val="tx1"/>
              </a:solidFill>
              <a:latin typeface="Times New Roman"/>
              <a:ea typeface="Times New Roman"/>
              <a:cs typeface="Times New Roman"/>
            </a:endParaRPr>
          </a:p>
          <a:p>
            <a:pPr marL="365760" lvl="1" indent="-171450">
              <a:buFont typeface="Arial" panose="020B0604020202020204" pitchFamily="34" charset="0"/>
              <a:buChar char="•"/>
            </a:pPr>
            <a:r>
              <a:rPr lang="en-US" sz="1200">
                <a:solidFill>
                  <a:schemeClr val="tx1"/>
                </a:solidFill>
                <a:latin typeface="Times New Roman"/>
                <a:ea typeface="Times New Roman"/>
                <a:cs typeface="Times New Roman"/>
                <a:sym typeface="Times New Roman"/>
              </a:rPr>
              <a:t>First priority for intervention: Modality 1 (Institutional Capacity &amp; Technical Assistance)</a:t>
            </a:r>
            <a:endParaRPr lang="en-US" sz="1200" dirty="0">
              <a:solidFill>
                <a:schemeClr val="tx1"/>
              </a:solidFill>
              <a:latin typeface="Times New Roman"/>
              <a:ea typeface="Times New Roman"/>
              <a:cs typeface="Times New Roman"/>
            </a:endParaRPr>
          </a:p>
          <a:p>
            <a:pPr marL="194310" lvl="1"/>
            <a:r>
              <a:rPr lang="en-US" sz="1200">
                <a:solidFill>
                  <a:schemeClr val="tx1"/>
                </a:solidFill>
                <a:latin typeface="Times New Roman"/>
                <a:ea typeface="Times New Roman"/>
                <a:cs typeface="Times New Roman"/>
                <a:sym typeface="Times New Roman"/>
              </a:rPr>
              <a:t>                           </a:t>
            </a:r>
          </a:p>
        </p:txBody>
      </p:sp>
      <p:sp>
        <p:nvSpPr>
          <p:cNvPr id="57" name="Freeform 38">
            <a:extLst>
              <a:ext uri="{FF2B5EF4-FFF2-40B4-BE49-F238E27FC236}">
                <a16:creationId xmlns:a16="http://schemas.microsoft.com/office/drawing/2014/main" id="{DFF8350C-1608-2C07-869F-3C7D872D79B2}"/>
              </a:ext>
            </a:extLst>
          </p:cNvPr>
          <p:cNvSpPr/>
          <p:nvPr/>
        </p:nvSpPr>
        <p:spPr>
          <a:xfrm>
            <a:off x="863468" y="5906265"/>
            <a:ext cx="214426" cy="286858"/>
          </a:xfrm>
          <a:custGeom>
            <a:avLst/>
            <a:gdLst/>
            <a:ahLst/>
            <a:cxnLst/>
            <a:rect l="l" t="t" r="r" b="b"/>
            <a:pathLst>
              <a:path w="263909" h="353056">
                <a:moveTo>
                  <a:pt x="0" y="0"/>
                </a:moveTo>
                <a:lnTo>
                  <a:pt x="263909" y="0"/>
                </a:lnTo>
                <a:lnTo>
                  <a:pt x="263909" y="353056"/>
                </a:lnTo>
                <a:lnTo>
                  <a:pt x="0" y="35305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463"/>
          </a:p>
        </p:txBody>
      </p:sp>
      <p:sp>
        <p:nvSpPr>
          <p:cNvPr id="10" name="Block Arc 9">
            <a:extLst>
              <a:ext uri="{FF2B5EF4-FFF2-40B4-BE49-F238E27FC236}">
                <a16:creationId xmlns:a16="http://schemas.microsoft.com/office/drawing/2014/main" id="{C138E2FA-B8C9-0B2F-A387-F3DB7610CEB7}"/>
              </a:ext>
            </a:extLst>
          </p:cNvPr>
          <p:cNvSpPr/>
          <p:nvPr/>
        </p:nvSpPr>
        <p:spPr>
          <a:xfrm rot="5400000">
            <a:off x="3976826" y="2459525"/>
            <a:ext cx="1996965" cy="1902372"/>
          </a:xfrm>
          <a:prstGeom prst="blockArc">
            <a:avLst>
              <a:gd name="adj1" fmla="val 10800000"/>
              <a:gd name="adj2" fmla="val 16377135"/>
              <a:gd name="adj3" fmla="val 17494"/>
            </a:avLst>
          </a:prstGeom>
          <a:solidFill>
            <a:srgbClr val="ECB3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Block Arc 10">
            <a:extLst>
              <a:ext uri="{FF2B5EF4-FFF2-40B4-BE49-F238E27FC236}">
                <a16:creationId xmlns:a16="http://schemas.microsoft.com/office/drawing/2014/main" id="{2AA2DB67-2D13-F350-01A5-967FDB5B706F}"/>
              </a:ext>
            </a:extLst>
          </p:cNvPr>
          <p:cNvSpPr/>
          <p:nvPr/>
        </p:nvSpPr>
        <p:spPr>
          <a:xfrm>
            <a:off x="3949920" y="2409008"/>
            <a:ext cx="1996965" cy="1902372"/>
          </a:xfrm>
          <a:prstGeom prst="blockArc">
            <a:avLst>
              <a:gd name="adj1" fmla="val 10483289"/>
              <a:gd name="adj2" fmla="val 16261601"/>
              <a:gd name="adj3" fmla="val 17532"/>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Block Arc 11">
            <a:extLst>
              <a:ext uri="{FF2B5EF4-FFF2-40B4-BE49-F238E27FC236}">
                <a16:creationId xmlns:a16="http://schemas.microsoft.com/office/drawing/2014/main" id="{665A45BA-2B27-2FAA-E0D2-7A359A67BBAB}"/>
              </a:ext>
            </a:extLst>
          </p:cNvPr>
          <p:cNvSpPr/>
          <p:nvPr/>
        </p:nvSpPr>
        <p:spPr>
          <a:xfrm rot="16200000">
            <a:off x="3904236" y="2395537"/>
            <a:ext cx="1996965" cy="1902372"/>
          </a:xfrm>
          <a:prstGeom prst="blockArc">
            <a:avLst>
              <a:gd name="adj1" fmla="val 10641736"/>
              <a:gd name="adj2" fmla="val 15765006"/>
              <a:gd name="adj3" fmla="val 17825"/>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Block Arc 12">
            <a:extLst>
              <a:ext uri="{FF2B5EF4-FFF2-40B4-BE49-F238E27FC236}">
                <a16:creationId xmlns:a16="http://schemas.microsoft.com/office/drawing/2014/main" id="{5955B46E-3F58-6295-3806-F924F82AE26B}"/>
              </a:ext>
            </a:extLst>
          </p:cNvPr>
          <p:cNvSpPr/>
          <p:nvPr/>
        </p:nvSpPr>
        <p:spPr>
          <a:xfrm rot="10963261">
            <a:off x="3928619" y="2451394"/>
            <a:ext cx="1996965" cy="1902372"/>
          </a:xfrm>
          <a:prstGeom prst="blockArc">
            <a:avLst>
              <a:gd name="adj1" fmla="val 10790279"/>
              <a:gd name="adj2" fmla="val 15879781"/>
              <a:gd name="adj3" fmla="val 17696"/>
            </a:avLst>
          </a:prstGeom>
          <a:solidFill>
            <a:srgbClr val="8ED9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04DCBFDB-3745-E220-5300-BF5B0B4D614A}"/>
              </a:ext>
            </a:extLst>
          </p:cNvPr>
          <p:cNvSpPr>
            <a:spLocks/>
          </p:cNvSpPr>
          <p:nvPr/>
        </p:nvSpPr>
        <p:spPr>
          <a:xfrm>
            <a:off x="4165101" y="2579484"/>
            <a:ext cx="1524000" cy="15614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i="1">
              <a:solidFill>
                <a:schemeClr val="tx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5E0197D6-3FAC-E01F-31AE-2C27C9FB234C}"/>
              </a:ext>
            </a:extLst>
          </p:cNvPr>
          <p:cNvSpPr txBox="1"/>
          <p:nvPr/>
        </p:nvSpPr>
        <p:spPr>
          <a:xfrm>
            <a:off x="4246634" y="3079414"/>
            <a:ext cx="1381325" cy="646331"/>
          </a:xfrm>
          <a:prstGeom prst="rect">
            <a:avLst/>
          </a:prstGeom>
          <a:noFill/>
        </p:spPr>
        <p:txBody>
          <a:bodyPr wrap="square" rtlCol="0">
            <a:spAutoFit/>
          </a:bodyPr>
          <a:lstStyle/>
          <a:p>
            <a:pPr algn="ctr"/>
            <a:r>
              <a:rPr lang="en-US" sz="1200" b="1" i="1">
                <a:latin typeface="Times New Roman" panose="02020603050405020304" pitchFamily="18" charset="0"/>
                <a:cs typeface="Times New Roman" panose="02020603050405020304" pitchFamily="18" charset="0"/>
              </a:rPr>
              <a:t>Study Recommendations</a:t>
            </a:r>
          </a:p>
          <a:p>
            <a:pPr algn="ctr"/>
            <a:endParaRPr lang="en-US" sz="1200" b="1"/>
          </a:p>
        </p:txBody>
      </p:sp>
      <p:sp>
        <p:nvSpPr>
          <p:cNvPr id="21" name="Rectangle 20">
            <a:extLst>
              <a:ext uri="{FF2B5EF4-FFF2-40B4-BE49-F238E27FC236}">
                <a16:creationId xmlns:a16="http://schemas.microsoft.com/office/drawing/2014/main" id="{BBAD002F-34EE-688F-04CA-A34466C1FC45}"/>
              </a:ext>
            </a:extLst>
          </p:cNvPr>
          <p:cNvSpPr/>
          <p:nvPr/>
        </p:nvSpPr>
        <p:spPr>
          <a:xfrm>
            <a:off x="636508" y="1756064"/>
            <a:ext cx="4308322" cy="27016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Times New Roman" panose="02020603050405020304" pitchFamily="18" charset="0"/>
                <a:cs typeface="Times New Roman" panose="02020603050405020304" pitchFamily="18" charset="0"/>
              </a:rPr>
              <a:t>1. BRAVA’s Strategic Positioning &amp; Priorities</a:t>
            </a:r>
          </a:p>
        </p:txBody>
      </p:sp>
      <p:sp>
        <p:nvSpPr>
          <p:cNvPr id="22" name="Rectangle 21">
            <a:extLst>
              <a:ext uri="{FF2B5EF4-FFF2-40B4-BE49-F238E27FC236}">
                <a16:creationId xmlns:a16="http://schemas.microsoft.com/office/drawing/2014/main" id="{E5D58164-760D-95CF-DA4A-24BE77FC30C6}"/>
              </a:ext>
            </a:extLst>
          </p:cNvPr>
          <p:cNvSpPr/>
          <p:nvPr/>
        </p:nvSpPr>
        <p:spPr>
          <a:xfrm>
            <a:off x="5009966" y="1744740"/>
            <a:ext cx="4308322" cy="27016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2.Recommendation Logic</a:t>
            </a:r>
          </a:p>
        </p:txBody>
      </p:sp>
      <p:sp>
        <p:nvSpPr>
          <p:cNvPr id="23" name="Rectangle 22">
            <a:extLst>
              <a:ext uri="{FF2B5EF4-FFF2-40B4-BE49-F238E27FC236}">
                <a16:creationId xmlns:a16="http://schemas.microsoft.com/office/drawing/2014/main" id="{65083325-F237-4365-58D9-18AA3DCA6682}"/>
              </a:ext>
            </a:extLst>
          </p:cNvPr>
          <p:cNvSpPr/>
          <p:nvPr/>
        </p:nvSpPr>
        <p:spPr>
          <a:xfrm>
            <a:off x="617858" y="3499476"/>
            <a:ext cx="3535796" cy="270163"/>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bg1"/>
                </a:solidFill>
                <a:latin typeface="Times New Roman"/>
                <a:cs typeface="Times New Roman"/>
              </a:rPr>
              <a:t>3. Near-Term Investments</a:t>
            </a:r>
          </a:p>
        </p:txBody>
      </p:sp>
      <p:sp>
        <p:nvSpPr>
          <p:cNvPr id="24" name="Rectangle 23">
            <a:extLst>
              <a:ext uri="{FF2B5EF4-FFF2-40B4-BE49-F238E27FC236}">
                <a16:creationId xmlns:a16="http://schemas.microsoft.com/office/drawing/2014/main" id="{3BA22383-877D-1B7D-F5D4-4E83973D5B3B}"/>
              </a:ext>
            </a:extLst>
          </p:cNvPr>
          <p:cNvSpPr/>
          <p:nvPr/>
        </p:nvSpPr>
        <p:spPr>
          <a:xfrm>
            <a:off x="5744041" y="3484430"/>
            <a:ext cx="3561379" cy="270163"/>
          </a:xfrm>
          <a:prstGeom prst="rect">
            <a:avLst/>
          </a:prstGeom>
          <a:solidFill>
            <a:srgbClr val="8ED9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cs typeface="Times New Roman" panose="02020603050405020304" pitchFamily="18" charset="0"/>
              </a:rPr>
              <a:t>4. Longer-Term Investment</a:t>
            </a:r>
          </a:p>
        </p:txBody>
      </p:sp>
      <p:sp>
        <p:nvSpPr>
          <p:cNvPr id="2" name="TextBox 1">
            <a:extLst>
              <a:ext uri="{FF2B5EF4-FFF2-40B4-BE49-F238E27FC236}">
                <a16:creationId xmlns:a16="http://schemas.microsoft.com/office/drawing/2014/main" id="{2D0338D2-A09F-3B26-5DB1-362D062DADC7}"/>
              </a:ext>
            </a:extLst>
          </p:cNvPr>
          <p:cNvSpPr txBox="1"/>
          <p:nvPr/>
        </p:nvSpPr>
        <p:spPr>
          <a:xfrm>
            <a:off x="305572" y="874642"/>
            <a:ext cx="8616644" cy="411779"/>
          </a:xfrm>
          <a:prstGeom prst="rect">
            <a:avLst/>
          </a:prstGeom>
        </p:spPr>
        <p:txBody>
          <a:bodyPr wrap="square" lIns="0" tIns="0" rIns="0" bIns="0" rtlCol="0" anchor="t">
            <a:spAutoFit/>
          </a:bodyPr>
          <a:lstStyle/>
          <a:p>
            <a:pPr>
              <a:lnSpc>
                <a:spcPts val="3479"/>
              </a:lnSpc>
            </a:pPr>
            <a:r>
              <a:rPr lang="en-US" sz="2500" b="1" dirty="0">
                <a:solidFill>
                  <a:srgbClr val="1A6B25"/>
                </a:solidFill>
                <a:latin typeface="Times New Roman"/>
                <a:ea typeface="Times New Roman MT Bold"/>
                <a:cs typeface="Times New Roman"/>
                <a:sym typeface="Times New Roman MT Bold"/>
              </a:rPr>
              <a:t>Recommendations Overview  </a:t>
            </a:r>
          </a:p>
        </p:txBody>
      </p:sp>
    </p:spTree>
    <p:extLst>
      <p:ext uri="{BB962C8B-B14F-4D97-AF65-F5344CB8AC3E}">
        <p14:creationId xmlns:p14="http://schemas.microsoft.com/office/powerpoint/2010/main" val="1758225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7D686-789D-6FC0-303D-EBE00989C9D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6CC13C4-8FD0-B912-85D7-06EA7398F02D}"/>
              </a:ext>
            </a:extLst>
          </p:cNvPr>
          <p:cNvPicPr>
            <a:picLocks noChangeAspect="1"/>
          </p:cNvPicPr>
          <p:nvPr/>
        </p:nvPicPr>
        <p:blipFill>
          <a:blip r:embed="rId2"/>
          <a:srcRect/>
          <a:stretch/>
        </p:blipFill>
        <p:spPr>
          <a:xfrm>
            <a:off x="77368" y="1117265"/>
            <a:ext cx="9749996" cy="4617667"/>
          </a:xfrm>
          <a:prstGeom prst="rect">
            <a:avLst/>
          </a:prstGeom>
        </p:spPr>
      </p:pic>
      <p:sp>
        <p:nvSpPr>
          <p:cNvPr id="28" name="TextBox 27">
            <a:extLst>
              <a:ext uri="{FF2B5EF4-FFF2-40B4-BE49-F238E27FC236}">
                <a16:creationId xmlns:a16="http://schemas.microsoft.com/office/drawing/2014/main" id="{30AE00D3-A585-4F04-4877-514070A68A9E}"/>
              </a:ext>
            </a:extLst>
          </p:cNvPr>
          <p:cNvSpPr txBox="1"/>
          <p:nvPr/>
        </p:nvSpPr>
        <p:spPr>
          <a:xfrm>
            <a:off x="305572" y="874642"/>
            <a:ext cx="8616644" cy="411779"/>
          </a:xfrm>
          <a:prstGeom prst="rect">
            <a:avLst/>
          </a:prstGeom>
        </p:spPr>
        <p:txBody>
          <a:bodyPr wrap="square" lIns="0" tIns="0" rIns="0" bIns="0" rtlCol="0" anchor="t">
            <a:spAutoFit/>
          </a:bodyPr>
          <a:lstStyle/>
          <a:p>
            <a:pPr>
              <a:lnSpc>
                <a:spcPts val="3479"/>
              </a:lnSpc>
            </a:pPr>
            <a:r>
              <a:rPr lang="en-US" sz="2500" b="1" dirty="0">
                <a:solidFill>
                  <a:srgbClr val="1A6B25"/>
                </a:solidFill>
                <a:latin typeface="Times New Roman"/>
                <a:ea typeface="Times New Roman MT Bold"/>
                <a:cs typeface="Times New Roman"/>
                <a:sym typeface="Times New Roman MT Bold"/>
              </a:rPr>
              <a:t>Recommendation 1 </a:t>
            </a:r>
          </a:p>
        </p:txBody>
      </p:sp>
      <p:sp>
        <p:nvSpPr>
          <p:cNvPr id="3" name="TextBox 2">
            <a:extLst>
              <a:ext uri="{FF2B5EF4-FFF2-40B4-BE49-F238E27FC236}">
                <a16:creationId xmlns:a16="http://schemas.microsoft.com/office/drawing/2014/main" id="{E519F90F-267C-C34F-5038-921EBB96915B}"/>
              </a:ext>
            </a:extLst>
          </p:cNvPr>
          <p:cNvSpPr txBox="1"/>
          <p:nvPr/>
        </p:nvSpPr>
        <p:spPr>
          <a:xfrm>
            <a:off x="307331" y="1133988"/>
            <a:ext cx="1023215" cy="384721"/>
          </a:xfrm>
          <a:prstGeom prst="rect">
            <a:avLst/>
          </a:prstGeom>
        </p:spPr>
        <p:txBody>
          <a:bodyPr wrap="square" lIns="0" tIns="0" rIns="0" bIns="0" rtlCol="0" anchor="t">
            <a:spAutoFit/>
          </a:bodyPr>
          <a:lstStyle/>
          <a:p>
            <a:pPr>
              <a:lnSpc>
                <a:spcPts val="3479"/>
              </a:lnSpc>
            </a:pPr>
            <a:r>
              <a:rPr lang="en-US" sz="1600" i="1" dirty="0">
                <a:solidFill>
                  <a:srgbClr val="1A6B25"/>
                </a:solidFill>
                <a:latin typeface="Times New Roman"/>
                <a:ea typeface="Times New Roman MT Bold"/>
                <a:cs typeface="Times New Roman"/>
                <a:sym typeface="Times New Roman MT Bold"/>
              </a:rPr>
              <a:t>Near-Term </a:t>
            </a:r>
            <a:endParaRPr lang="en-US" sz="1600" i="1" dirty="0">
              <a:solidFill>
                <a:srgbClr val="1A6B25"/>
              </a:solidFill>
              <a:latin typeface="Times New Roman"/>
              <a:ea typeface="Times New Roman MT Bold"/>
              <a:cs typeface="Times New Roman"/>
            </a:endParaRPr>
          </a:p>
        </p:txBody>
      </p:sp>
    </p:spTree>
    <p:extLst>
      <p:ext uri="{BB962C8B-B14F-4D97-AF65-F5344CB8AC3E}">
        <p14:creationId xmlns:p14="http://schemas.microsoft.com/office/powerpoint/2010/main" val="2938192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1A572-C08A-883D-C79C-EBF773CD8B6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7920F7D-4D13-D32A-1206-4062D9A17B00}"/>
              </a:ext>
            </a:extLst>
          </p:cNvPr>
          <p:cNvPicPr>
            <a:picLocks noChangeAspect="1"/>
          </p:cNvPicPr>
          <p:nvPr/>
        </p:nvPicPr>
        <p:blipFill>
          <a:blip r:embed="rId2"/>
          <a:srcRect/>
          <a:stretch/>
        </p:blipFill>
        <p:spPr>
          <a:xfrm>
            <a:off x="77368" y="1117265"/>
            <a:ext cx="9749996" cy="4617667"/>
          </a:xfrm>
          <a:prstGeom prst="rect">
            <a:avLst/>
          </a:prstGeom>
        </p:spPr>
      </p:pic>
      <p:sp>
        <p:nvSpPr>
          <p:cNvPr id="3" name="TextBox 2">
            <a:extLst>
              <a:ext uri="{FF2B5EF4-FFF2-40B4-BE49-F238E27FC236}">
                <a16:creationId xmlns:a16="http://schemas.microsoft.com/office/drawing/2014/main" id="{115D071D-1C53-BB72-9411-CA730463D77B}"/>
              </a:ext>
            </a:extLst>
          </p:cNvPr>
          <p:cNvSpPr txBox="1"/>
          <p:nvPr/>
        </p:nvSpPr>
        <p:spPr>
          <a:xfrm>
            <a:off x="301484" y="874642"/>
            <a:ext cx="8616644" cy="411779"/>
          </a:xfrm>
          <a:prstGeom prst="rect">
            <a:avLst/>
          </a:prstGeom>
        </p:spPr>
        <p:txBody>
          <a:bodyPr wrap="square" lIns="0" tIns="0" rIns="0" bIns="0" rtlCol="0" anchor="t">
            <a:spAutoFit/>
          </a:bodyPr>
          <a:lstStyle/>
          <a:p>
            <a:pPr>
              <a:lnSpc>
                <a:spcPts val="3479"/>
              </a:lnSpc>
            </a:pPr>
            <a:r>
              <a:rPr lang="en-US" sz="2500" b="1">
                <a:solidFill>
                  <a:srgbClr val="1A6B25"/>
                </a:solidFill>
                <a:latin typeface="Times New Roman"/>
                <a:ea typeface="Times New Roman MT Bold"/>
                <a:cs typeface="Times New Roman"/>
                <a:sym typeface="Times New Roman MT Bold"/>
              </a:rPr>
              <a:t>Recommendation 2 </a:t>
            </a:r>
          </a:p>
        </p:txBody>
      </p:sp>
      <p:sp>
        <p:nvSpPr>
          <p:cNvPr id="6" name="TextBox 5">
            <a:extLst>
              <a:ext uri="{FF2B5EF4-FFF2-40B4-BE49-F238E27FC236}">
                <a16:creationId xmlns:a16="http://schemas.microsoft.com/office/drawing/2014/main" id="{F4210FB8-7E58-31CD-92CF-66633DD470AF}"/>
              </a:ext>
            </a:extLst>
          </p:cNvPr>
          <p:cNvSpPr txBox="1"/>
          <p:nvPr/>
        </p:nvSpPr>
        <p:spPr>
          <a:xfrm>
            <a:off x="307331" y="1133988"/>
            <a:ext cx="1023215" cy="384721"/>
          </a:xfrm>
          <a:prstGeom prst="rect">
            <a:avLst/>
          </a:prstGeom>
        </p:spPr>
        <p:txBody>
          <a:bodyPr wrap="square" lIns="0" tIns="0" rIns="0" bIns="0" rtlCol="0" anchor="t">
            <a:spAutoFit/>
          </a:bodyPr>
          <a:lstStyle/>
          <a:p>
            <a:pPr>
              <a:lnSpc>
                <a:spcPts val="3479"/>
              </a:lnSpc>
            </a:pPr>
            <a:r>
              <a:rPr lang="en-US" sz="1600" i="1">
                <a:solidFill>
                  <a:srgbClr val="1A6B25"/>
                </a:solidFill>
                <a:latin typeface="Times New Roman"/>
                <a:ea typeface="Times New Roman MT Bold"/>
                <a:cs typeface="Times New Roman"/>
                <a:sym typeface="Times New Roman MT Bold"/>
              </a:rPr>
              <a:t>Near-Term </a:t>
            </a:r>
            <a:endParaRPr lang="en-US" sz="1600" i="1">
              <a:solidFill>
                <a:srgbClr val="1A6B25"/>
              </a:solidFill>
              <a:latin typeface="Times New Roman"/>
              <a:ea typeface="Times New Roman MT Bold"/>
              <a:cs typeface="Times New Roman"/>
            </a:endParaRPr>
          </a:p>
        </p:txBody>
      </p:sp>
    </p:spTree>
    <p:extLst>
      <p:ext uri="{BB962C8B-B14F-4D97-AF65-F5344CB8AC3E}">
        <p14:creationId xmlns:p14="http://schemas.microsoft.com/office/powerpoint/2010/main" val="688465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B340B-EEE2-3AD9-A1CC-EB60F63198B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CA99FF0-3945-A6CE-6B5D-71652A97EC0B}"/>
              </a:ext>
            </a:extLst>
          </p:cNvPr>
          <p:cNvPicPr>
            <a:picLocks noChangeAspect="1"/>
          </p:cNvPicPr>
          <p:nvPr/>
        </p:nvPicPr>
        <p:blipFill>
          <a:blip r:embed="rId2"/>
          <a:srcRect/>
          <a:stretch/>
        </p:blipFill>
        <p:spPr>
          <a:xfrm>
            <a:off x="77368" y="1117265"/>
            <a:ext cx="9749996" cy="4617666"/>
          </a:xfrm>
          <a:prstGeom prst="rect">
            <a:avLst/>
          </a:prstGeom>
        </p:spPr>
      </p:pic>
      <p:sp>
        <p:nvSpPr>
          <p:cNvPr id="3" name="TextBox 2">
            <a:extLst>
              <a:ext uri="{FF2B5EF4-FFF2-40B4-BE49-F238E27FC236}">
                <a16:creationId xmlns:a16="http://schemas.microsoft.com/office/drawing/2014/main" id="{6FCE564E-B955-B45F-5FFB-0207C5CD7CB6}"/>
              </a:ext>
            </a:extLst>
          </p:cNvPr>
          <p:cNvSpPr txBox="1"/>
          <p:nvPr/>
        </p:nvSpPr>
        <p:spPr>
          <a:xfrm>
            <a:off x="305572" y="874642"/>
            <a:ext cx="8616644" cy="411779"/>
          </a:xfrm>
          <a:prstGeom prst="rect">
            <a:avLst/>
          </a:prstGeom>
        </p:spPr>
        <p:txBody>
          <a:bodyPr wrap="square" lIns="0" tIns="0" rIns="0" bIns="0" rtlCol="0" anchor="t">
            <a:spAutoFit/>
          </a:bodyPr>
          <a:lstStyle/>
          <a:p>
            <a:pPr>
              <a:lnSpc>
                <a:spcPts val="3479"/>
              </a:lnSpc>
            </a:pPr>
            <a:r>
              <a:rPr lang="en-US" sz="2500" b="1">
                <a:solidFill>
                  <a:srgbClr val="1A6B25"/>
                </a:solidFill>
                <a:latin typeface="Times New Roman"/>
                <a:ea typeface="Times New Roman MT Bold"/>
                <a:cs typeface="Times New Roman"/>
                <a:sym typeface="Times New Roman MT Bold"/>
              </a:rPr>
              <a:t>Recommendation 3 </a:t>
            </a:r>
          </a:p>
        </p:txBody>
      </p:sp>
      <p:sp>
        <p:nvSpPr>
          <p:cNvPr id="6" name="TextBox 5">
            <a:extLst>
              <a:ext uri="{FF2B5EF4-FFF2-40B4-BE49-F238E27FC236}">
                <a16:creationId xmlns:a16="http://schemas.microsoft.com/office/drawing/2014/main" id="{441BF2C3-2AB9-AFD8-41AE-5F70DC72E084}"/>
              </a:ext>
            </a:extLst>
          </p:cNvPr>
          <p:cNvSpPr txBox="1"/>
          <p:nvPr/>
        </p:nvSpPr>
        <p:spPr>
          <a:xfrm>
            <a:off x="307331" y="1133988"/>
            <a:ext cx="1023215" cy="384721"/>
          </a:xfrm>
          <a:prstGeom prst="rect">
            <a:avLst/>
          </a:prstGeom>
        </p:spPr>
        <p:txBody>
          <a:bodyPr wrap="square" lIns="0" tIns="0" rIns="0" bIns="0" rtlCol="0" anchor="t">
            <a:spAutoFit/>
          </a:bodyPr>
          <a:lstStyle/>
          <a:p>
            <a:pPr>
              <a:lnSpc>
                <a:spcPts val="3479"/>
              </a:lnSpc>
            </a:pPr>
            <a:r>
              <a:rPr lang="en-US" sz="1600" i="1">
                <a:solidFill>
                  <a:srgbClr val="1A6B25"/>
                </a:solidFill>
                <a:latin typeface="Times New Roman"/>
                <a:ea typeface="Times New Roman MT Bold"/>
                <a:cs typeface="Times New Roman"/>
                <a:sym typeface="Times New Roman MT Bold"/>
              </a:rPr>
              <a:t>Near-Term </a:t>
            </a:r>
            <a:endParaRPr lang="en-US" sz="1600" i="1">
              <a:solidFill>
                <a:srgbClr val="1A6B25"/>
              </a:solidFill>
              <a:latin typeface="Times New Roman"/>
              <a:ea typeface="Times New Roman MT Bold"/>
              <a:cs typeface="Times New Roman"/>
            </a:endParaRPr>
          </a:p>
        </p:txBody>
      </p:sp>
    </p:spTree>
    <p:extLst>
      <p:ext uri="{BB962C8B-B14F-4D97-AF65-F5344CB8AC3E}">
        <p14:creationId xmlns:p14="http://schemas.microsoft.com/office/powerpoint/2010/main" val="1124068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DB5C3-2C23-DF5E-838A-B453A849C26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3EFBB73-B1CF-D71B-CDB1-06EA7803880B}"/>
              </a:ext>
            </a:extLst>
          </p:cNvPr>
          <p:cNvPicPr>
            <a:picLocks noChangeAspect="1"/>
          </p:cNvPicPr>
          <p:nvPr/>
        </p:nvPicPr>
        <p:blipFill>
          <a:blip r:embed="rId2"/>
          <a:srcRect/>
          <a:stretch/>
        </p:blipFill>
        <p:spPr>
          <a:xfrm>
            <a:off x="77369" y="1117265"/>
            <a:ext cx="9749994" cy="4617666"/>
          </a:xfrm>
          <a:prstGeom prst="rect">
            <a:avLst/>
          </a:prstGeom>
        </p:spPr>
      </p:pic>
      <p:sp>
        <p:nvSpPr>
          <p:cNvPr id="3" name="TextBox 2">
            <a:extLst>
              <a:ext uri="{FF2B5EF4-FFF2-40B4-BE49-F238E27FC236}">
                <a16:creationId xmlns:a16="http://schemas.microsoft.com/office/drawing/2014/main" id="{C115238B-5AB8-50C0-63AD-F92210AA9A2D}"/>
              </a:ext>
            </a:extLst>
          </p:cNvPr>
          <p:cNvSpPr txBox="1"/>
          <p:nvPr/>
        </p:nvSpPr>
        <p:spPr>
          <a:xfrm>
            <a:off x="305572" y="874642"/>
            <a:ext cx="8616644" cy="411779"/>
          </a:xfrm>
          <a:prstGeom prst="rect">
            <a:avLst/>
          </a:prstGeom>
        </p:spPr>
        <p:txBody>
          <a:bodyPr wrap="square" lIns="0" tIns="0" rIns="0" bIns="0" rtlCol="0" anchor="t">
            <a:spAutoFit/>
          </a:bodyPr>
          <a:lstStyle/>
          <a:p>
            <a:pPr>
              <a:lnSpc>
                <a:spcPts val="3479"/>
              </a:lnSpc>
            </a:pPr>
            <a:r>
              <a:rPr lang="en-US" sz="2500" b="1">
                <a:solidFill>
                  <a:srgbClr val="1A6B25"/>
                </a:solidFill>
                <a:latin typeface="Times New Roman"/>
                <a:ea typeface="Times New Roman MT Bold"/>
                <a:cs typeface="Times New Roman"/>
                <a:sym typeface="Times New Roman MT Bold"/>
              </a:rPr>
              <a:t>Recommendation 4 </a:t>
            </a:r>
          </a:p>
        </p:txBody>
      </p:sp>
      <p:sp>
        <p:nvSpPr>
          <p:cNvPr id="5" name="TextBox 4">
            <a:extLst>
              <a:ext uri="{FF2B5EF4-FFF2-40B4-BE49-F238E27FC236}">
                <a16:creationId xmlns:a16="http://schemas.microsoft.com/office/drawing/2014/main" id="{B6D5843F-DECB-D32A-CF12-8BC41ED04CFB}"/>
              </a:ext>
            </a:extLst>
          </p:cNvPr>
          <p:cNvSpPr txBox="1"/>
          <p:nvPr/>
        </p:nvSpPr>
        <p:spPr>
          <a:xfrm>
            <a:off x="307331" y="1133988"/>
            <a:ext cx="1023215" cy="384721"/>
          </a:xfrm>
          <a:prstGeom prst="rect">
            <a:avLst/>
          </a:prstGeom>
        </p:spPr>
        <p:txBody>
          <a:bodyPr wrap="square" lIns="0" tIns="0" rIns="0" bIns="0" rtlCol="0" anchor="t">
            <a:spAutoFit/>
          </a:bodyPr>
          <a:lstStyle/>
          <a:p>
            <a:pPr>
              <a:lnSpc>
                <a:spcPts val="3479"/>
              </a:lnSpc>
            </a:pPr>
            <a:r>
              <a:rPr lang="en-US" sz="1600" i="1" dirty="0">
                <a:solidFill>
                  <a:srgbClr val="1A6B25"/>
                </a:solidFill>
                <a:latin typeface="Times New Roman"/>
                <a:ea typeface="Times New Roman MT Bold"/>
                <a:cs typeface="Times New Roman"/>
                <a:sym typeface="Times New Roman MT Bold"/>
              </a:rPr>
              <a:t>Near-Term </a:t>
            </a:r>
            <a:endParaRPr lang="en-US" sz="1600" i="1" dirty="0">
              <a:solidFill>
                <a:srgbClr val="1A6B25"/>
              </a:solidFill>
              <a:latin typeface="Times New Roman"/>
              <a:ea typeface="Times New Roman MT Bold"/>
              <a:cs typeface="Times New Roman"/>
            </a:endParaRPr>
          </a:p>
        </p:txBody>
      </p:sp>
    </p:spTree>
    <p:extLst>
      <p:ext uri="{BB962C8B-B14F-4D97-AF65-F5344CB8AC3E}">
        <p14:creationId xmlns:p14="http://schemas.microsoft.com/office/powerpoint/2010/main" val="546370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60BE4-9946-AB47-B56D-10177065879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699946E-038C-6BAE-B88B-D631B3F34018}"/>
              </a:ext>
            </a:extLst>
          </p:cNvPr>
          <p:cNvPicPr>
            <a:picLocks noChangeAspect="1"/>
          </p:cNvPicPr>
          <p:nvPr/>
        </p:nvPicPr>
        <p:blipFill>
          <a:blip r:embed="rId2"/>
          <a:stretch>
            <a:fillRect/>
          </a:stretch>
        </p:blipFill>
        <p:spPr>
          <a:xfrm>
            <a:off x="107184" y="1133988"/>
            <a:ext cx="9691631" cy="4590024"/>
          </a:xfrm>
          <a:prstGeom prst="rect">
            <a:avLst/>
          </a:prstGeom>
        </p:spPr>
      </p:pic>
      <p:sp>
        <p:nvSpPr>
          <p:cNvPr id="10" name="TextBox 9">
            <a:extLst>
              <a:ext uri="{FF2B5EF4-FFF2-40B4-BE49-F238E27FC236}">
                <a16:creationId xmlns:a16="http://schemas.microsoft.com/office/drawing/2014/main" id="{58F1A91D-F365-AE5A-A2F4-AD58E2E6B25F}"/>
              </a:ext>
            </a:extLst>
          </p:cNvPr>
          <p:cNvSpPr txBox="1"/>
          <p:nvPr/>
        </p:nvSpPr>
        <p:spPr>
          <a:xfrm>
            <a:off x="305572" y="874642"/>
            <a:ext cx="8616644" cy="411779"/>
          </a:xfrm>
          <a:prstGeom prst="rect">
            <a:avLst/>
          </a:prstGeom>
        </p:spPr>
        <p:txBody>
          <a:bodyPr wrap="square" lIns="0" tIns="0" rIns="0" bIns="0" rtlCol="0" anchor="t">
            <a:spAutoFit/>
          </a:bodyPr>
          <a:lstStyle/>
          <a:p>
            <a:pPr>
              <a:lnSpc>
                <a:spcPts val="3479"/>
              </a:lnSpc>
            </a:pPr>
            <a:r>
              <a:rPr lang="en-US" sz="2500" b="1">
                <a:solidFill>
                  <a:srgbClr val="1A6B25"/>
                </a:solidFill>
                <a:latin typeface="Times New Roman"/>
                <a:ea typeface="Times New Roman MT Bold"/>
                <a:cs typeface="Times New Roman"/>
                <a:sym typeface="Times New Roman MT Bold"/>
              </a:rPr>
              <a:t>Recommendation 5 </a:t>
            </a:r>
          </a:p>
        </p:txBody>
      </p:sp>
      <p:sp>
        <p:nvSpPr>
          <p:cNvPr id="2" name="TextBox 1">
            <a:extLst>
              <a:ext uri="{FF2B5EF4-FFF2-40B4-BE49-F238E27FC236}">
                <a16:creationId xmlns:a16="http://schemas.microsoft.com/office/drawing/2014/main" id="{0E65FC0A-570B-AD92-5BC3-CD8787E6C29B}"/>
              </a:ext>
            </a:extLst>
          </p:cNvPr>
          <p:cNvSpPr txBox="1"/>
          <p:nvPr/>
        </p:nvSpPr>
        <p:spPr>
          <a:xfrm>
            <a:off x="307331" y="1133988"/>
            <a:ext cx="1456559" cy="384721"/>
          </a:xfrm>
          <a:prstGeom prst="rect">
            <a:avLst/>
          </a:prstGeom>
        </p:spPr>
        <p:txBody>
          <a:bodyPr wrap="square" lIns="0" tIns="0" rIns="0" bIns="0" rtlCol="0" anchor="t">
            <a:spAutoFit/>
          </a:bodyPr>
          <a:lstStyle/>
          <a:p>
            <a:pPr>
              <a:lnSpc>
                <a:spcPts val="3479"/>
              </a:lnSpc>
            </a:pPr>
            <a:r>
              <a:rPr lang="en-US" sz="1600" i="1" dirty="0">
                <a:solidFill>
                  <a:srgbClr val="1A6B25"/>
                </a:solidFill>
                <a:latin typeface="Times New Roman"/>
                <a:ea typeface="Times New Roman MT Bold"/>
                <a:cs typeface="Times New Roman"/>
                <a:sym typeface="Times New Roman MT Bold"/>
              </a:rPr>
              <a:t>Longer-Term </a:t>
            </a:r>
            <a:endParaRPr lang="en-US" sz="1600" i="1" dirty="0">
              <a:solidFill>
                <a:srgbClr val="1A6B25"/>
              </a:solidFill>
              <a:latin typeface="Times New Roman"/>
              <a:ea typeface="Times New Roman MT Bold"/>
              <a:cs typeface="Times New Roman"/>
            </a:endParaRPr>
          </a:p>
        </p:txBody>
      </p:sp>
    </p:spTree>
    <p:extLst>
      <p:ext uri="{BB962C8B-B14F-4D97-AF65-F5344CB8AC3E}">
        <p14:creationId xmlns:p14="http://schemas.microsoft.com/office/powerpoint/2010/main" val="1472623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5C734-C5D7-B403-E686-CAD1F86F99E7}"/>
            </a:ext>
          </a:extLst>
        </p:cNvPr>
        <p:cNvGrpSpPr/>
        <p:nvPr/>
      </p:nvGrpSpPr>
      <p:grpSpPr>
        <a:xfrm>
          <a:off x="0" y="0"/>
          <a:ext cx="0" cy="0"/>
          <a:chOff x="0" y="0"/>
          <a:chExt cx="0" cy="0"/>
        </a:xfrm>
      </p:grpSpPr>
      <p:grpSp>
        <p:nvGrpSpPr>
          <p:cNvPr id="139" name="Group 138">
            <a:extLst>
              <a:ext uri="{FF2B5EF4-FFF2-40B4-BE49-F238E27FC236}">
                <a16:creationId xmlns:a16="http://schemas.microsoft.com/office/drawing/2014/main" id="{16216AB2-9180-B4BB-BBAF-7593B49DCD03}"/>
              </a:ext>
            </a:extLst>
          </p:cNvPr>
          <p:cNvGrpSpPr/>
          <p:nvPr/>
        </p:nvGrpSpPr>
        <p:grpSpPr>
          <a:xfrm>
            <a:off x="609208" y="1986318"/>
            <a:ext cx="8743927" cy="3019596"/>
            <a:chOff x="1329227" y="571277"/>
            <a:chExt cx="9907248" cy="5010648"/>
          </a:xfrm>
        </p:grpSpPr>
        <p:sp>
          <p:nvSpPr>
            <p:cNvPr id="136" name="Rectangle 135">
              <a:extLst>
                <a:ext uri="{FF2B5EF4-FFF2-40B4-BE49-F238E27FC236}">
                  <a16:creationId xmlns:a16="http://schemas.microsoft.com/office/drawing/2014/main" id="{4CE5BC38-21CF-7F0F-A11E-E006D96C1E9E}"/>
                </a:ext>
              </a:extLst>
            </p:cNvPr>
            <p:cNvSpPr/>
            <p:nvPr/>
          </p:nvSpPr>
          <p:spPr>
            <a:xfrm>
              <a:off x="4703644" y="571279"/>
              <a:ext cx="6508932" cy="5010646"/>
            </a:xfrm>
            <a:prstGeom prst="rect">
              <a:avLst/>
            </a:prstGeom>
            <a:solidFill>
              <a:schemeClr val="accent6">
                <a:lumMod val="60000"/>
                <a:lumOff val="40000"/>
                <a:alpha val="6330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04749" rtlCol="0" anchor="ctr"/>
            <a:lstStyle/>
            <a:p>
              <a:pPr marL="232172" indent="-232172">
                <a:buFont typeface="Arial" panose="020B0604020202020204" pitchFamily="34" charset="0"/>
                <a:buChar char="•"/>
              </a:pPr>
              <a:endParaRPr lang="en-US" sz="975">
                <a:solidFill>
                  <a:schemeClr val="accent3"/>
                </a:solidFill>
                <a:latin typeface="Times New Roman" panose="02020603050405020304" pitchFamily="18" charset="0"/>
                <a:cs typeface="Times New Roman" panose="02020603050405020304" pitchFamily="18" charset="0"/>
              </a:endParaRPr>
            </a:p>
          </p:txBody>
        </p:sp>
        <p:sp>
          <p:nvSpPr>
            <p:cNvPr id="137" name="Rectangle 136">
              <a:extLst>
                <a:ext uri="{FF2B5EF4-FFF2-40B4-BE49-F238E27FC236}">
                  <a16:creationId xmlns:a16="http://schemas.microsoft.com/office/drawing/2014/main" id="{30D03CE2-8FAA-71BD-9513-C02E97821FFD}"/>
                </a:ext>
              </a:extLst>
            </p:cNvPr>
            <p:cNvSpPr/>
            <p:nvPr/>
          </p:nvSpPr>
          <p:spPr>
            <a:xfrm>
              <a:off x="1329227" y="571277"/>
              <a:ext cx="9907248" cy="5010646"/>
            </a:xfrm>
            <a:prstGeom prst="rect">
              <a:avLst/>
            </a:prstGeom>
            <a:solidFill>
              <a:schemeClr val="accent6">
                <a:lumMod val="40000"/>
                <a:lumOff val="60000"/>
                <a:alpha val="6330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04749" rtlCol="0" anchor="ctr"/>
            <a:lstStyle/>
            <a:p>
              <a:pPr marL="232172" indent="-232172">
                <a:buFont typeface="Arial" panose="020B0604020202020204" pitchFamily="34" charset="0"/>
                <a:buChar char="•"/>
              </a:pPr>
              <a:endParaRPr lang="en-US" sz="975">
                <a:solidFill>
                  <a:schemeClr val="accent3"/>
                </a:solidFill>
                <a:latin typeface="Times New Roman" panose="02020603050405020304" pitchFamily="18" charset="0"/>
                <a:cs typeface="Times New Roman" panose="02020603050405020304" pitchFamily="18" charset="0"/>
              </a:endParaRPr>
            </a:p>
          </p:txBody>
        </p:sp>
        <p:sp>
          <p:nvSpPr>
            <p:cNvPr id="138" name="Rectangle 137">
              <a:extLst>
                <a:ext uri="{FF2B5EF4-FFF2-40B4-BE49-F238E27FC236}">
                  <a16:creationId xmlns:a16="http://schemas.microsoft.com/office/drawing/2014/main" id="{FEC89437-4C40-2F44-B108-5F21E82EFD41}"/>
                </a:ext>
              </a:extLst>
            </p:cNvPr>
            <p:cNvSpPr/>
            <p:nvPr/>
          </p:nvSpPr>
          <p:spPr>
            <a:xfrm>
              <a:off x="8078062" y="571278"/>
              <a:ext cx="3158413" cy="5010646"/>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04749" rtlCol="0" anchor="ctr"/>
            <a:lstStyle/>
            <a:p>
              <a:pPr marL="232172" indent="-232172">
                <a:buFont typeface="Arial" panose="020B0604020202020204" pitchFamily="34" charset="0"/>
                <a:buChar char="•"/>
              </a:pPr>
              <a:endParaRPr lang="en-US" sz="975">
                <a:solidFill>
                  <a:schemeClr val="accent3"/>
                </a:solidFill>
                <a:latin typeface="Times New Roman" panose="02020603050405020304" pitchFamily="18" charset="0"/>
                <a:cs typeface="Times New Roman" panose="02020603050405020304" pitchFamily="18" charset="0"/>
              </a:endParaRPr>
            </a:p>
          </p:txBody>
        </p:sp>
      </p:grpSp>
      <p:sp>
        <p:nvSpPr>
          <p:cNvPr id="57" name="Freeform 38">
            <a:extLst>
              <a:ext uri="{FF2B5EF4-FFF2-40B4-BE49-F238E27FC236}">
                <a16:creationId xmlns:a16="http://schemas.microsoft.com/office/drawing/2014/main" id="{B48CFE67-570B-66EC-CB1C-1C6B9253B7EE}"/>
              </a:ext>
            </a:extLst>
          </p:cNvPr>
          <p:cNvSpPr/>
          <p:nvPr/>
        </p:nvSpPr>
        <p:spPr>
          <a:xfrm>
            <a:off x="863468" y="5906265"/>
            <a:ext cx="214426" cy="286858"/>
          </a:xfrm>
          <a:custGeom>
            <a:avLst/>
            <a:gdLst/>
            <a:ahLst/>
            <a:cxnLst/>
            <a:rect l="l" t="t" r="r" b="b"/>
            <a:pathLst>
              <a:path w="263909" h="353056">
                <a:moveTo>
                  <a:pt x="0" y="0"/>
                </a:moveTo>
                <a:lnTo>
                  <a:pt x="263909" y="0"/>
                </a:lnTo>
                <a:lnTo>
                  <a:pt x="263909" y="353056"/>
                </a:lnTo>
                <a:lnTo>
                  <a:pt x="0" y="35305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463"/>
          </a:p>
        </p:txBody>
      </p:sp>
      <p:cxnSp>
        <p:nvCxnSpPr>
          <p:cNvPr id="117" name="Straight Connector 116">
            <a:extLst>
              <a:ext uri="{FF2B5EF4-FFF2-40B4-BE49-F238E27FC236}">
                <a16:creationId xmlns:a16="http://schemas.microsoft.com/office/drawing/2014/main" id="{581B6D57-CEC5-6CE8-B32E-E3BB275EF4EE}"/>
              </a:ext>
            </a:extLst>
          </p:cNvPr>
          <p:cNvCxnSpPr>
            <a:cxnSpLocks/>
          </p:cNvCxnSpPr>
          <p:nvPr/>
        </p:nvCxnSpPr>
        <p:spPr>
          <a:xfrm>
            <a:off x="309125" y="1977133"/>
            <a:ext cx="0" cy="3191934"/>
          </a:xfrm>
          <a:prstGeom prst="line">
            <a:avLst/>
          </a:prstGeom>
          <a:ln>
            <a:solidFill>
              <a:srgbClr val="4DA72E"/>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20985DAD-CC7C-4CA2-A32C-E02EBA9FBEB4}"/>
              </a:ext>
            </a:extLst>
          </p:cNvPr>
          <p:cNvSpPr txBox="1"/>
          <p:nvPr/>
        </p:nvSpPr>
        <p:spPr>
          <a:xfrm>
            <a:off x="375691" y="1852087"/>
            <a:ext cx="237070" cy="317459"/>
          </a:xfrm>
          <a:prstGeom prst="rect">
            <a:avLst/>
          </a:prstGeom>
          <a:noFill/>
        </p:spPr>
        <p:txBody>
          <a:bodyPr wrap="square" rtlCol="0">
            <a:spAutoFit/>
          </a:bodyPr>
          <a:lstStyle/>
          <a:p>
            <a:r>
              <a:rPr lang="en-US" sz="1463">
                <a:latin typeface="Times New Roman" panose="02020603050405020304" pitchFamily="18" charset="0"/>
                <a:cs typeface="Times New Roman" panose="02020603050405020304" pitchFamily="18" charset="0"/>
              </a:rPr>
              <a:t>3</a:t>
            </a:r>
          </a:p>
        </p:txBody>
      </p:sp>
      <p:sp>
        <p:nvSpPr>
          <p:cNvPr id="119" name="TextBox 118">
            <a:extLst>
              <a:ext uri="{FF2B5EF4-FFF2-40B4-BE49-F238E27FC236}">
                <a16:creationId xmlns:a16="http://schemas.microsoft.com/office/drawing/2014/main" id="{FB8074A8-04C1-3F90-C937-A6630295A821}"/>
              </a:ext>
            </a:extLst>
          </p:cNvPr>
          <p:cNvSpPr txBox="1"/>
          <p:nvPr/>
        </p:nvSpPr>
        <p:spPr>
          <a:xfrm>
            <a:off x="375691" y="3301863"/>
            <a:ext cx="237070" cy="317459"/>
          </a:xfrm>
          <a:prstGeom prst="rect">
            <a:avLst/>
          </a:prstGeom>
          <a:noFill/>
        </p:spPr>
        <p:txBody>
          <a:bodyPr wrap="square" rtlCol="0">
            <a:spAutoFit/>
          </a:bodyPr>
          <a:lstStyle/>
          <a:p>
            <a:r>
              <a:rPr lang="en-US" sz="1463">
                <a:latin typeface="Times New Roman" panose="02020603050405020304" pitchFamily="18" charset="0"/>
                <a:cs typeface="Times New Roman" panose="02020603050405020304" pitchFamily="18" charset="0"/>
              </a:rPr>
              <a:t>2</a:t>
            </a:r>
          </a:p>
        </p:txBody>
      </p:sp>
      <p:sp>
        <p:nvSpPr>
          <p:cNvPr id="120" name="TextBox 119">
            <a:extLst>
              <a:ext uri="{FF2B5EF4-FFF2-40B4-BE49-F238E27FC236}">
                <a16:creationId xmlns:a16="http://schemas.microsoft.com/office/drawing/2014/main" id="{4F207C66-00F9-B2FB-4CEE-6BDEBA21903D}"/>
              </a:ext>
            </a:extLst>
          </p:cNvPr>
          <p:cNvSpPr txBox="1"/>
          <p:nvPr/>
        </p:nvSpPr>
        <p:spPr>
          <a:xfrm>
            <a:off x="375691" y="4751638"/>
            <a:ext cx="237070" cy="317459"/>
          </a:xfrm>
          <a:prstGeom prst="rect">
            <a:avLst/>
          </a:prstGeom>
          <a:noFill/>
        </p:spPr>
        <p:txBody>
          <a:bodyPr wrap="square" rtlCol="0">
            <a:spAutoFit/>
          </a:bodyPr>
          <a:lstStyle/>
          <a:p>
            <a:r>
              <a:rPr lang="en-US" sz="1463">
                <a:latin typeface="Times New Roman" panose="02020603050405020304" pitchFamily="18" charset="0"/>
                <a:cs typeface="Times New Roman" panose="02020603050405020304" pitchFamily="18" charset="0"/>
              </a:rPr>
              <a:t>1</a:t>
            </a:r>
          </a:p>
        </p:txBody>
      </p:sp>
      <p:sp>
        <p:nvSpPr>
          <p:cNvPr id="122" name="TextBox 121">
            <a:extLst>
              <a:ext uri="{FF2B5EF4-FFF2-40B4-BE49-F238E27FC236}">
                <a16:creationId xmlns:a16="http://schemas.microsoft.com/office/drawing/2014/main" id="{58CF9A80-0E57-1D05-B67C-D1D8F1EE0BF6}"/>
              </a:ext>
            </a:extLst>
          </p:cNvPr>
          <p:cNvSpPr txBox="1"/>
          <p:nvPr/>
        </p:nvSpPr>
        <p:spPr>
          <a:xfrm rot="16200000">
            <a:off x="-59568" y="3386735"/>
            <a:ext cx="670561" cy="267446"/>
          </a:xfrm>
          <a:prstGeom prst="rect">
            <a:avLst/>
          </a:prstGeom>
          <a:solidFill>
            <a:schemeClr val="bg1"/>
          </a:solidFill>
        </p:spPr>
        <p:txBody>
          <a:bodyPr wrap="square" rtlCol="0">
            <a:spAutoFit/>
          </a:bodyPr>
          <a:lstStyle/>
          <a:p>
            <a:pPr algn="ctr"/>
            <a:r>
              <a:rPr lang="en-US" sz="1138">
                <a:latin typeface="Times New Roman" panose="02020603050405020304" pitchFamily="18" charset="0"/>
                <a:cs typeface="Times New Roman" panose="02020603050405020304" pitchFamily="18" charset="0"/>
              </a:rPr>
              <a:t>Score</a:t>
            </a:r>
          </a:p>
        </p:txBody>
      </p:sp>
      <p:sp>
        <p:nvSpPr>
          <p:cNvPr id="116" name="TextBox 115">
            <a:extLst>
              <a:ext uri="{FF2B5EF4-FFF2-40B4-BE49-F238E27FC236}">
                <a16:creationId xmlns:a16="http://schemas.microsoft.com/office/drawing/2014/main" id="{9747C365-3870-E4F0-8100-E7F326162551}"/>
              </a:ext>
            </a:extLst>
          </p:cNvPr>
          <p:cNvSpPr txBox="1"/>
          <p:nvPr/>
        </p:nvSpPr>
        <p:spPr>
          <a:xfrm>
            <a:off x="3776186" y="5013487"/>
            <a:ext cx="2400972" cy="242374"/>
          </a:xfrm>
          <a:prstGeom prst="rect">
            <a:avLst/>
          </a:prstGeom>
          <a:solidFill>
            <a:schemeClr val="bg1"/>
          </a:solidFill>
        </p:spPr>
        <p:txBody>
          <a:bodyPr wrap="square" rtlCol="0">
            <a:spAutoFit/>
          </a:bodyPr>
          <a:lstStyle/>
          <a:p>
            <a:pPr algn="ctr"/>
            <a:r>
              <a:rPr lang="en-US" sz="975">
                <a:latin typeface="Times New Roman" panose="02020603050405020304" pitchFamily="18" charset="0"/>
                <a:cs typeface="Times New Roman" panose="02020603050405020304" pitchFamily="18" charset="0"/>
              </a:rPr>
              <a:t>Data Governance and Public Infrastructure</a:t>
            </a:r>
          </a:p>
        </p:txBody>
      </p:sp>
      <p:cxnSp>
        <p:nvCxnSpPr>
          <p:cNvPr id="123" name="Straight Connector 122">
            <a:extLst>
              <a:ext uri="{FF2B5EF4-FFF2-40B4-BE49-F238E27FC236}">
                <a16:creationId xmlns:a16="http://schemas.microsoft.com/office/drawing/2014/main" id="{29756A2A-9179-B2A5-F796-7A1892AE7594}"/>
              </a:ext>
            </a:extLst>
          </p:cNvPr>
          <p:cNvCxnSpPr>
            <a:cxnSpLocks/>
          </p:cNvCxnSpPr>
          <p:nvPr/>
        </p:nvCxnSpPr>
        <p:spPr>
          <a:xfrm flipH="1">
            <a:off x="612761" y="5469581"/>
            <a:ext cx="8984101" cy="0"/>
          </a:xfrm>
          <a:prstGeom prst="line">
            <a:avLst/>
          </a:prstGeom>
          <a:ln>
            <a:solidFill>
              <a:srgbClr val="4DA72E"/>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sp>
        <p:nvSpPr>
          <p:cNvPr id="124" name="TextBox 123">
            <a:extLst>
              <a:ext uri="{FF2B5EF4-FFF2-40B4-BE49-F238E27FC236}">
                <a16:creationId xmlns:a16="http://schemas.microsoft.com/office/drawing/2014/main" id="{1D513709-C26B-145F-3D63-7F92CF087FDC}"/>
              </a:ext>
            </a:extLst>
          </p:cNvPr>
          <p:cNvSpPr txBox="1"/>
          <p:nvPr/>
        </p:nvSpPr>
        <p:spPr>
          <a:xfrm>
            <a:off x="3587397" y="5405895"/>
            <a:ext cx="2400972" cy="267446"/>
          </a:xfrm>
          <a:prstGeom prst="rect">
            <a:avLst/>
          </a:prstGeom>
          <a:solidFill>
            <a:schemeClr val="bg1"/>
          </a:solidFill>
        </p:spPr>
        <p:txBody>
          <a:bodyPr wrap="square" rtlCol="0">
            <a:spAutoFit/>
          </a:bodyPr>
          <a:lstStyle/>
          <a:p>
            <a:pPr algn="ctr"/>
            <a:r>
              <a:rPr lang="en-US" sz="1138">
                <a:latin typeface="Times New Roman" panose="02020603050405020304" pitchFamily="18" charset="0"/>
                <a:cs typeface="Times New Roman" panose="02020603050405020304" pitchFamily="18" charset="0"/>
              </a:rPr>
              <a:t>Intervention Modalities</a:t>
            </a:r>
          </a:p>
        </p:txBody>
      </p:sp>
      <p:sp>
        <p:nvSpPr>
          <p:cNvPr id="125" name="TextBox 124">
            <a:extLst>
              <a:ext uri="{FF2B5EF4-FFF2-40B4-BE49-F238E27FC236}">
                <a16:creationId xmlns:a16="http://schemas.microsoft.com/office/drawing/2014/main" id="{BC33A7B8-D49A-BD88-1A3E-B03FC7F049AB}"/>
              </a:ext>
            </a:extLst>
          </p:cNvPr>
          <p:cNvSpPr txBox="1"/>
          <p:nvPr/>
        </p:nvSpPr>
        <p:spPr>
          <a:xfrm>
            <a:off x="636508" y="5013487"/>
            <a:ext cx="2400972" cy="392415"/>
          </a:xfrm>
          <a:prstGeom prst="rect">
            <a:avLst/>
          </a:prstGeom>
          <a:solidFill>
            <a:schemeClr val="bg1"/>
          </a:solidFill>
        </p:spPr>
        <p:txBody>
          <a:bodyPr wrap="square" rtlCol="0">
            <a:spAutoFit/>
          </a:bodyPr>
          <a:lstStyle/>
          <a:p>
            <a:pPr algn="ctr"/>
            <a:r>
              <a:rPr lang="en-US" sz="975">
                <a:latin typeface="Times New Roman" panose="02020603050405020304" pitchFamily="18" charset="0"/>
                <a:cs typeface="Times New Roman" panose="02020603050405020304" pitchFamily="18" charset="0"/>
              </a:rPr>
              <a:t>Institutional Capacity and Technical Assistance</a:t>
            </a:r>
          </a:p>
        </p:txBody>
      </p:sp>
      <p:sp>
        <p:nvSpPr>
          <p:cNvPr id="126" name="TextBox 125">
            <a:extLst>
              <a:ext uri="{FF2B5EF4-FFF2-40B4-BE49-F238E27FC236}">
                <a16:creationId xmlns:a16="http://schemas.microsoft.com/office/drawing/2014/main" id="{4EC86389-5EAD-18E5-7801-089202297320}"/>
              </a:ext>
            </a:extLst>
          </p:cNvPr>
          <p:cNvSpPr txBox="1"/>
          <p:nvPr/>
        </p:nvSpPr>
        <p:spPr>
          <a:xfrm>
            <a:off x="6915864" y="5013487"/>
            <a:ext cx="2400972" cy="242374"/>
          </a:xfrm>
          <a:prstGeom prst="rect">
            <a:avLst/>
          </a:prstGeom>
          <a:solidFill>
            <a:schemeClr val="bg1"/>
          </a:solidFill>
        </p:spPr>
        <p:txBody>
          <a:bodyPr wrap="square" rtlCol="0">
            <a:spAutoFit/>
          </a:bodyPr>
          <a:lstStyle/>
          <a:p>
            <a:pPr algn="ctr"/>
            <a:r>
              <a:rPr lang="en-US" sz="975">
                <a:latin typeface="Times New Roman" panose="02020603050405020304" pitchFamily="18" charset="0"/>
                <a:cs typeface="Times New Roman" panose="02020603050405020304" pitchFamily="18" charset="0"/>
              </a:rPr>
              <a:t>Civil Society and Oversight Strengthening</a:t>
            </a:r>
          </a:p>
        </p:txBody>
      </p:sp>
      <p:cxnSp>
        <p:nvCxnSpPr>
          <p:cNvPr id="127" name="Straight Connector 126">
            <a:extLst>
              <a:ext uri="{FF2B5EF4-FFF2-40B4-BE49-F238E27FC236}">
                <a16:creationId xmlns:a16="http://schemas.microsoft.com/office/drawing/2014/main" id="{1FFCE7C4-039B-30EA-5F65-ECE311474CE4}"/>
              </a:ext>
            </a:extLst>
          </p:cNvPr>
          <p:cNvCxnSpPr>
            <a:cxnSpLocks/>
          </p:cNvCxnSpPr>
          <p:nvPr/>
        </p:nvCxnSpPr>
        <p:spPr>
          <a:xfrm>
            <a:off x="612761" y="2962832"/>
            <a:ext cx="8740374" cy="0"/>
          </a:xfrm>
          <a:prstGeom prst="line">
            <a:avLst/>
          </a:prstGeom>
          <a:ln>
            <a:solidFill>
              <a:schemeClr val="accent3">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128" name="TextBox 127">
            <a:extLst>
              <a:ext uri="{FF2B5EF4-FFF2-40B4-BE49-F238E27FC236}">
                <a16:creationId xmlns:a16="http://schemas.microsoft.com/office/drawing/2014/main" id="{74F7D40A-F4C4-F3AE-F30C-B660218F4879}"/>
              </a:ext>
            </a:extLst>
          </p:cNvPr>
          <p:cNvSpPr txBox="1"/>
          <p:nvPr/>
        </p:nvSpPr>
        <p:spPr>
          <a:xfrm>
            <a:off x="349897" y="2832799"/>
            <a:ext cx="498574" cy="217432"/>
          </a:xfrm>
          <a:prstGeom prst="rect">
            <a:avLst/>
          </a:prstGeom>
          <a:noFill/>
        </p:spPr>
        <p:txBody>
          <a:bodyPr wrap="square" rtlCol="0">
            <a:spAutoFit/>
          </a:bodyPr>
          <a:lstStyle/>
          <a:p>
            <a:r>
              <a:rPr lang="en-US" sz="813">
                <a:latin typeface="Times New Roman" panose="02020603050405020304" pitchFamily="18" charset="0"/>
                <a:cs typeface="Times New Roman" panose="02020603050405020304" pitchFamily="18" charset="0"/>
              </a:rPr>
              <a:t>2.3</a:t>
            </a:r>
          </a:p>
        </p:txBody>
      </p:sp>
      <p:cxnSp>
        <p:nvCxnSpPr>
          <p:cNvPr id="129" name="Straight Connector 128">
            <a:extLst>
              <a:ext uri="{FF2B5EF4-FFF2-40B4-BE49-F238E27FC236}">
                <a16:creationId xmlns:a16="http://schemas.microsoft.com/office/drawing/2014/main" id="{0F8B3A0E-B771-51F9-074C-F29BF67F735D}"/>
              </a:ext>
            </a:extLst>
          </p:cNvPr>
          <p:cNvCxnSpPr>
            <a:cxnSpLocks/>
          </p:cNvCxnSpPr>
          <p:nvPr/>
        </p:nvCxnSpPr>
        <p:spPr>
          <a:xfrm>
            <a:off x="9402122" y="1986318"/>
            <a:ext cx="0" cy="902944"/>
          </a:xfrm>
          <a:prstGeom prst="line">
            <a:avLst/>
          </a:prstGeom>
          <a:ln>
            <a:solidFill>
              <a:srgbClr val="4DA72E"/>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sp>
        <p:nvSpPr>
          <p:cNvPr id="130" name="TextBox 129">
            <a:extLst>
              <a:ext uri="{FF2B5EF4-FFF2-40B4-BE49-F238E27FC236}">
                <a16:creationId xmlns:a16="http://schemas.microsoft.com/office/drawing/2014/main" id="{A5381439-C959-E207-C358-E3658D6E10BF}"/>
              </a:ext>
            </a:extLst>
          </p:cNvPr>
          <p:cNvSpPr txBox="1"/>
          <p:nvPr/>
        </p:nvSpPr>
        <p:spPr>
          <a:xfrm rot="16200000">
            <a:off x="8921488" y="2316602"/>
            <a:ext cx="1139543" cy="242374"/>
          </a:xfrm>
          <a:prstGeom prst="rect">
            <a:avLst/>
          </a:prstGeom>
          <a:noFill/>
        </p:spPr>
        <p:txBody>
          <a:bodyPr wrap="square" rtlCol="0">
            <a:spAutoFit/>
          </a:bodyPr>
          <a:lstStyle/>
          <a:p>
            <a:pPr algn="ctr"/>
            <a:r>
              <a:rPr lang="en-US" sz="975">
                <a:latin typeface="Times New Roman" panose="02020603050405020304" pitchFamily="18" charset="0"/>
                <a:cs typeface="Times New Roman" panose="02020603050405020304" pitchFamily="18" charset="0"/>
              </a:rPr>
              <a:t>Recommendations</a:t>
            </a:r>
          </a:p>
        </p:txBody>
      </p:sp>
      <p:grpSp>
        <p:nvGrpSpPr>
          <p:cNvPr id="9" name="Group 8">
            <a:extLst>
              <a:ext uri="{FF2B5EF4-FFF2-40B4-BE49-F238E27FC236}">
                <a16:creationId xmlns:a16="http://schemas.microsoft.com/office/drawing/2014/main" id="{DE0C8A6B-CB87-A9D5-D8AB-19F6841B518C}"/>
              </a:ext>
            </a:extLst>
          </p:cNvPr>
          <p:cNvGrpSpPr/>
          <p:nvPr/>
        </p:nvGrpSpPr>
        <p:grpSpPr>
          <a:xfrm>
            <a:off x="609207" y="2063307"/>
            <a:ext cx="1597097" cy="463435"/>
            <a:chOff x="1072297" y="1241937"/>
            <a:chExt cx="1534546" cy="534321"/>
          </a:xfrm>
        </p:grpSpPr>
        <p:grpSp>
          <p:nvGrpSpPr>
            <p:cNvPr id="10" name="Group 9">
              <a:extLst>
                <a:ext uri="{FF2B5EF4-FFF2-40B4-BE49-F238E27FC236}">
                  <a16:creationId xmlns:a16="http://schemas.microsoft.com/office/drawing/2014/main" id="{B5D82134-0CE9-8BFF-427E-127EE3F1A695}"/>
                </a:ext>
              </a:extLst>
            </p:cNvPr>
            <p:cNvGrpSpPr/>
            <p:nvPr/>
          </p:nvGrpSpPr>
          <p:grpSpPr>
            <a:xfrm>
              <a:off x="1154128" y="1341970"/>
              <a:ext cx="1452715" cy="434288"/>
              <a:chOff x="1154128" y="1341970"/>
              <a:chExt cx="1452715" cy="434288"/>
            </a:xfrm>
          </p:grpSpPr>
          <p:grpSp>
            <p:nvGrpSpPr>
              <p:cNvPr id="12" name="Group 11">
                <a:extLst>
                  <a:ext uri="{FF2B5EF4-FFF2-40B4-BE49-F238E27FC236}">
                    <a16:creationId xmlns:a16="http://schemas.microsoft.com/office/drawing/2014/main" id="{9A7DC9B4-639E-C15A-E6EE-364DF42F1722}"/>
                  </a:ext>
                </a:extLst>
              </p:cNvPr>
              <p:cNvGrpSpPr/>
              <p:nvPr/>
            </p:nvGrpSpPr>
            <p:grpSpPr>
              <a:xfrm>
                <a:off x="1154128" y="1341970"/>
                <a:ext cx="1452715" cy="434288"/>
                <a:chOff x="3406140" y="2323486"/>
                <a:chExt cx="1787957" cy="485916"/>
              </a:xfrm>
            </p:grpSpPr>
            <p:sp>
              <p:nvSpPr>
                <p:cNvPr id="14" name="TextBox 13">
                  <a:extLst>
                    <a:ext uri="{FF2B5EF4-FFF2-40B4-BE49-F238E27FC236}">
                      <a16:creationId xmlns:a16="http://schemas.microsoft.com/office/drawing/2014/main" id="{23852A0B-F074-B49A-7D63-4A366A730290}"/>
                    </a:ext>
                  </a:extLst>
                </p:cNvPr>
                <p:cNvSpPr txBox="1"/>
                <p:nvPr/>
              </p:nvSpPr>
              <p:spPr>
                <a:xfrm>
                  <a:off x="3803234" y="2354933"/>
                  <a:ext cx="1390863" cy="383106"/>
                </a:xfrm>
                <a:prstGeom prst="rect">
                  <a:avLst/>
                </a:prstGeom>
                <a:noFill/>
              </p:spPr>
              <p:txBody>
                <a:bodyPr wrap="square" rtlCol="0">
                  <a:spAutoFit/>
                </a:bodyPr>
                <a:lstStyle/>
                <a:p>
                  <a:r>
                    <a:rPr lang="en-US" sz="975" i="1">
                      <a:latin typeface="Times New Roman" panose="02020603050405020304" pitchFamily="18" charset="0"/>
                      <a:cs typeface="Times New Roman" panose="02020603050405020304" pitchFamily="18" charset="0"/>
                    </a:rPr>
                    <a:t>Nova Escola (</a:t>
                  </a:r>
                  <a:r>
                    <a:rPr lang="en-US" sz="975" b="1" i="1">
                      <a:latin typeface="Times New Roman" panose="02020603050405020304" pitchFamily="18" charset="0"/>
                      <a:cs typeface="Times New Roman" panose="02020603050405020304" pitchFamily="18" charset="0"/>
                    </a:rPr>
                    <a:t>2.9</a:t>
                  </a:r>
                  <a:r>
                    <a:rPr lang="en-US" sz="975" i="1">
                      <a:latin typeface="Times New Roman" panose="02020603050405020304" pitchFamily="18" charset="0"/>
                      <a:cs typeface="Times New Roman" panose="02020603050405020304" pitchFamily="18" charset="0"/>
                    </a:rPr>
                    <a:t>)</a:t>
                  </a:r>
                </a:p>
                <a:p>
                  <a:r>
                    <a:rPr lang="en-US" sz="650" i="1">
                      <a:latin typeface="Times New Roman" panose="02020603050405020304" pitchFamily="18" charset="0"/>
                      <a:cs typeface="Times New Roman" panose="02020603050405020304" pitchFamily="18" charset="0"/>
                    </a:rPr>
                    <a:t>[Professor ANE]</a:t>
                  </a:r>
                </a:p>
              </p:txBody>
            </p:sp>
            <p:sp>
              <p:nvSpPr>
                <p:cNvPr id="15" name="Rounded Rectangle 14">
                  <a:extLst>
                    <a:ext uri="{FF2B5EF4-FFF2-40B4-BE49-F238E27FC236}">
                      <a16:creationId xmlns:a16="http://schemas.microsoft.com/office/drawing/2014/main" id="{73C44CEB-1025-257C-EA9A-F85E363472C8}"/>
                    </a:ext>
                  </a:extLst>
                </p:cNvPr>
                <p:cNvSpPr/>
                <p:nvPr/>
              </p:nvSpPr>
              <p:spPr>
                <a:xfrm>
                  <a:off x="3406140" y="2323486"/>
                  <a:ext cx="1714074" cy="485916"/>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pic>
            <p:nvPicPr>
              <p:cNvPr id="13" name="Picture 4" descr="Nova Escola - Current Openings">
                <a:extLst>
                  <a:ext uri="{FF2B5EF4-FFF2-40B4-BE49-F238E27FC236}">
                    <a16:creationId xmlns:a16="http://schemas.microsoft.com/office/drawing/2014/main" id="{E9202068-33BB-6948-F3AE-F60930C6B9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2022" y="1395634"/>
                <a:ext cx="325102" cy="222008"/>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Oval 10">
              <a:extLst>
                <a:ext uri="{FF2B5EF4-FFF2-40B4-BE49-F238E27FC236}">
                  <a16:creationId xmlns:a16="http://schemas.microsoft.com/office/drawing/2014/main" id="{53679510-0CD6-3BB6-7D5F-C73718CA8A82}"/>
                </a:ext>
              </a:extLst>
            </p:cNvPr>
            <p:cNvSpPr/>
            <p:nvPr/>
          </p:nvSpPr>
          <p:spPr>
            <a:xfrm>
              <a:off x="1072297" y="1241937"/>
              <a:ext cx="176451" cy="179428"/>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grpSp>
        <p:nvGrpSpPr>
          <p:cNvPr id="16" name="Group 15">
            <a:extLst>
              <a:ext uri="{FF2B5EF4-FFF2-40B4-BE49-F238E27FC236}">
                <a16:creationId xmlns:a16="http://schemas.microsoft.com/office/drawing/2014/main" id="{559534A8-0341-B46E-4650-025A367865A9}"/>
              </a:ext>
            </a:extLst>
          </p:cNvPr>
          <p:cNvGrpSpPr/>
          <p:nvPr/>
        </p:nvGrpSpPr>
        <p:grpSpPr>
          <a:xfrm>
            <a:off x="636508" y="3600568"/>
            <a:ext cx="1928208" cy="557069"/>
            <a:chOff x="1776395" y="2782160"/>
            <a:chExt cx="1928208" cy="557069"/>
          </a:xfrm>
        </p:grpSpPr>
        <p:pic>
          <p:nvPicPr>
            <p:cNvPr id="17" name="Picture 10" descr="MegaEdu - velezreyes+">
              <a:extLst>
                <a:ext uri="{FF2B5EF4-FFF2-40B4-BE49-F238E27FC236}">
                  <a16:creationId xmlns:a16="http://schemas.microsoft.com/office/drawing/2014/main" id="{6848E788-0AFE-BCF5-E931-FAF736D01F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9123" y="2891513"/>
              <a:ext cx="455887" cy="201825"/>
            </a:xfrm>
            <a:prstGeom prst="rect">
              <a:avLst/>
            </a:prstGeom>
            <a:noFill/>
            <a:extLst>
              <a:ext uri="{909E8E84-426E-40DD-AFC4-6F175D3DCCD1}">
                <a14:hiddenFill xmlns:a14="http://schemas.microsoft.com/office/drawing/2010/main">
                  <a:solidFill>
                    <a:srgbClr val="FFFFFF"/>
                  </a:solidFill>
                </a14:hiddenFill>
              </a:ext>
            </a:extLst>
          </p:spPr>
        </p:pic>
        <p:sp>
          <p:nvSpPr>
            <p:cNvPr id="18" name="Oval 17">
              <a:extLst>
                <a:ext uri="{FF2B5EF4-FFF2-40B4-BE49-F238E27FC236}">
                  <a16:creationId xmlns:a16="http://schemas.microsoft.com/office/drawing/2014/main" id="{DE3FB5FC-0C39-0B7A-89E7-6EEE25622AC1}"/>
                </a:ext>
              </a:extLst>
            </p:cNvPr>
            <p:cNvSpPr/>
            <p:nvPr/>
          </p:nvSpPr>
          <p:spPr>
            <a:xfrm>
              <a:off x="1776395" y="2782160"/>
              <a:ext cx="176451" cy="163117"/>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nvGrpSpPr>
            <p:cNvPr id="19" name="Group 18">
              <a:extLst>
                <a:ext uri="{FF2B5EF4-FFF2-40B4-BE49-F238E27FC236}">
                  <a16:creationId xmlns:a16="http://schemas.microsoft.com/office/drawing/2014/main" id="{1BDDFDB3-0641-8539-1EBC-28FC381C6522}"/>
                </a:ext>
              </a:extLst>
            </p:cNvPr>
            <p:cNvGrpSpPr/>
            <p:nvPr/>
          </p:nvGrpSpPr>
          <p:grpSpPr>
            <a:xfrm>
              <a:off x="1848094" y="2866769"/>
              <a:ext cx="1856509" cy="472460"/>
              <a:chOff x="3406139" y="2323485"/>
              <a:chExt cx="2284934" cy="247035"/>
            </a:xfrm>
          </p:grpSpPr>
          <p:sp>
            <p:nvSpPr>
              <p:cNvPr id="20" name="TextBox 19">
                <a:extLst>
                  <a:ext uri="{FF2B5EF4-FFF2-40B4-BE49-F238E27FC236}">
                    <a16:creationId xmlns:a16="http://schemas.microsoft.com/office/drawing/2014/main" id="{E68D992A-3966-53A4-395F-A8B6A8CC447E}"/>
                  </a:ext>
                </a:extLst>
              </p:cNvPr>
              <p:cNvSpPr txBox="1"/>
              <p:nvPr/>
            </p:nvSpPr>
            <p:spPr>
              <a:xfrm>
                <a:off x="3871659" y="2341537"/>
                <a:ext cx="1692165" cy="126730"/>
              </a:xfrm>
              <a:prstGeom prst="rect">
                <a:avLst/>
              </a:prstGeom>
              <a:noFill/>
            </p:spPr>
            <p:txBody>
              <a:bodyPr wrap="square" rtlCol="0">
                <a:spAutoFit/>
              </a:bodyPr>
              <a:lstStyle/>
              <a:p>
                <a:r>
                  <a:rPr lang="en-US" sz="975" i="1" err="1">
                    <a:latin typeface="Times New Roman" panose="02020603050405020304" pitchFamily="18" charset="0"/>
                    <a:cs typeface="Times New Roman" panose="02020603050405020304" pitchFamily="18" charset="0"/>
                  </a:rPr>
                  <a:t>MegaEdu</a:t>
                </a:r>
                <a:r>
                  <a:rPr lang="en-US" sz="975" i="1">
                    <a:latin typeface="Times New Roman" panose="02020603050405020304" pitchFamily="18" charset="0"/>
                    <a:cs typeface="Times New Roman" panose="02020603050405020304" pitchFamily="18" charset="0"/>
                  </a:rPr>
                  <a:t> (</a:t>
                </a:r>
                <a:r>
                  <a:rPr lang="en-US" sz="975" b="1" i="1">
                    <a:latin typeface="Times New Roman" panose="02020603050405020304" pitchFamily="18" charset="0"/>
                    <a:cs typeface="Times New Roman" panose="02020603050405020304" pitchFamily="18" charset="0"/>
                  </a:rPr>
                  <a:t>1.7</a:t>
                </a:r>
                <a:r>
                  <a:rPr lang="en-US" sz="975" i="1">
                    <a:latin typeface="Times New Roman" panose="02020603050405020304" pitchFamily="18" charset="0"/>
                    <a:cs typeface="Times New Roman" panose="02020603050405020304" pitchFamily="18" charset="0"/>
                  </a:rPr>
                  <a:t>)</a:t>
                </a:r>
              </a:p>
            </p:txBody>
          </p:sp>
          <p:sp>
            <p:nvSpPr>
              <p:cNvPr id="21" name="Rounded Rectangle 20">
                <a:extLst>
                  <a:ext uri="{FF2B5EF4-FFF2-40B4-BE49-F238E27FC236}">
                    <a16:creationId xmlns:a16="http://schemas.microsoft.com/office/drawing/2014/main" id="{34F814D9-68EE-F732-32A2-33D1F499782B}"/>
                  </a:ext>
                </a:extLst>
              </p:cNvPr>
              <p:cNvSpPr/>
              <p:nvPr/>
            </p:nvSpPr>
            <p:spPr>
              <a:xfrm>
                <a:off x="3406139" y="2323485"/>
                <a:ext cx="2213609" cy="247035"/>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22" name="TextBox 21">
                <a:extLst>
                  <a:ext uri="{FF2B5EF4-FFF2-40B4-BE49-F238E27FC236}">
                    <a16:creationId xmlns:a16="http://schemas.microsoft.com/office/drawing/2014/main" id="{A92B948E-C129-2C8D-AB65-563707284E52}"/>
                  </a:ext>
                </a:extLst>
              </p:cNvPr>
              <p:cNvSpPr txBox="1"/>
              <p:nvPr/>
            </p:nvSpPr>
            <p:spPr>
              <a:xfrm>
                <a:off x="3433143" y="2463956"/>
                <a:ext cx="2257930" cy="100579"/>
              </a:xfrm>
              <a:prstGeom prst="rect">
                <a:avLst/>
              </a:prstGeom>
              <a:noFill/>
            </p:spPr>
            <p:txBody>
              <a:bodyPr wrap="square" rtlCol="0">
                <a:spAutoFit/>
              </a:bodyPr>
              <a:lstStyle/>
              <a:p>
                <a:r>
                  <a:rPr lang="en-US" sz="650" i="1">
                    <a:latin typeface="Times New Roman" panose="02020603050405020304" pitchFamily="18" charset="0"/>
                    <a:cs typeface="Times New Roman" panose="02020603050405020304" pitchFamily="18" charset="0"/>
                  </a:rPr>
                  <a:t>[</a:t>
                </a:r>
                <a:r>
                  <a:rPr lang="en-IN" sz="650" i="1">
                    <a:latin typeface="Times New Roman" panose="02020603050405020304" pitchFamily="18" charset="0"/>
                    <a:cs typeface="Times New Roman" panose="02020603050405020304" pitchFamily="18" charset="0"/>
                  </a:rPr>
                  <a:t>Connectivity Planning &amp; Technical Assistance]</a:t>
                </a:r>
                <a:endParaRPr lang="en-US" sz="650" i="1">
                  <a:latin typeface="Times New Roman" panose="02020603050405020304" pitchFamily="18" charset="0"/>
                  <a:cs typeface="Times New Roman" panose="02020603050405020304" pitchFamily="18" charset="0"/>
                </a:endParaRPr>
              </a:p>
            </p:txBody>
          </p:sp>
        </p:grpSp>
      </p:grpSp>
      <p:grpSp>
        <p:nvGrpSpPr>
          <p:cNvPr id="23" name="Group 22">
            <a:extLst>
              <a:ext uri="{FF2B5EF4-FFF2-40B4-BE49-F238E27FC236}">
                <a16:creationId xmlns:a16="http://schemas.microsoft.com/office/drawing/2014/main" id="{97DFD029-F508-3E73-EAAE-FB40C30C50E8}"/>
              </a:ext>
            </a:extLst>
          </p:cNvPr>
          <p:cNvGrpSpPr/>
          <p:nvPr/>
        </p:nvGrpSpPr>
        <p:grpSpPr>
          <a:xfrm>
            <a:off x="2178205" y="2260593"/>
            <a:ext cx="1474516" cy="532298"/>
            <a:chOff x="2581556" y="1370726"/>
            <a:chExt cx="1474516" cy="532298"/>
          </a:xfrm>
        </p:grpSpPr>
        <p:grpSp>
          <p:nvGrpSpPr>
            <p:cNvPr id="24" name="Group 23">
              <a:extLst>
                <a:ext uri="{FF2B5EF4-FFF2-40B4-BE49-F238E27FC236}">
                  <a16:creationId xmlns:a16="http://schemas.microsoft.com/office/drawing/2014/main" id="{42E8E8C7-2EBB-5131-871B-2099BDF6BFA2}"/>
                </a:ext>
              </a:extLst>
            </p:cNvPr>
            <p:cNvGrpSpPr/>
            <p:nvPr/>
          </p:nvGrpSpPr>
          <p:grpSpPr>
            <a:xfrm>
              <a:off x="2663387" y="1470759"/>
              <a:ext cx="1392685" cy="432265"/>
              <a:chOff x="3406140" y="2323485"/>
              <a:chExt cx="1714074" cy="248577"/>
            </a:xfrm>
          </p:grpSpPr>
          <p:sp>
            <p:nvSpPr>
              <p:cNvPr id="27" name="TextBox 26">
                <a:extLst>
                  <a:ext uri="{FF2B5EF4-FFF2-40B4-BE49-F238E27FC236}">
                    <a16:creationId xmlns:a16="http://schemas.microsoft.com/office/drawing/2014/main" id="{CCB11F5A-248D-8DC8-62E8-9AA5FCE38CE2}"/>
                  </a:ext>
                </a:extLst>
              </p:cNvPr>
              <p:cNvSpPr txBox="1"/>
              <p:nvPr/>
            </p:nvSpPr>
            <p:spPr>
              <a:xfrm>
                <a:off x="4029843" y="2354933"/>
                <a:ext cx="996156" cy="139379"/>
              </a:xfrm>
              <a:prstGeom prst="rect">
                <a:avLst/>
              </a:prstGeom>
              <a:noFill/>
            </p:spPr>
            <p:txBody>
              <a:bodyPr wrap="square" rtlCol="0">
                <a:spAutoFit/>
              </a:bodyPr>
              <a:lstStyle/>
              <a:p>
                <a:r>
                  <a:rPr lang="en-US" sz="975" i="1" err="1">
                    <a:latin typeface="Times New Roman" panose="02020603050405020304" pitchFamily="18" charset="0"/>
                    <a:cs typeface="Times New Roman" panose="02020603050405020304" pitchFamily="18" charset="0"/>
                  </a:rPr>
                  <a:t>Insper</a:t>
                </a:r>
                <a:r>
                  <a:rPr lang="en-US" sz="975" i="1">
                    <a:latin typeface="Times New Roman" panose="02020603050405020304" pitchFamily="18" charset="0"/>
                    <a:cs typeface="Times New Roman" panose="02020603050405020304" pitchFamily="18" charset="0"/>
                  </a:rPr>
                  <a:t> (</a:t>
                </a:r>
                <a:r>
                  <a:rPr lang="en-US" sz="975" b="1" i="1">
                    <a:latin typeface="Times New Roman" panose="02020603050405020304" pitchFamily="18" charset="0"/>
                    <a:cs typeface="Times New Roman" panose="02020603050405020304" pitchFamily="18" charset="0"/>
                  </a:rPr>
                  <a:t>2.8</a:t>
                </a:r>
                <a:r>
                  <a:rPr lang="en-US" sz="975" i="1">
                    <a:latin typeface="Times New Roman" panose="02020603050405020304" pitchFamily="18" charset="0"/>
                    <a:cs typeface="Times New Roman" panose="02020603050405020304" pitchFamily="18" charset="0"/>
                  </a:rPr>
                  <a:t>)</a:t>
                </a:r>
              </a:p>
            </p:txBody>
          </p:sp>
          <p:sp>
            <p:nvSpPr>
              <p:cNvPr id="29" name="Rounded Rectangle 28">
                <a:extLst>
                  <a:ext uri="{FF2B5EF4-FFF2-40B4-BE49-F238E27FC236}">
                    <a16:creationId xmlns:a16="http://schemas.microsoft.com/office/drawing/2014/main" id="{CFCA0174-4ABF-7A20-2347-178C3C7FE6AF}"/>
                  </a:ext>
                </a:extLst>
              </p:cNvPr>
              <p:cNvSpPr/>
              <p:nvPr/>
            </p:nvSpPr>
            <p:spPr>
              <a:xfrm>
                <a:off x="3406140" y="2323485"/>
                <a:ext cx="1714074" cy="248577"/>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sp>
          <p:nvSpPr>
            <p:cNvPr id="25" name="Oval 24">
              <a:extLst>
                <a:ext uri="{FF2B5EF4-FFF2-40B4-BE49-F238E27FC236}">
                  <a16:creationId xmlns:a16="http://schemas.microsoft.com/office/drawing/2014/main" id="{687176CB-7D75-1EBB-DFE2-D008D3B4E594}"/>
                </a:ext>
              </a:extLst>
            </p:cNvPr>
            <p:cNvSpPr/>
            <p:nvPr/>
          </p:nvSpPr>
          <p:spPr>
            <a:xfrm>
              <a:off x="2581556" y="1370726"/>
              <a:ext cx="176451" cy="179428"/>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pic>
          <p:nvPicPr>
            <p:cNvPr id="26" name="Picture 8" descr="Insper - Wikipedia">
              <a:extLst>
                <a:ext uri="{FF2B5EF4-FFF2-40B4-BE49-F238E27FC236}">
                  <a16:creationId xmlns:a16="http://schemas.microsoft.com/office/drawing/2014/main" id="{546ACE2F-8886-6D59-F833-C1DC36FD76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0420" y="1530143"/>
              <a:ext cx="520167" cy="201825"/>
            </a:xfrm>
            <a:prstGeom prst="rect">
              <a:avLst/>
            </a:prstGeom>
            <a:noFill/>
            <a:extLst>
              <a:ext uri="{909E8E84-426E-40DD-AFC4-6F175D3DCCD1}">
                <a14:hiddenFill xmlns:a14="http://schemas.microsoft.com/office/drawing/2010/main">
                  <a:solidFill>
                    <a:srgbClr val="FFFFFF"/>
                  </a:solidFill>
                </a14:hiddenFill>
              </a:ext>
            </a:extLst>
          </p:spPr>
        </p:pic>
      </p:grpSp>
      <p:sp>
        <p:nvSpPr>
          <p:cNvPr id="30" name="TextBox 29">
            <a:extLst>
              <a:ext uri="{FF2B5EF4-FFF2-40B4-BE49-F238E27FC236}">
                <a16:creationId xmlns:a16="http://schemas.microsoft.com/office/drawing/2014/main" id="{EC634808-8EC2-2F2F-A426-880F1BBC160A}"/>
              </a:ext>
            </a:extLst>
          </p:cNvPr>
          <p:cNvSpPr txBox="1"/>
          <p:nvPr/>
        </p:nvSpPr>
        <p:spPr>
          <a:xfrm>
            <a:off x="2289284" y="2585039"/>
            <a:ext cx="1307176" cy="192360"/>
          </a:xfrm>
          <a:prstGeom prst="rect">
            <a:avLst/>
          </a:prstGeom>
          <a:noFill/>
        </p:spPr>
        <p:txBody>
          <a:bodyPr wrap="square" rtlCol="0">
            <a:spAutoFit/>
          </a:bodyPr>
          <a:lstStyle/>
          <a:p>
            <a:r>
              <a:rPr lang="en-US" sz="650" i="1">
                <a:latin typeface="Times New Roman" panose="02020603050405020304" pitchFamily="18" charset="0"/>
                <a:cs typeface="Times New Roman" panose="02020603050405020304" pitchFamily="18" charset="0"/>
              </a:rPr>
              <a:t>[Agile AI &amp; Expert Connections]</a:t>
            </a:r>
          </a:p>
        </p:txBody>
      </p:sp>
      <p:pic>
        <p:nvPicPr>
          <p:cNvPr id="43" name="Picture 10" descr="InternetLab, Brazil | Al Sur">
            <a:extLst>
              <a:ext uri="{FF2B5EF4-FFF2-40B4-BE49-F238E27FC236}">
                <a16:creationId xmlns:a16="http://schemas.microsoft.com/office/drawing/2014/main" id="{4BB6B52E-BB74-51D1-8DBF-1FC27A6713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0415" y="3671570"/>
            <a:ext cx="402188" cy="321750"/>
          </a:xfrm>
          <a:prstGeom prst="rect">
            <a:avLst/>
          </a:prstGeom>
          <a:noFill/>
          <a:extLst>
            <a:ext uri="{909E8E84-426E-40DD-AFC4-6F175D3DCCD1}">
              <a14:hiddenFill xmlns:a14="http://schemas.microsoft.com/office/drawing/2010/main">
                <a:solidFill>
                  <a:srgbClr val="FFFFFF"/>
                </a:solidFill>
              </a14:hiddenFill>
            </a:ext>
          </a:extLst>
        </p:spPr>
      </p:pic>
      <p:sp>
        <p:nvSpPr>
          <p:cNvPr id="44" name="Oval 43">
            <a:extLst>
              <a:ext uri="{FF2B5EF4-FFF2-40B4-BE49-F238E27FC236}">
                <a16:creationId xmlns:a16="http://schemas.microsoft.com/office/drawing/2014/main" id="{C02BA230-1FE2-E349-8037-11B935A95F21}"/>
              </a:ext>
            </a:extLst>
          </p:cNvPr>
          <p:cNvSpPr/>
          <p:nvPr/>
        </p:nvSpPr>
        <p:spPr>
          <a:xfrm>
            <a:off x="7686740" y="3746009"/>
            <a:ext cx="176451" cy="163117"/>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nvGrpSpPr>
          <p:cNvPr id="45" name="Group 44">
            <a:extLst>
              <a:ext uri="{FF2B5EF4-FFF2-40B4-BE49-F238E27FC236}">
                <a16:creationId xmlns:a16="http://schemas.microsoft.com/office/drawing/2014/main" id="{D2EE52DA-FC8B-D822-698C-87BEAEF2219E}"/>
              </a:ext>
            </a:extLst>
          </p:cNvPr>
          <p:cNvGrpSpPr/>
          <p:nvPr/>
        </p:nvGrpSpPr>
        <p:grpSpPr>
          <a:xfrm>
            <a:off x="7758439" y="3706644"/>
            <a:ext cx="2044741" cy="472128"/>
            <a:chOff x="3406140" y="2323485"/>
            <a:chExt cx="2516604" cy="581080"/>
          </a:xfrm>
        </p:grpSpPr>
        <p:sp>
          <p:nvSpPr>
            <p:cNvPr id="46" name="TextBox 45">
              <a:extLst>
                <a:ext uri="{FF2B5EF4-FFF2-40B4-BE49-F238E27FC236}">
                  <a16:creationId xmlns:a16="http://schemas.microsoft.com/office/drawing/2014/main" id="{249F5F8B-5D65-96B6-BE9E-EF8D9DA7ADF9}"/>
                </a:ext>
              </a:extLst>
            </p:cNvPr>
            <p:cNvSpPr txBox="1"/>
            <p:nvPr/>
          </p:nvSpPr>
          <p:spPr>
            <a:xfrm>
              <a:off x="3835049" y="2354934"/>
              <a:ext cx="2087695" cy="298306"/>
            </a:xfrm>
            <a:prstGeom prst="rect">
              <a:avLst/>
            </a:prstGeom>
            <a:noFill/>
          </p:spPr>
          <p:txBody>
            <a:bodyPr wrap="square" rtlCol="0">
              <a:spAutoFit/>
            </a:bodyPr>
            <a:lstStyle/>
            <a:p>
              <a:r>
                <a:rPr lang="en-US" sz="975" i="1" err="1">
                  <a:latin typeface="Times New Roman" panose="02020603050405020304" pitchFamily="18" charset="0"/>
                  <a:cs typeface="Times New Roman" panose="02020603050405020304" pitchFamily="18" charset="0"/>
                </a:rPr>
                <a:t>InternetLab</a:t>
              </a:r>
              <a:r>
                <a:rPr lang="en-US" sz="975" i="1">
                  <a:latin typeface="Times New Roman" panose="02020603050405020304" pitchFamily="18" charset="0"/>
                  <a:cs typeface="Times New Roman" panose="02020603050405020304" pitchFamily="18" charset="0"/>
                </a:rPr>
                <a:t> (</a:t>
              </a:r>
              <a:r>
                <a:rPr lang="en-US" sz="975" b="1" i="1">
                  <a:latin typeface="Times New Roman" panose="02020603050405020304" pitchFamily="18" charset="0"/>
                  <a:cs typeface="Times New Roman" panose="02020603050405020304" pitchFamily="18" charset="0"/>
                </a:rPr>
                <a:t>1.6)</a:t>
              </a:r>
              <a:endParaRPr lang="en-US" sz="975" i="1">
                <a:latin typeface="Times New Roman" panose="02020603050405020304" pitchFamily="18" charset="0"/>
                <a:cs typeface="Times New Roman" panose="02020603050405020304" pitchFamily="18" charset="0"/>
              </a:endParaRPr>
            </a:p>
          </p:txBody>
        </p:sp>
        <p:sp>
          <p:nvSpPr>
            <p:cNvPr id="47" name="Rounded Rectangle 46">
              <a:extLst>
                <a:ext uri="{FF2B5EF4-FFF2-40B4-BE49-F238E27FC236}">
                  <a16:creationId xmlns:a16="http://schemas.microsoft.com/office/drawing/2014/main" id="{AB26149E-E502-5494-1D91-9CF9435C8CF2}"/>
                </a:ext>
              </a:extLst>
            </p:cNvPr>
            <p:cNvSpPr/>
            <p:nvPr/>
          </p:nvSpPr>
          <p:spPr>
            <a:xfrm>
              <a:off x="3406140" y="2323485"/>
              <a:ext cx="1665588" cy="581080"/>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sp>
        <p:nvSpPr>
          <p:cNvPr id="48" name="TextBox 47">
            <a:extLst>
              <a:ext uri="{FF2B5EF4-FFF2-40B4-BE49-F238E27FC236}">
                <a16:creationId xmlns:a16="http://schemas.microsoft.com/office/drawing/2014/main" id="{87493D93-D1EB-311C-DF5B-B58F64DE63DB}"/>
              </a:ext>
            </a:extLst>
          </p:cNvPr>
          <p:cNvSpPr txBox="1"/>
          <p:nvPr/>
        </p:nvSpPr>
        <p:spPr>
          <a:xfrm>
            <a:off x="7771165" y="3917777"/>
            <a:ext cx="1389647" cy="292388"/>
          </a:xfrm>
          <a:prstGeom prst="rect">
            <a:avLst/>
          </a:prstGeom>
          <a:noFill/>
        </p:spPr>
        <p:txBody>
          <a:bodyPr wrap="square" rtlCol="0">
            <a:spAutoFit/>
          </a:bodyPr>
          <a:lstStyle/>
          <a:p>
            <a:r>
              <a:rPr lang="en-US" sz="650" i="1">
                <a:latin typeface="Times New Roman" panose="02020603050405020304" pitchFamily="18" charset="0"/>
                <a:cs typeface="Times New Roman" panose="02020603050405020304" pitchFamily="18" charset="0"/>
              </a:rPr>
              <a:t>[Data Justice and Social Protection Policies] </a:t>
            </a:r>
          </a:p>
        </p:txBody>
      </p:sp>
      <p:pic>
        <p:nvPicPr>
          <p:cNvPr id="53" name="Picture 10" descr="InternetLab, Brazil | Al Sur">
            <a:extLst>
              <a:ext uri="{FF2B5EF4-FFF2-40B4-BE49-F238E27FC236}">
                <a16:creationId xmlns:a16="http://schemas.microsoft.com/office/drawing/2014/main" id="{B9DBB7AB-BAAC-BAD6-C0F4-39B67B2701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64057" y="3325226"/>
            <a:ext cx="402188" cy="321750"/>
          </a:xfrm>
          <a:prstGeom prst="rect">
            <a:avLst/>
          </a:prstGeom>
          <a:noFill/>
          <a:extLst>
            <a:ext uri="{909E8E84-426E-40DD-AFC4-6F175D3DCCD1}">
              <a14:hiddenFill xmlns:a14="http://schemas.microsoft.com/office/drawing/2010/main">
                <a:solidFill>
                  <a:srgbClr val="FFFFFF"/>
                </a:solidFill>
              </a14:hiddenFill>
            </a:ext>
          </a:extLst>
        </p:spPr>
      </p:pic>
      <p:grpSp>
        <p:nvGrpSpPr>
          <p:cNvPr id="54" name="Group 53">
            <a:extLst>
              <a:ext uri="{FF2B5EF4-FFF2-40B4-BE49-F238E27FC236}">
                <a16:creationId xmlns:a16="http://schemas.microsoft.com/office/drawing/2014/main" id="{BF726C33-72E2-AD31-AAE5-AAD741269498}"/>
              </a:ext>
            </a:extLst>
          </p:cNvPr>
          <p:cNvGrpSpPr/>
          <p:nvPr/>
        </p:nvGrpSpPr>
        <p:grpSpPr>
          <a:xfrm>
            <a:off x="6634839" y="3387137"/>
            <a:ext cx="1231089" cy="622781"/>
            <a:chOff x="3384399" y="2323485"/>
            <a:chExt cx="2087695" cy="581080"/>
          </a:xfrm>
        </p:grpSpPr>
        <p:sp>
          <p:nvSpPr>
            <p:cNvPr id="73" name="TextBox 72">
              <a:extLst>
                <a:ext uri="{FF2B5EF4-FFF2-40B4-BE49-F238E27FC236}">
                  <a16:creationId xmlns:a16="http://schemas.microsoft.com/office/drawing/2014/main" id="{DD7DFC10-3F56-06FD-7634-3696F9ED9754}"/>
                </a:ext>
              </a:extLst>
            </p:cNvPr>
            <p:cNvSpPr txBox="1"/>
            <p:nvPr/>
          </p:nvSpPr>
          <p:spPr>
            <a:xfrm>
              <a:off x="3384399" y="2413051"/>
              <a:ext cx="2087695" cy="226145"/>
            </a:xfrm>
            <a:prstGeom prst="rect">
              <a:avLst/>
            </a:prstGeom>
            <a:noFill/>
          </p:spPr>
          <p:txBody>
            <a:bodyPr wrap="square" rtlCol="0">
              <a:spAutoFit/>
            </a:bodyPr>
            <a:lstStyle/>
            <a:p>
              <a:r>
                <a:rPr lang="en-US" sz="975" i="1" err="1">
                  <a:latin typeface="Times New Roman" panose="02020603050405020304" pitchFamily="18" charset="0"/>
                  <a:cs typeface="Times New Roman" panose="02020603050405020304" pitchFamily="18" charset="0"/>
                </a:rPr>
                <a:t>InternetLab</a:t>
              </a:r>
              <a:r>
                <a:rPr lang="en-US" sz="975" i="1">
                  <a:latin typeface="Times New Roman" panose="02020603050405020304" pitchFamily="18" charset="0"/>
                  <a:cs typeface="Times New Roman" panose="02020603050405020304" pitchFamily="18" charset="0"/>
                </a:rPr>
                <a:t> (</a:t>
              </a:r>
              <a:r>
                <a:rPr lang="en-US" sz="975" b="1" i="1">
                  <a:latin typeface="Times New Roman" panose="02020603050405020304" pitchFamily="18" charset="0"/>
                  <a:cs typeface="Times New Roman" panose="02020603050405020304" pitchFamily="18" charset="0"/>
                </a:rPr>
                <a:t>1.9</a:t>
              </a:r>
              <a:r>
                <a:rPr lang="en-US" sz="975" i="1">
                  <a:latin typeface="Times New Roman" panose="02020603050405020304" pitchFamily="18" charset="0"/>
                  <a:cs typeface="Times New Roman" panose="02020603050405020304" pitchFamily="18" charset="0"/>
                </a:rPr>
                <a:t>)</a:t>
              </a:r>
            </a:p>
          </p:txBody>
        </p:sp>
        <p:sp>
          <p:nvSpPr>
            <p:cNvPr id="74" name="Rounded Rectangle 73">
              <a:extLst>
                <a:ext uri="{FF2B5EF4-FFF2-40B4-BE49-F238E27FC236}">
                  <a16:creationId xmlns:a16="http://schemas.microsoft.com/office/drawing/2014/main" id="{8ED9F421-743A-BCB8-021F-27D89597886B}"/>
                </a:ext>
              </a:extLst>
            </p:cNvPr>
            <p:cNvSpPr/>
            <p:nvPr/>
          </p:nvSpPr>
          <p:spPr>
            <a:xfrm>
              <a:off x="3406140" y="2323485"/>
              <a:ext cx="1665588" cy="581080"/>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pic>
        <p:nvPicPr>
          <p:cNvPr id="55" name="Picture 14">
            <a:extLst>
              <a:ext uri="{FF2B5EF4-FFF2-40B4-BE49-F238E27FC236}">
                <a16:creationId xmlns:a16="http://schemas.microsoft.com/office/drawing/2014/main" id="{2EA4587C-E96B-1215-5D19-15BC215555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3541" y="2984766"/>
            <a:ext cx="275815" cy="272784"/>
          </a:xfrm>
          <a:prstGeom prst="rect">
            <a:avLst/>
          </a:prstGeom>
          <a:noFill/>
          <a:extLst>
            <a:ext uri="{909E8E84-426E-40DD-AFC4-6F175D3DCCD1}">
              <a14:hiddenFill xmlns:a14="http://schemas.microsoft.com/office/drawing/2010/main">
                <a:solidFill>
                  <a:srgbClr val="FFFFFF"/>
                </a:solidFill>
              </a14:hiddenFill>
            </a:ext>
          </a:extLst>
        </p:spPr>
      </p:pic>
      <p:sp>
        <p:nvSpPr>
          <p:cNvPr id="56" name="Oval 55">
            <a:extLst>
              <a:ext uri="{FF2B5EF4-FFF2-40B4-BE49-F238E27FC236}">
                <a16:creationId xmlns:a16="http://schemas.microsoft.com/office/drawing/2014/main" id="{32CBAD85-E255-942E-E060-A806DC71469F}"/>
              </a:ext>
            </a:extLst>
          </p:cNvPr>
          <p:cNvSpPr/>
          <p:nvPr/>
        </p:nvSpPr>
        <p:spPr>
          <a:xfrm>
            <a:off x="6630040" y="2893526"/>
            <a:ext cx="176451" cy="163117"/>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nvGrpSpPr>
          <p:cNvPr id="58" name="Group 57">
            <a:extLst>
              <a:ext uri="{FF2B5EF4-FFF2-40B4-BE49-F238E27FC236}">
                <a16:creationId xmlns:a16="http://schemas.microsoft.com/office/drawing/2014/main" id="{2F348CBF-CA92-0DE6-5F11-307FB0F9F795}"/>
              </a:ext>
            </a:extLst>
          </p:cNvPr>
          <p:cNvGrpSpPr/>
          <p:nvPr/>
        </p:nvGrpSpPr>
        <p:grpSpPr>
          <a:xfrm>
            <a:off x="6701736" y="2948561"/>
            <a:ext cx="1511933" cy="425963"/>
            <a:chOff x="3406138" y="2287073"/>
            <a:chExt cx="2555144" cy="524261"/>
          </a:xfrm>
        </p:grpSpPr>
        <p:sp>
          <p:nvSpPr>
            <p:cNvPr id="71" name="TextBox 70">
              <a:extLst>
                <a:ext uri="{FF2B5EF4-FFF2-40B4-BE49-F238E27FC236}">
                  <a16:creationId xmlns:a16="http://schemas.microsoft.com/office/drawing/2014/main" id="{AF1A1F8C-1E99-84FC-EFCE-C0C9D131D1DE}"/>
                </a:ext>
              </a:extLst>
            </p:cNvPr>
            <p:cNvSpPr txBox="1"/>
            <p:nvPr/>
          </p:nvSpPr>
          <p:spPr>
            <a:xfrm>
              <a:off x="3873588" y="2287073"/>
              <a:ext cx="2087694" cy="298306"/>
            </a:xfrm>
            <a:prstGeom prst="rect">
              <a:avLst/>
            </a:prstGeom>
            <a:noFill/>
          </p:spPr>
          <p:txBody>
            <a:bodyPr wrap="square" rtlCol="0">
              <a:spAutoFit/>
            </a:bodyPr>
            <a:lstStyle/>
            <a:p>
              <a:r>
                <a:rPr lang="en-US" sz="975" i="1">
                  <a:latin typeface="Times New Roman" panose="02020603050405020304" pitchFamily="18" charset="0"/>
                  <a:cs typeface="Times New Roman" panose="02020603050405020304" pitchFamily="18" charset="0"/>
                </a:rPr>
                <a:t>Base dos Dados (</a:t>
              </a:r>
              <a:r>
                <a:rPr lang="en-US" sz="975" b="1" i="1">
                  <a:latin typeface="Times New Roman" panose="02020603050405020304" pitchFamily="18" charset="0"/>
                  <a:cs typeface="Times New Roman" panose="02020603050405020304" pitchFamily="18" charset="0"/>
                </a:rPr>
                <a:t>2.2</a:t>
              </a:r>
              <a:r>
                <a:rPr lang="en-US" sz="975" i="1">
                  <a:latin typeface="Times New Roman" panose="02020603050405020304" pitchFamily="18" charset="0"/>
                  <a:cs typeface="Times New Roman" panose="02020603050405020304" pitchFamily="18" charset="0"/>
                </a:rPr>
                <a:t>) </a:t>
              </a:r>
              <a:r>
                <a:rPr lang="en-US" sz="650" i="1">
                  <a:latin typeface="Times New Roman" panose="02020603050405020304" pitchFamily="18" charset="0"/>
                  <a:cs typeface="Times New Roman" panose="02020603050405020304" pitchFamily="18" charset="0"/>
                </a:rPr>
                <a:t>[BD Lab]</a:t>
              </a:r>
            </a:p>
          </p:txBody>
        </p:sp>
        <p:sp>
          <p:nvSpPr>
            <p:cNvPr id="72" name="Rounded Rectangle 71">
              <a:extLst>
                <a:ext uri="{FF2B5EF4-FFF2-40B4-BE49-F238E27FC236}">
                  <a16:creationId xmlns:a16="http://schemas.microsoft.com/office/drawing/2014/main" id="{0CBDD7E2-B1AC-3EF2-A1C9-F2E234893374}"/>
                </a:ext>
              </a:extLst>
            </p:cNvPr>
            <p:cNvSpPr/>
            <p:nvPr/>
          </p:nvSpPr>
          <p:spPr>
            <a:xfrm>
              <a:off x="3406138" y="2323484"/>
              <a:ext cx="2080522" cy="487850"/>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sp>
        <p:nvSpPr>
          <p:cNvPr id="59" name="TextBox 58">
            <a:extLst>
              <a:ext uri="{FF2B5EF4-FFF2-40B4-BE49-F238E27FC236}">
                <a16:creationId xmlns:a16="http://schemas.microsoft.com/office/drawing/2014/main" id="{FA1531A1-191A-A31F-9756-CD570BEC4B26}"/>
              </a:ext>
            </a:extLst>
          </p:cNvPr>
          <p:cNvSpPr txBox="1"/>
          <p:nvPr/>
        </p:nvSpPr>
        <p:spPr>
          <a:xfrm>
            <a:off x="6640330" y="3708951"/>
            <a:ext cx="1307176" cy="192360"/>
          </a:xfrm>
          <a:prstGeom prst="rect">
            <a:avLst/>
          </a:prstGeom>
          <a:noFill/>
        </p:spPr>
        <p:txBody>
          <a:bodyPr wrap="square" rtlCol="0">
            <a:spAutoFit/>
          </a:bodyPr>
          <a:lstStyle/>
          <a:p>
            <a:r>
              <a:rPr lang="en-US" sz="650" i="1">
                <a:latin typeface="Times New Roman" panose="02020603050405020304" pitchFamily="18" charset="0"/>
                <a:cs typeface="Times New Roman" panose="02020603050405020304" pitchFamily="18" charset="0"/>
              </a:rPr>
              <a:t>[Sectoral Impact of AI] </a:t>
            </a:r>
          </a:p>
        </p:txBody>
      </p:sp>
      <p:pic>
        <p:nvPicPr>
          <p:cNvPr id="60" name="Picture 10" descr="InternetLab, Brazil | Al Sur">
            <a:extLst>
              <a:ext uri="{FF2B5EF4-FFF2-40B4-BE49-F238E27FC236}">
                <a16:creationId xmlns:a16="http://schemas.microsoft.com/office/drawing/2014/main" id="{78B48CAB-7262-ED2E-EF34-255D153D34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93915" y="3036768"/>
            <a:ext cx="402188" cy="321750"/>
          </a:xfrm>
          <a:prstGeom prst="rect">
            <a:avLst/>
          </a:prstGeom>
          <a:noFill/>
          <a:extLst>
            <a:ext uri="{909E8E84-426E-40DD-AFC4-6F175D3DCCD1}">
              <a14:hiddenFill xmlns:a14="http://schemas.microsoft.com/office/drawing/2010/main">
                <a:solidFill>
                  <a:srgbClr val="FFFFFF"/>
                </a:solidFill>
              </a14:hiddenFill>
            </a:ext>
          </a:extLst>
        </p:spPr>
      </p:pic>
      <p:sp>
        <p:nvSpPr>
          <p:cNvPr id="66" name="Oval 65">
            <a:extLst>
              <a:ext uri="{FF2B5EF4-FFF2-40B4-BE49-F238E27FC236}">
                <a16:creationId xmlns:a16="http://schemas.microsoft.com/office/drawing/2014/main" id="{81F03279-4B9A-1686-FBAA-4168B0FC2485}"/>
              </a:ext>
            </a:extLst>
          </p:cNvPr>
          <p:cNvSpPr/>
          <p:nvPr/>
        </p:nvSpPr>
        <p:spPr>
          <a:xfrm>
            <a:off x="7910241" y="2987223"/>
            <a:ext cx="176451" cy="163117"/>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nvGrpSpPr>
          <p:cNvPr id="67" name="Group 66">
            <a:extLst>
              <a:ext uri="{FF2B5EF4-FFF2-40B4-BE49-F238E27FC236}">
                <a16:creationId xmlns:a16="http://schemas.microsoft.com/office/drawing/2014/main" id="{BDB8046C-EB53-74F0-4325-B0C5087563DF}"/>
              </a:ext>
            </a:extLst>
          </p:cNvPr>
          <p:cNvGrpSpPr/>
          <p:nvPr/>
        </p:nvGrpSpPr>
        <p:grpSpPr>
          <a:xfrm>
            <a:off x="7981939" y="3071842"/>
            <a:ext cx="2044741" cy="472128"/>
            <a:chOff x="3406140" y="2323485"/>
            <a:chExt cx="2516604" cy="581080"/>
          </a:xfrm>
        </p:grpSpPr>
        <p:sp>
          <p:nvSpPr>
            <p:cNvPr id="69" name="TextBox 68">
              <a:extLst>
                <a:ext uri="{FF2B5EF4-FFF2-40B4-BE49-F238E27FC236}">
                  <a16:creationId xmlns:a16="http://schemas.microsoft.com/office/drawing/2014/main" id="{A302A2BF-37DE-028E-0A40-968AAA8C17D1}"/>
                </a:ext>
              </a:extLst>
            </p:cNvPr>
            <p:cNvSpPr txBox="1"/>
            <p:nvPr/>
          </p:nvSpPr>
          <p:spPr>
            <a:xfrm>
              <a:off x="3835049" y="2354934"/>
              <a:ext cx="2087695" cy="298306"/>
            </a:xfrm>
            <a:prstGeom prst="rect">
              <a:avLst/>
            </a:prstGeom>
            <a:noFill/>
          </p:spPr>
          <p:txBody>
            <a:bodyPr wrap="square" rtlCol="0">
              <a:spAutoFit/>
            </a:bodyPr>
            <a:lstStyle/>
            <a:p>
              <a:r>
                <a:rPr lang="en-US" sz="975" i="1" err="1">
                  <a:latin typeface="Times New Roman" panose="02020603050405020304" pitchFamily="18" charset="0"/>
                  <a:cs typeface="Times New Roman" panose="02020603050405020304" pitchFamily="18" charset="0"/>
                </a:rPr>
                <a:t>InternetLab</a:t>
              </a:r>
              <a:r>
                <a:rPr lang="en-US" sz="975" i="1">
                  <a:latin typeface="Times New Roman" panose="02020603050405020304" pitchFamily="18" charset="0"/>
                  <a:cs typeface="Times New Roman" panose="02020603050405020304" pitchFamily="18" charset="0"/>
                </a:rPr>
                <a:t> (</a:t>
              </a:r>
              <a:r>
                <a:rPr lang="en-US" sz="975" b="1" i="1">
                  <a:latin typeface="Times New Roman" panose="02020603050405020304" pitchFamily="18" charset="0"/>
                  <a:cs typeface="Times New Roman" panose="02020603050405020304" pitchFamily="18" charset="0"/>
                </a:rPr>
                <a:t>2.0)</a:t>
              </a:r>
              <a:endParaRPr lang="en-US" sz="975" i="1">
                <a:latin typeface="Times New Roman" panose="02020603050405020304" pitchFamily="18" charset="0"/>
                <a:cs typeface="Times New Roman" panose="02020603050405020304" pitchFamily="18" charset="0"/>
              </a:endParaRPr>
            </a:p>
          </p:txBody>
        </p:sp>
        <p:sp>
          <p:nvSpPr>
            <p:cNvPr id="70" name="Rounded Rectangle 69">
              <a:extLst>
                <a:ext uri="{FF2B5EF4-FFF2-40B4-BE49-F238E27FC236}">
                  <a16:creationId xmlns:a16="http://schemas.microsoft.com/office/drawing/2014/main" id="{8E4AB43F-0DA0-5356-16F0-3821ADB9FFF4}"/>
                </a:ext>
              </a:extLst>
            </p:cNvPr>
            <p:cNvSpPr/>
            <p:nvPr/>
          </p:nvSpPr>
          <p:spPr>
            <a:xfrm>
              <a:off x="3406140" y="2323485"/>
              <a:ext cx="1665588" cy="581080"/>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sp>
        <p:nvSpPr>
          <p:cNvPr id="68" name="Oval 67">
            <a:extLst>
              <a:ext uri="{FF2B5EF4-FFF2-40B4-BE49-F238E27FC236}">
                <a16:creationId xmlns:a16="http://schemas.microsoft.com/office/drawing/2014/main" id="{9D6AFBF5-1260-B80D-AC22-365264462113}"/>
              </a:ext>
            </a:extLst>
          </p:cNvPr>
          <p:cNvSpPr/>
          <p:nvPr/>
        </p:nvSpPr>
        <p:spPr>
          <a:xfrm>
            <a:off x="6588351" y="3322855"/>
            <a:ext cx="176451" cy="163117"/>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62" name="TextBox 61">
            <a:extLst>
              <a:ext uri="{FF2B5EF4-FFF2-40B4-BE49-F238E27FC236}">
                <a16:creationId xmlns:a16="http://schemas.microsoft.com/office/drawing/2014/main" id="{87A2B7F3-947E-9902-2131-9DE5FED0C25C}"/>
              </a:ext>
            </a:extLst>
          </p:cNvPr>
          <p:cNvSpPr txBox="1"/>
          <p:nvPr/>
        </p:nvSpPr>
        <p:spPr>
          <a:xfrm>
            <a:off x="8000940" y="3245142"/>
            <a:ext cx="1307176" cy="292388"/>
          </a:xfrm>
          <a:prstGeom prst="rect">
            <a:avLst/>
          </a:prstGeom>
          <a:noFill/>
        </p:spPr>
        <p:txBody>
          <a:bodyPr wrap="square" rtlCol="0">
            <a:spAutoFit/>
          </a:bodyPr>
          <a:lstStyle/>
          <a:p>
            <a:r>
              <a:rPr lang="en-US" sz="650" i="1">
                <a:latin typeface="Times New Roman" panose="02020603050405020304" pitchFamily="18" charset="0"/>
                <a:cs typeface="Times New Roman" panose="02020603050405020304" pitchFamily="18" charset="0"/>
              </a:rPr>
              <a:t>[Education &amp; Surveillance Technology] </a:t>
            </a:r>
          </a:p>
        </p:txBody>
      </p:sp>
      <p:grpSp>
        <p:nvGrpSpPr>
          <p:cNvPr id="75" name="Group 74">
            <a:extLst>
              <a:ext uri="{FF2B5EF4-FFF2-40B4-BE49-F238E27FC236}">
                <a16:creationId xmlns:a16="http://schemas.microsoft.com/office/drawing/2014/main" id="{387CFF7B-BA8A-BD8A-D3C5-E2B41F4DC783}"/>
              </a:ext>
            </a:extLst>
          </p:cNvPr>
          <p:cNvGrpSpPr/>
          <p:nvPr/>
        </p:nvGrpSpPr>
        <p:grpSpPr>
          <a:xfrm>
            <a:off x="3554132" y="3104752"/>
            <a:ext cx="2881799" cy="1419420"/>
            <a:chOff x="3721290" y="2347440"/>
            <a:chExt cx="2881799" cy="1419420"/>
          </a:xfrm>
        </p:grpSpPr>
        <p:grpSp>
          <p:nvGrpSpPr>
            <p:cNvPr id="76" name="Group 75">
              <a:extLst>
                <a:ext uri="{FF2B5EF4-FFF2-40B4-BE49-F238E27FC236}">
                  <a16:creationId xmlns:a16="http://schemas.microsoft.com/office/drawing/2014/main" id="{A2B33953-1568-198B-4259-FD13F073ACC9}"/>
                </a:ext>
              </a:extLst>
            </p:cNvPr>
            <p:cNvGrpSpPr/>
            <p:nvPr/>
          </p:nvGrpSpPr>
          <p:grpSpPr>
            <a:xfrm>
              <a:off x="4391756" y="2724401"/>
              <a:ext cx="2075734" cy="466477"/>
              <a:chOff x="6148322" y="2494770"/>
              <a:chExt cx="2554744" cy="574125"/>
            </a:xfrm>
          </p:grpSpPr>
          <p:sp>
            <p:nvSpPr>
              <p:cNvPr id="91" name="Oval 90">
                <a:extLst>
                  <a:ext uri="{FF2B5EF4-FFF2-40B4-BE49-F238E27FC236}">
                    <a16:creationId xmlns:a16="http://schemas.microsoft.com/office/drawing/2014/main" id="{7F7F1BC1-060C-AEC5-1B4C-9D666B100685}"/>
                  </a:ext>
                </a:extLst>
              </p:cNvPr>
              <p:cNvSpPr/>
              <p:nvPr/>
            </p:nvSpPr>
            <p:spPr>
              <a:xfrm>
                <a:off x="6148322" y="2494770"/>
                <a:ext cx="217170" cy="200759"/>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nvGrpSpPr>
              <p:cNvPr id="92" name="Group 91">
                <a:extLst>
                  <a:ext uri="{FF2B5EF4-FFF2-40B4-BE49-F238E27FC236}">
                    <a16:creationId xmlns:a16="http://schemas.microsoft.com/office/drawing/2014/main" id="{326FA78A-5FD2-E485-17EF-F61EAC0D40F1}"/>
                  </a:ext>
                </a:extLst>
              </p:cNvPr>
              <p:cNvGrpSpPr/>
              <p:nvPr/>
            </p:nvGrpSpPr>
            <p:grpSpPr>
              <a:xfrm>
                <a:off x="6236566" y="2598916"/>
                <a:ext cx="2466500" cy="469979"/>
                <a:chOff x="3406140" y="2323484"/>
                <a:chExt cx="2466500" cy="469979"/>
              </a:xfrm>
            </p:grpSpPr>
            <p:pic>
              <p:nvPicPr>
                <p:cNvPr id="93" name="Picture 2">
                  <a:extLst>
                    <a:ext uri="{FF2B5EF4-FFF2-40B4-BE49-F238E27FC236}">
                      <a16:creationId xmlns:a16="http://schemas.microsoft.com/office/drawing/2014/main" id="{FCE462BD-2489-89A5-C8D6-6CC60D0CFC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0438" y="2391585"/>
                  <a:ext cx="380999" cy="244230"/>
                </a:xfrm>
                <a:prstGeom prst="rect">
                  <a:avLst/>
                </a:prstGeom>
                <a:noFill/>
                <a:extLst>
                  <a:ext uri="{909E8E84-426E-40DD-AFC4-6F175D3DCCD1}">
                    <a14:hiddenFill xmlns:a14="http://schemas.microsoft.com/office/drawing/2010/main">
                      <a:solidFill>
                        <a:srgbClr val="FFFFFF"/>
                      </a:solidFill>
                    </a14:hiddenFill>
                  </a:ext>
                </a:extLst>
              </p:spPr>
            </p:pic>
            <p:sp>
              <p:nvSpPr>
                <p:cNvPr id="94" name="TextBox 93">
                  <a:extLst>
                    <a:ext uri="{FF2B5EF4-FFF2-40B4-BE49-F238E27FC236}">
                      <a16:creationId xmlns:a16="http://schemas.microsoft.com/office/drawing/2014/main" id="{6DF9BDED-2324-5A28-FF9C-1257C50C80F0}"/>
                    </a:ext>
                  </a:extLst>
                </p:cNvPr>
                <p:cNvSpPr txBox="1"/>
                <p:nvPr/>
              </p:nvSpPr>
              <p:spPr>
                <a:xfrm>
                  <a:off x="3784945" y="2354933"/>
                  <a:ext cx="2087695" cy="298306"/>
                </a:xfrm>
                <a:prstGeom prst="rect">
                  <a:avLst/>
                </a:prstGeom>
                <a:noFill/>
              </p:spPr>
              <p:txBody>
                <a:bodyPr wrap="square" rtlCol="0">
                  <a:spAutoFit/>
                </a:bodyPr>
                <a:lstStyle/>
                <a:p>
                  <a:r>
                    <a:rPr lang="en-US" sz="975" i="1">
                      <a:latin typeface="Times New Roman" panose="02020603050405020304" pitchFamily="18" charset="0"/>
                      <a:cs typeface="Times New Roman" panose="02020603050405020304" pitchFamily="18" charset="0"/>
                    </a:rPr>
                    <a:t>Instituto Decodifica (</a:t>
                  </a:r>
                  <a:r>
                    <a:rPr lang="en-US" sz="975" b="1" i="1">
                      <a:latin typeface="Times New Roman" panose="02020603050405020304" pitchFamily="18" charset="0"/>
                      <a:cs typeface="Times New Roman" panose="02020603050405020304" pitchFamily="18" charset="0"/>
                    </a:rPr>
                    <a:t>1.8</a:t>
                  </a:r>
                  <a:r>
                    <a:rPr lang="en-US" sz="975" i="1">
                      <a:latin typeface="Times New Roman" panose="02020603050405020304" pitchFamily="18" charset="0"/>
                      <a:cs typeface="Times New Roman" panose="02020603050405020304" pitchFamily="18" charset="0"/>
                    </a:rPr>
                    <a:t>)</a:t>
                  </a:r>
                </a:p>
              </p:txBody>
            </p:sp>
            <p:sp>
              <p:nvSpPr>
                <p:cNvPr id="95" name="Rounded Rectangle 94">
                  <a:extLst>
                    <a:ext uri="{FF2B5EF4-FFF2-40B4-BE49-F238E27FC236}">
                      <a16:creationId xmlns:a16="http://schemas.microsoft.com/office/drawing/2014/main" id="{780397F5-05B6-ED36-252D-EBD2D6001590}"/>
                    </a:ext>
                  </a:extLst>
                </p:cNvPr>
                <p:cNvSpPr/>
                <p:nvPr/>
              </p:nvSpPr>
              <p:spPr>
                <a:xfrm>
                  <a:off x="3406140" y="2323484"/>
                  <a:ext cx="2096642" cy="469979"/>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grpSp>
        <p:sp>
          <p:nvSpPr>
            <p:cNvPr id="77" name="Oval 76">
              <a:extLst>
                <a:ext uri="{FF2B5EF4-FFF2-40B4-BE49-F238E27FC236}">
                  <a16:creationId xmlns:a16="http://schemas.microsoft.com/office/drawing/2014/main" id="{EB434807-5DA9-05A9-F559-95A836E178E7}"/>
                </a:ext>
              </a:extLst>
            </p:cNvPr>
            <p:cNvSpPr/>
            <p:nvPr/>
          </p:nvSpPr>
          <p:spPr>
            <a:xfrm>
              <a:off x="4292085" y="3176126"/>
              <a:ext cx="176451" cy="163117"/>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nvGrpSpPr>
            <p:cNvPr id="78" name="Group 77">
              <a:extLst>
                <a:ext uri="{FF2B5EF4-FFF2-40B4-BE49-F238E27FC236}">
                  <a16:creationId xmlns:a16="http://schemas.microsoft.com/office/drawing/2014/main" id="{0F477B58-7ED9-889B-CBDA-854AF8C77472}"/>
                </a:ext>
              </a:extLst>
            </p:cNvPr>
            <p:cNvGrpSpPr/>
            <p:nvPr/>
          </p:nvGrpSpPr>
          <p:grpSpPr>
            <a:xfrm>
              <a:off x="4363778" y="3252999"/>
              <a:ext cx="1731527" cy="513861"/>
              <a:chOff x="3406140" y="2323485"/>
              <a:chExt cx="2257913" cy="358712"/>
            </a:xfrm>
          </p:grpSpPr>
          <p:sp>
            <p:nvSpPr>
              <p:cNvPr id="89" name="TextBox 88">
                <a:extLst>
                  <a:ext uri="{FF2B5EF4-FFF2-40B4-BE49-F238E27FC236}">
                    <a16:creationId xmlns:a16="http://schemas.microsoft.com/office/drawing/2014/main" id="{6ED378E8-CFA3-C912-E4B8-4BD9FEB2BE99}"/>
                  </a:ext>
                </a:extLst>
              </p:cNvPr>
              <p:cNvSpPr txBox="1"/>
              <p:nvPr/>
            </p:nvSpPr>
            <p:spPr>
              <a:xfrm>
                <a:off x="4289075" y="2354933"/>
                <a:ext cx="1374978" cy="273933"/>
              </a:xfrm>
              <a:prstGeom prst="rect">
                <a:avLst/>
              </a:prstGeom>
              <a:noFill/>
            </p:spPr>
            <p:txBody>
              <a:bodyPr wrap="square" rtlCol="0">
                <a:spAutoFit/>
              </a:bodyPr>
              <a:lstStyle/>
              <a:p>
                <a:r>
                  <a:rPr lang="en-US" sz="975" i="1">
                    <a:latin typeface="Times New Roman" panose="02020603050405020304" pitchFamily="18" charset="0"/>
                    <a:cs typeface="Times New Roman" panose="02020603050405020304" pitchFamily="18" charset="0"/>
                  </a:rPr>
                  <a:t>FGV </a:t>
                </a:r>
                <a:r>
                  <a:rPr lang="en-US" sz="975" i="1" err="1">
                    <a:latin typeface="Times New Roman" panose="02020603050405020304" pitchFamily="18" charset="0"/>
                    <a:cs typeface="Times New Roman" panose="02020603050405020304" pitchFamily="18" charset="0"/>
                  </a:rPr>
                  <a:t>Direito</a:t>
                </a:r>
                <a:r>
                  <a:rPr lang="en-US" sz="975" i="1">
                    <a:latin typeface="Times New Roman" panose="02020603050405020304" pitchFamily="18" charset="0"/>
                    <a:cs typeface="Times New Roman" panose="02020603050405020304" pitchFamily="18" charset="0"/>
                  </a:rPr>
                  <a:t> Rio </a:t>
                </a:r>
              </a:p>
              <a:p>
                <a:r>
                  <a:rPr lang="en-US" sz="975" i="1">
                    <a:latin typeface="Times New Roman" panose="02020603050405020304" pitchFamily="18" charset="0"/>
                    <a:cs typeface="Times New Roman" panose="02020603050405020304" pitchFamily="18" charset="0"/>
                  </a:rPr>
                  <a:t>(</a:t>
                </a:r>
                <a:r>
                  <a:rPr lang="en-US" sz="975" b="1" i="1">
                    <a:latin typeface="Times New Roman" panose="02020603050405020304" pitchFamily="18" charset="0"/>
                    <a:cs typeface="Times New Roman" panose="02020603050405020304" pitchFamily="18" charset="0"/>
                  </a:rPr>
                  <a:t>1.5</a:t>
                </a:r>
                <a:r>
                  <a:rPr lang="en-US" sz="975" i="1">
                    <a:latin typeface="Times New Roman" panose="02020603050405020304" pitchFamily="18" charset="0"/>
                    <a:cs typeface="Times New Roman" panose="02020603050405020304" pitchFamily="18" charset="0"/>
                  </a:rPr>
                  <a:t>)</a:t>
                </a:r>
              </a:p>
            </p:txBody>
          </p:sp>
          <p:sp>
            <p:nvSpPr>
              <p:cNvPr id="90" name="Rounded Rectangle 89">
                <a:extLst>
                  <a:ext uri="{FF2B5EF4-FFF2-40B4-BE49-F238E27FC236}">
                    <a16:creationId xmlns:a16="http://schemas.microsoft.com/office/drawing/2014/main" id="{326BD73F-28DC-8449-077B-A3064208C0E6}"/>
                  </a:ext>
                </a:extLst>
              </p:cNvPr>
              <p:cNvSpPr/>
              <p:nvPr/>
            </p:nvSpPr>
            <p:spPr>
              <a:xfrm>
                <a:off x="3406140" y="2323485"/>
                <a:ext cx="2096642" cy="358712"/>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pic>
          <p:nvPicPr>
            <p:cNvPr id="79" name="Picture 6" descr="Classificados JOTA: FGV Direito Rio busca novo diretor">
              <a:extLst>
                <a:ext uri="{FF2B5EF4-FFF2-40B4-BE49-F238E27FC236}">
                  <a16:creationId xmlns:a16="http://schemas.microsoft.com/office/drawing/2014/main" id="{BCE5F420-F436-E51C-296D-FE2BBC98F31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5922" y="3333754"/>
              <a:ext cx="708538" cy="215186"/>
            </a:xfrm>
            <a:prstGeom prst="rect">
              <a:avLst/>
            </a:prstGeom>
            <a:noFill/>
            <a:extLst>
              <a:ext uri="{909E8E84-426E-40DD-AFC4-6F175D3DCCD1}">
                <a14:hiddenFill xmlns:a14="http://schemas.microsoft.com/office/drawing/2010/main">
                  <a:solidFill>
                    <a:srgbClr val="FFFFFF"/>
                  </a:solidFill>
                </a14:hiddenFill>
              </a:ext>
            </a:extLst>
          </p:spPr>
        </p:pic>
        <p:sp>
          <p:nvSpPr>
            <p:cNvPr id="80" name="AutoShape 2" descr="Contact - Fundação Lemann">
              <a:extLst>
                <a:ext uri="{FF2B5EF4-FFF2-40B4-BE49-F238E27FC236}">
                  <a16:creationId xmlns:a16="http://schemas.microsoft.com/office/drawing/2014/main" id="{EC502AAC-A1F9-3DAB-022A-AB1F08D66377}"/>
                </a:ext>
              </a:extLst>
            </p:cNvPr>
            <p:cNvSpPr>
              <a:spLocks noChangeAspect="1" noChangeArrowheads="1"/>
            </p:cNvSpPr>
            <p:nvPr/>
          </p:nvSpPr>
          <p:spPr bwMode="auto">
            <a:xfrm>
              <a:off x="4829175" y="3305175"/>
              <a:ext cx="247650" cy="247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4295" tIns="37148" rIns="74295" bIns="37148" numCol="1" anchor="t" anchorCtr="0" compatLnSpc="1">
              <a:prstTxWarp prst="textNoShape">
                <a:avLst/>
              </a:prstTxWarp>
            </a:bodyPr>
            <a:lstStyle/>
            <a:p>
              <a:endParaRPr lang="en-US" sz="1463"/>
            </a:p>
          </p:txBody>
        </p:sp>
        <p:grpSp>
          <p:nvGrpSpPr>
            <p:cNvPr id="81" name="Group 80">
              <a:extLst>
                <a:ext uri="{FF2B5EF4-FFF2-40B4-BE49-F238E27FC236}">
                  <a16:creationId xmlns:a16="http://schemas.microsoft.com/office/drawing/2014/main" id="{2C1D6F1C-31E8-1D25-AADD-4AD668C70B71}"/>
                </a:ext>
              </a:extLst>
            </p:cNvPr>
            <p:cNvGrpSpPr/>
            <p:nvPr/>
          </p:nvGrpSpPr>
          <p:grpSpPr>
            <a:xfrm>
              <a:off x="3721290" y="2347440"/>
              <a:ext cx="2266257" cy="412312"/>
              <a:chOff x="5282567" y="2053255"/>
              <a:chExt cx="1976219" cy="507463"/>
            </a:xfrm>
          </p:grpSpPr>
          <p:pic>
            <p:nvPicPr>
              <p:cNvPr id="84" name="Picture 12">
                <a:extLst>
                  <a:ext uri="{FF2B5EF4-FFF2-40B4-BE49-F238E27FC236}">
                    <a16:creationId xmlns:a16="http://schemas.microsoft.com/office/drawing/2014/main" id="{39F37009-F294-E359-EF7A-15DE730EDB8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62385" y="2222997"/>
                <a:ext cx="443448" cy="248400"/>
              </a:xfrm>
              <a:prstGeom prst="rect">
                <a:avLst/>
              </a:prstGeom>
              <a:noFill/>
              <a:extLst>
                <a:ext uri="{909E8E84-426E-40DD-AFC4-6F175D3DCCD1}">
                  <a14:hiddenFill xmlns:a14="http://schemas.microsoft.com/office/drawing/2010/main">
                    <a:solidFill>
                      <a:srgbClr val="FFFFFF"/>
                    </a:solidFill>
                  </a14:hiddenFill>
                </a:ext>
              </a:extLst>
            </p:spPr>
          </p:pic>
          <p:sp>
            <p:nvSpPr>
              <p:cNvPr id="85" name="Oval 84">
                <a:extLst>
                  <a:ext uri="{FF2B5EF4-FFF2-40B4-BE49-F238E27FC236}">
                    <a16:creationId xmlns:a16="http://schemas.microsoft.com/office/drawing/2014/main" id="{B6371D5C-FBBF-59E2-8053-C7F47F3C2E7A}"/>
                  </a:ext>
                </a:extLst>
              </p:cNvPr>
              <p:cNvSpPr/>
              <p:nvPr/>
            </p:nvSpPr>
            <p:spPr>
              <a:xfrm>
                <a:off x="5282567" y="2053255"/>
                <a:ext cx="196933" cy="200759"/>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nvGrpSpPr>
              <p:cNvPr id="86" name="Group 85">
                <a:extLst>
                  <a:ext uri="{FF2B5EF4-FFF2-40B4-BE49-F238E27FC236}">
                    <a16:creationId xmlns:a16="http://schemas.microsoft.com/office/drawing/2014/main" id="{F9E3D17A-93DC-E79F-D85E-08CD72F5BF3E}"/>
                  </a:ext>
                </a:extLst>
              </p:cNvPr>
              <p:cNvGrpSpPr/>
              <p:nvPr/>
            </p:nvGrpSpPr>
            <p:grpSpPr>
              <a:xfrm>
                <a:off x="5362588" y="2202006"/>
                <a:ext cx="1896198" cy="358712"/>
                <a:chOff x="3406140" y="2323485"/>
                <a:chExt cx="2786088" cy="358712"/>
              </a:xfrm>
            </p:grpSpPr>
            <p:sp>
              <p:nvSpPr>
                <p:cNvPr id="87" name="TextBox 86">
                  <a:extLst>
                    <a:ext uri="{FF2B5EF4-FFF2-40B4-BE49-F238E27FC236}">
                      <a16:creationId xmlns:a16="http://schemas.microsoft.com/office/drawing/2014/main" id="{1E18E434-7458-02E6-506B-FD782FDDCC94}"/>
                    </a:ext>
                  </a:extLst>
                </p:cNvPr>
                <p:cNvSpPr txBox="1"/>
                <p:nvPr/>
              </p:nvSpPr>
              <p:spPr>
                <a:xfrm>
                  <a:off x="4104533" y="2354934"/>
                  <a:ext cx="2087695" cy="298306"/>
                </a:xfrm>
                <a:prstGeom prst="rect">
                  <a:avLst/>
                </a:prstGeom>
                <a:noFill/>
              </p:spPr>
              <p:txBody>
                <a:bodyPr wrap="square" rtlCol="0">
                  <a:spAutoFit/>
                </a:bodyPr>
                <a:lstStyle/>
                <a:p>
                  <a:r>
                    <a:rPr lang="en-US" sz="975" i="1" err="1">
                      <a:latin typeface="Times New Roman" panose="02020603050405020304" pitchFamily="18" charset="0"/>
                      <a:cs typeface="Times New Roman" panose="02020603050405020304" pitchFamily="18" charset="0"/>
                    </a:rPr>
                    <a:t>NIC.br</a:t>
                  </a:r>
                  <a:r>
                    <a:rPr lang="en-US" sz="975" i="1">
                      <a:latin typeface="Times New Roman" panose="02020603050405020304" pitchFamily="18" charset="0"/>
                      <a:cs typeface="Times New Roman" panose="02020603050405020304" pitchFamily="18" charset="0"/>
                    </a:rPr>
                    <a:t> (</a:t>
                  </a:r>
                  <a:r>
                    <a:rPr lang="en-US" sz="975" b="1" i="1">
                      <a:latin typeface="Times New Roman" panose="02020603050405020304" pitchFamily="18" charset="0"/>
                      <a:cs typeface="Times New Roman" panose="02020603050405020304" pitchFamily="18" charset="0"/>
                    </a:rPr>
                    <a:t>2.1</a:t>
                  </a:r>
                  <a:r>
                    <a:rPr lang="en-US" sz="975" i="1">
                      <a:latin typeface="Times New Roman" panose="02020603050405020304" pitchFamily="18" charset="0"/>
                      <a:cs typeface="Times New Roman" panose="02020603050405020304" pitchFamily="18" charset="0"/>
                    </a:rPr>
                    <a:t>) </a:t>
                  </a:r>
                  <a:r>
                    <a:rPr lang="en-US" sz="650" i="1">
                      <a:latin typeface="Times New Roman" panose="02020603050405020304" pitchFamily="18" charset="0"/>
                      <a:cs typeface="Times New Roman" panose="02020603050405020304" pitchFamily="18" charset="0"/>
                    </a:rPr>
                    <a:t>[OBIA]</a:t>
                  </a:r>
                </a:p>
              </p:txBody>
            </p:sp>
            <p:sp>
              <p:nvSpPr>
                <p:cNvPr id="88" name="Rounded Rectangle 87">
                  <a:extLst>
                    <a:ext uri="{FF2B5EF4-FFF2-40B4-BE49-F238E27FC236}">
                      <a16:creationId xmlns:a16="http://schemas.microsoft.com/office/drawing/2014/main" id="{4D114748-1A4D-4F2F-E9EB-217D533DC616}"/>
                    </a:ext>
                  </a:extLst>
                </p:cNvPr>
                <p:cNvSpPr/>
                <p:nvPr/>
              </p:nvSpPr>
              <p:spPr>
                <a:xfrm>
                  <a:off x="3406140" y="2323485"/>
                  <a:ext cx="2096642" cy="358712"/>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grpSp>
        <p:sp>
          <p:nvSpPr>
            <p:cNvPr id="82" name="TextBox 81">
              <a:extLst>
                <a:ext uri="{FF2B5EF4-FFF2-40B4-BE49-F238E27FC236}">
                  <a16:creationId xmlns:a16="http://schemas.microsoft.com/office/drawing/2014/main" id="{5A9BF60D-2764-376B-677D-B19905968F99}"/>
                </a:ext>
              </a:extLst>
            </p:cNvPr>
            <p:cNvSpPr txBox="1"/>
            <p:nvPr/>
          </p:nvSpPr>
          <p:spPr>
            <a:xfrm>
              <a:off x="4783877" y="2936740"/>
              <a:ext cx="1307176" cy="192360"/>
            </a:xfrm>
            <a:prstGeom prst="rect">
              <a:avLst/>
            </a:prstGeom>
            <a:noFill/>
          </p:spPr>
          <p:txBody>
            <a:bodyPr wrap="square" rtlCol="0">
              <a:spAutoFit/>
            </a:bodyPr>
            <a:lstStyle/>
            <a:p>
              <a:r>
                <a:rPr lang="en-US" sz="650" i="1">
                  <a:latin typeface="Times New Roman" panose="02020603050405020304" pitchFamily="18" charset="0"/>
                  <a:cs typeface="Times New Roman" panose="02020603050405020304" pitchFamily="18" charset="0"/>
                </a:rPr>
                <a:t>[Luminate Project] </a:t>
              </a:r>
            </a:p>
          </p:txBody>
        </p:sp>
        <p:sp>
          <p:nvSpPr>
            <p:cNvPr id="83" name="TextBox 82">
              <a:extLst>
                <a:ext uri="{FF2B5EF4-FFF2-40B4-BE49-F238E27FC236}">
                  <a16:creationId xmlns:a16="http://schemas.microsoft.com/office/drawing/2014/main" id="{06833821-7E87-8F41-41EF-E3563A12C0DF}"/>
                </a:ext>
              </a:extLst>
            </p:cNvPr>
            <p:cNvSpPr txBox="1"/>
            <p:nvPr/>
          </p:nvSpPr>
          <p:spPr>
            <a:xfrm>
              <a:off x="5295913" y="3488879"/>
              <a:ext cx="1307176" cy="192360"/>
            </a:xfrm>
            <a:prstGeom prst="rect">
              <a:avLst/>
            </a:prstGeom>
            <a:noFill/>
          </p:spPr>
          <p:txBody>
            <a:bodyPr wrap="square" rtlCol="0">
              <a:spAutoFit/>
            </a:bodyPr>
            <a:lstStyle/>
            <a:p>
              <a:r>
                <a:rPr lang="en-US" sz="650" i="1">
                  <a:latin typeface="Times New Roman" panose="02020603050405020304" pitchFamily="18" charset="0"/>
                  <a:cs typeface="Times New Roman" panose="02020603050405020304" pitchFamily="18" charset="0"/>
                </a:rPr>
                <a:t>[AI Hub] </a:t>
              </a:r>
            </a:p>
          </p:txBody>
        </p:sp>
      </p:grpSp>
      <p:grpSp>
        <p:nvGrpSpPr>
          <p:cNvPr id="96" name="Group 95">
            <a:extLst>
              <a:ext uri="{FF2B5EF4-FFF2-40B4-BE49-F238E27FC236}">
                <a16:creationId xmlns:a16="http://schemas.microsoft.com/office/drawing/2014/main" id="{65B0EC58-F8A0-B0E8-AE0D-65AD2961B22E}"/>
              </a:ext>
            </a:extLst>
          </p:cNvPr>
          <p:cNvGrpSpPr/>
          <p:nvPr/>
        </p:nvGrpSpPr>
        <p:grpSpPr>
          <a:xfrm>
            <a:off x="3799117" y="2349091"/>
            <a:ext cx="2409198" cy="499124"/>
            <a:chOff x="4284961" y="1455412"/>
            <a:chExt cx="2409198" cy="499124"/>
          </a:xfrm>
        </p:grpSpPr>
        <p:sp>
          <p:nvSpPr>
            <p:cNvPr id="97" name="Oval 96">
              <a:extLst>
                <a:ext uri="{FF2B5EF4-FFF2-40B4-BE49-F238E27FC236}">
                  <a16:creationId xmlns:a16="http://schemas.microsoft.com/office/drawing/2014/main" id="{D1AB2ED1-8D66-0A0E-8BEB-3994DE39ED9C}"/>
                </a:ext>
              </a:extLst>
            </p:cNvPr>
            <p:cNvSpPr/>
            <p:nvPr/>
          </p:nvSpPr>
          <p:spPr>
            <a:xfrm>
              <a:off x="4284961" y="1455412"/>
              <a:ext cx="169199" cy="163117"/>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nvGrpSpPr>
            <p:cNvPr id="98" name="Group 97">
              <a:extLst>
                <a:ext uri="{FF2B5EF4-FFF2-40B4-BE49-F238E27FC236}">
                  <a16:creationId xmlns:a16="http://schemas.microsoft.com/office/drawing/2014/main" id="{CE5C5890-E25F-9BD8-429A-571588195AEA}"/>
                </a:ext>
              </a:extLst>
            </p:cNvPr>
            <p:cNvGrpSpPr/>
            <p:nvPr/>
          </p:nvGrpSpPr>
          <p:grpSpPr>
            <a:xfrm>
              <a:off x="4353711" y="1540031"/>
              <a:ext cx="1969130" cy="414505"/>
              <a:chOff x="3406139" y="2323485"/>
              <a:chExt cx="2717122" cy="510160"/>
            </a:xfrm>
          </p:grpSpPr>
          <p:sp>
            <p:nvSpPr>
              <p:cNvPr id="101" name="TextBox 100">
                <a:extLst>
                  <a:ext uri="{FF2B5EF4-FFF2-40B4-BE49-F238E27FC236}">
                    <a16:creationId xmlns:a16="http://schemas.microsoft.com/office/drawing/2014/main" id="{63839D29-04C5-BBFD-DC02-A70DA02657DE}"/>
                  </a:ext>
                </a:extLst>
              </p:cNvPr>
              <p:cNvSpPr txBox="1"/>
              <p:nvPr/>
            </p:nvSpPr>
            <p:spPr>
              <a:xfrm>
                <a:off x="4472545" y="2345494"/>
                <a:ext cx="1650716" cy="482972"/>
              </a:xfrm>
              <a:prstGeom prst="rect">
                <a:avLst/>
              </a:prstGeom>
              <a:noFill/>
            </p:spPr>
            <p:txBody>
              <a:bodyPr wrap="square" rtlCol="0">
                <a:spAutoFit/>
              </a:bodyPr>
              <a:lstStyle/>
              <a:p>
                <a:r>
                  <a:rPr lang="en-US" sz="975" i="1">
                    <a:latin typeface="Times New Roman" panose="02020603050405020304" pitchFamily="18" charset="0"/>
                    <a:cs typeface="Times New Roman" panose="02020603050405020304" pitchFamily="18" charset="0"/>
                  </a:rPr>
                  <a:t>Lemann Foundation </a:t>
                </a:r>
              </a:p>
              <a:p>
                <a:r>
                  <a:rPr lang="en-US" sz="975" i="1">
                    <a:latin typeface="Times New Roman" panose="02020603050405020304" pitchFamily="18" charset="0"/>
                    <a:cs typeface="Times New Roman" panose="02020603050405020304" pitchFamily="18" charset="0"/>
                  </a:rPr>
                  <a:t>(</a:t>
                </a:r>
                <a:r>
                  <a:rPr lang="en-US" sz="975" b="1" i="1">
                    <a:latin typeface="Times New Roman" panose="02020603050405020304" pitchFamily="18" charset="0"/>
                    <a:cs typeface="Times New Roman" panose="02020603050405020304" pitchFamily="18" charset="0"/>
                  </a:rPr>
                  <a:t>2.7</a:t>
                </a:r>
                <a:r>
                  <a:rPr lang="en-US" sz="975" i="1">
                    <a:latin typeface="Times New Roman" panose="02020603050405020304" pitchFamily="18" charset="0"/>
                    <a:cs typeface="Times New Roman" panose="02020603050405020304" pitchFamily="18" charset="0"/>
                  </a:rPr>
                  <a:t>)</a:t>
                </a:r>
              </a:p>
            </p:txBody>
          </p:sp>
          <p:sp>
            <p:nvSpPr>
              <p:cNvPr id="102" name="Rounded Rectangle 101">
                <a:extLst>
                  <a:ext uri="{FF2B5EF4-FFF2-40B4-BE49-F238E27FC236}">
                    <a16:creationId xmlns:a16="http://schemas.microsoft.com/office/drawing/2014/main" id="{3F839F1B-2078-52D6-A308-9F8E542CBCE6}"/>
                  </a:ext>
                </a:extLst>
              </p:cNvPr>
              <p:cNvSpPr/>
              <p:nvPr/>
            </p:nvSpPr>
            <p:spPr>
              <a:xfrm>
                <a:off x="3406139" y="2323485"/>
                <a:ext cx="2639099" cy="510160"/>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grpSp>
        <p:pic>
          <p:nvPicPr>
            <p:cNvPr id="99" name="Picture 8" descr="Our Founder - Fundação Lemann">
              <a:extLst>
                <a:ext uri="{FF2B5EF4-FFF2-40B4-BE49-F238E27FC236}">
                  <a16:creationId xmlns:a16="http://schemas.microsoft.com/office/drawing/2014/main" id="{9493ED3A-18A4-2259-71FA-04349A3543B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91662" y="1579150"/>
              <a:ext cx="806176" cy="239166"/>
            </a:xfrm>
            <a:prstGeom prst="rect">
              <a:avLst/>
            </a:prstGeom>
            <a:noFill/>
            <a:extLst>
              <a:ext uri="{909E8E84-426E-40DD-AFC4-6F175D3DCCD1}">
                <a14:hiddenFill xmlns:a14="http://schemas.microsoft.com/office/drawing/2010/main">
                  <a:solidFill>
                    <a:srgbClr val="FFFFFF"/>
                  </a:solidFill>
                </a14:hiddenFill>
              </a:ext>
            </a:extLst>
          </p:spPr>
        </p:pic>
        <p:sp>
          <p:nvSpPr>
            <p:cNvPr id="100" name="TextBox 99">
              <a:extLst>
                <a:ext uri="{FF2B5EF4-FFF2-40B4-BE49-F238E27FC236}">
                  <a16:creationId xmlns:a16="http://schemas.microsoft.com/office/drawing/2014/main" id="{DEFA06A7-F128-277A-E2C6-D0967939F145}"/>
                </a:ext>
              </a:extLst>
            </p:cNvPr>
            <p:cNvSpPr txBox="1"/>
            <p:nvPr/>
          </p:nvSpPr>
          <p:spPr>
            <a:xfrm>
              <a:off x="5386983" y="1742424"/>
              <a:ext cx="1307176" cy="192360"/>
            </a:xfrm>
            <a:prstGeom prst="rect">
              <a:avLst/>
            </a:prstGeom>
            <a:noFill/>
          </p:spPr>
          <p:txBody>
            <a:bodyPr wrap="square" rtlCol="0">
              <a:spAutoFit/>
            </a:bodyPr>
            <a:lstStyle/>
            <a:p>
              <a:r>
                <a:rPr lang="en-US" sz="650" i="1">
                  <a:latin typeface="Times New Roman" panose="02020603050405020304" pitchFamily="18" charset="0"/>
                  <a:cs typeface="Times New Roman" panose="02020603050405020304" pitchFamily="18" charset="0"/>
                </a:rPr>
                <a:t>[AI Alliance]</a:t>
              </a:r>
            </a:p>
          </p:txBody>
        </p:sp>
      </p:grpSp>
      <p:sp>
        <p:nvSpPr>
          <p:cNvPr id="5" name="TextBox 4">
            <a:extLst>
              <a:ext uri="{FF2B5EF4-FFF2-40B4-BE49-F238E27FC236}">
                <a16:creationId xmlns:a16="http://schemas.microsoft.com/office/drawing/2014/main" id="{91ECA630-F5C6-840C-3ACC-070E77120E67}"/>
              </a:ext>
            </a:extLst>
          </p:cNvPr>
          <p:cNvSpPr txBox="1"/>
          <p:nvPr/>
        </p:nvSpPr>
        <p:spPr>
          <a:xfrm>
            <a:off x="305572" y="874642"/>
            <a:ext cx="8616644" cy="420756"/>
          </a:xfrm>
          <a:prstGeom prst="rect">
            <a:avLst/>
          </a:prstGeom>
        </p:spPr>
        <p:txBody>
          <a:bodyPr wrap="square" lIns="0" tIns="0" rIns="0" bIns="0" rtlCol="0" anchor="t">
            <a:spAutoFit/>
          </a:bodyPr>
          <a:lstStyle/>
          <a:p>
            <a:pPr>
              <a:lnSpc>
                <a:spcPts val="3479"/>
              </a:lnSpc>
            </a:pPr>
            <a:r>
              <a:rPr lang="en-US" sz="28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Partnership Recommendations: Overview- (1/2)</a:t>
            </a:r>
          </a:p>
        </p:txBody>
      </p:sp>
    </p:spTree>
    <p:extLst>
      <p:ext uri="{BB962C8B-B14F-4D97-AF65-F5344CB8AC3E}">
        <p14:creationId xmlns:p14="http://schemas.microsoft.com/office/powerpoint/2010/main" val="1370797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2AA04-1F6D-EB19-DC24-189093C44BF5}"/>
            </a:ext>
          </a:extLst>
        </p:cNvPr>
        <p:cNvGrpSpPr/>
        <p:nvPr/>
      </p:nvGrpSpPr>
      <p:grpSpPr>
        <a:xfrm>
          <a:off x="0" y="0"/>
          <a:ext cx="0" cy="0"/>
          <a:chOff x="0" y="0"/>
          <a:chExt cx="0" cy="0"/>
        </a:xfrm>
      </p:grpSpPr>
      <p:sp>
        <p:nvSpPr>
          <p:cNvPr id="57" name="Freeform 38">
            <a:extLst>
              <a:ext uri="{FF2B5EF4-FFF2-40B4-BE49-F238E27FC236}">
                <a16:creationId xmlns:a16="http://schemas.microsoft.com/office/drawing/2014/main" id="{D1102FA5-76A0-17DF-5B2F-1F2CAA6544D2}"/>
              </a:ext>
            </a:extLst>
          </p:cNvPr>
          <p:cNvSpPr/>
          <p:nvPr/>
        </p:nvSpPr>
        <p:spPr>
          <a:xfrm>
            <a:off x="863468" y="5906265"/>
            <a:ext cx="214426" cy="286858"/>
          </a:xfrm>
          <a:custGeom>
            <a:avLst/>
            <a:gdLst/>
            <a:ahLst/>
            <a:cxnLst/>
            <a:rect l="l" t="t" r="r" b="b"/>
            <a:pathLst>
              <a:path w="263909" h="353056">
                <a:moveTo>
                  <a:pt x="0" y="0"/>
                </a:moveTo>
                <a:lnTo>
                  <a:pt x="263909" y="0"/>
                </a:lnTo>
                <a:lnTo>
                  <a:pt x="263909" y="353056"/>
                </a:lnTo>
                <a:lnTo>
                  <a:pt x="0" y="35305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463"/>
          </a:p>
        </p:txBody>
      </p:sp>
      <p:sp>
        <p:nvSpPr>
          <p:cNvPr id="11" name="Rectangle 10">
            <a:extLst>
              <a:ext uri="{FF2B5EF4-FFF2-40B4-BE49-F238E27FC236}">
                <a16:creationId xmlns:a16="http://schemas.microsoft.com/office/drawing/2014/main" id="{8F947A03-DE59-94A4-C140-A9259F7D49F8}"/>
              </a:ext>
            </a:extLst>
          </p:cNvPr>
          <p:cNvSpPr/>
          <p:nvPr/>
        </p:nvSpPr>
        <p:spPr>
          <a:xfrm>
            <a:off x="755380" y="2173757"/>
            <a:ext cx="1878092" cy="3852139"/>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3B309F0-9F39-A02A-F07F-CF0C182AD1AD}"/>
              </a:ext>
            </a:extLst>
          </p:cNvPr>
          <p:cNvSpPr/>
          <p:nvPr/>
        </p:nvSpPr>
        <p:spPr>
          <a:xfrm>
            <a:off x="2937748" y="2173757"/>
            <a:ext cx="1878092" cy="3852139"/>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4CCA08-D4FF-76DA-8384-9EA7C0A69528}"/>
              </a:ext>
            </a:extLst>
          </p:cNvPr>
          <p:cNvSpPr/>
          <p:nvPr/>
        </p:nvSpPr>
        <p:spPr>
          <a:xfrm>
            <a:off x="5120116" y="2173757"/>
            <a:ext cx="1878092" cy="3852139"/>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8DA4C3-D59B-992C-D776-3D090BEC8901}"/>
              </a:ext>
            </a:extLst>
          </p:cNvPr>
          <p:cNvSpPr/>
          <p:nvPr/>
        </p:nvSpPr>
        <p:spPr>
          <a:xfrm>
            <a:off x="7302484" y="2173757"/>
            <a:ext cx="1878092" cy="3852139"/>
          </a:xfrm>
          <a:prstGeom prst="rect">
            <a:avLst/>
          </a:prstGeom>
          <a:solidFill>
            <a:schemeClr val="bg1">
              <a:lumMod val="95000"/>
            </a:schemeClr>
          </a:solidFill>
          <a:ln>
            <a:solidFill>
              <a:schemeClr val="tx1">
                <a:lumMod val="50000"/>
                <a:lumOff val="50000"/>
              </a:schemeClr>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B62F6682-F69E-59B6-8911-028310C6D09C}"/>
              </a:ext>
            </a:extLst>
          </p:cNvPr>
          <p:cNvGrpSpPr/>
          <p:nvPr/>
        </p:nvGrpSpPr>
        <p:grpSpPr>
          <a:xfrm>
            <a:off x="1338026" y="1558287"/>
            <a:ext cx="712800" cy="904444"/>
            <a:chOff x="1338026" y="2131311"/>
            <a:chExt cx="712800" cy="904444"/>
          </a:xfrm>
        </p:grpSpPr>
        <p:sp>
          <p:nvSpPr>
            <p:cNvPr id="16" name="Triangle 15">
              <a:extLst>
                <a:ext uri="{FF2B5EF4-FFF2-40B4-BE49-F238E27FC236}">
                  <a16:creationId xmlns:a16="http://schemas.microsoft.com/office/drawing/2014/main" id="{A321F86D-1A12-7948-A0F5-D512A28A9DBD}"/>
                </a:ext>
              </a:extLst>
            </p:cNvPr>
            <p:cNvSpPr/>
            <p:nvPr/>
          </p:nvSpPr>
          <p:spPr>
            <a:xfrm rot="10800000">
              <a:off x="1538978" y="2788867"/>
              <a:ext cx="310896" cy="246888"/>
            </a:xfrm>
            <a:prstGeom prst="triangle">
              <a:avLst/>
            </a:prstGeom>
            <a:solidFill>
              <a:srgbClr val="FFC00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CE43BDB-02F9-7933-F444-76F69D81E82B}"/>
                </a:ext>
              </a:extLst>
            </p:cNvPr>
            <p:cNvSpPr>
              <a:spLocks noChangeAspect="1"/>
            </p:cNvSpPr>
            <p:nvPr/>
          </p:nvSpPr>
          <p:spPr>
            <a:xfrm>
              <a:off x="1338026" y="2131311"/>
              <a:ext cx="712800" cy="712800"/>
            </a:xfrm>
            <a:prstGeom prst="ellipse">
              <a:avLst/>
            </a:prstGeom>
            <a:solidFill>
              <a:srgbClr val="FFC00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389606E-84C3-2061-D2C6-58C7763BD5EB}"/>
                </a:ext>
              </a:extLst>
            </p:cNvPr>
            <p:cNvSpPr/>
            <p:nvPr/>
          </p:nvSpPr>
          <p:spPr>
            <a:xfrm>
              <a:off x="1406426" y="2199701"/>
              <a:ext cx="576000" cy="5760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ECB03A80-9660-0ADB-7F89-0390169A3252}"/>
              </a:ext>
            </a:extLst>
          </p:cNvPr>
          <p:cNvGrpSpPr/>
          <p:nvPr/>
        </p:nvGrpSpPr>
        <p:grpSpPr>
          <a:xfrm>
            <a:off x="3520394" y="1558287"/>
            <a:ext cx="712800" cy="904444"/>
            <a:chOff x="1338026" y="2131311"/>
            <a:chExt cx="712800" cy="904444"/>
          </a:xfrm>
        </p:grpSpPr>
        <p:sp>
          <p:nvSpPr>
            <p:cNvPr id="21" name="Triangle 20">
              <a:extLst>
                <a:ext uri="{FF2B5EF4-FFF2-40B4-BE49-F238E27FC236}">
                  <a16:creationId xmlns:a16="http://schemas.microsoft.com/office/drawing/2014/main" id="{D9CFFF71-73E0-30F0-25C0-FE0CAC669CAC}"/>
                </a:ext>
              </a:extLst>
            </p:cNvPr>
            <p:cNvSpPr/>
            <p:nvPr/>
          </p:nvSpPr>
          <p:spPr>
            <a:xfrm rot="10800000">
              <a:off x="1538978" y="2788867"/>
              <a:ext cx="310896" cy="246888"/>
            </a:xfrm>
            <a:prstGeom prst="triangle">
              <a:avLst/>
            </a:prstGeom>
            <a:solidFill>
              <a:srgbClr val="FFD87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B935068-50F3-9985-A7E3-0569855F8EA9}"/>
                </a:ext>
              </a:extLst>
            </p:cNvPr>
            <p:cNvSpPr>
              <a:spLocks noChangeAspect="1"/>
            </p:cNvSpPr>
            <p:nvPr/>
          </p:nvSpPr>
          <p:spPr>
            <a:xfrm>
              <a:off x="1338026" y="2131311"/>
              <a:ext cx="712800" cy="712800"/>
            </a:xfrm>
            <a:prstGeom prst="ellipse">
              <a:avLst/>
            </a:prstGeom>
            <a:solidFill>
              <a:srgbClr val="FFD87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0EE3495-892F-8CA6-22DA-9850FD0EBC15}"/>
                </a:ext>
              </a:extLst>
            </p:cNvPr>
            <p:cNvSpPr/>
            <p:nvPr/>
          </p:nvSpPr>
          <p:spPr>
            <a:xfrm>
              <a:off x="1406426" y="2199701"/>
              <a:ext cx="576000" cy="5760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68C38A19-2044-8FEC-55A7-6286B2F3E4C0}"/>
              </a:ext>
            </a:extLst>
          </p:cNvPr>
          <p:cNvGrpSpPr/>
          <p:nvPr/>
        </p:nvGrpSpPr>
        <p:grpSpPr>
          <a:xfrm>
            <a:off x="5702762" y="1558287"/>
            <a:ext cx="712800" cy="904444"/>
            <a:chOff x="1338026" y="2131311"/>
            <a:chExt cx="712800" cy="904444"/>
          </a:xfrm>
        </p:grpSpPr>
        <p:sp>
          <p:nvSpPr>
            <p:cNvPr id="25" name="Triangle 24">
              <a:extLst>
                <a:ext uri="{FF2B5EF4-FFF2-40B4-BE49-F238E27FC236}">
                  <a16:creationId xmlns:a16="http://schemas.microsoft.com/office/drawing/2014/main" id="{6776FBEA-FD35-EAF6-C4F0-7382574F24E8}"/>
                </a:ext>
              </a:extLst>
            </p:cNvPr>
            <p:cNvSpPr/>
            <p:nvPr/>
          </p:nvSpPr>
          <p:spPr>
            <a:xfrm rot="10800000">
              <a:off x="1538978" y="2788867"/>
              <a:ext cx="310896" cy="246888"/>
            </a:xfrm>
            <a:prstGeom prst="triangle">
              <a:avLst/>
            </a:prstGeom>
            <a:solidFill>
              <a:srgbClr val="FFE7B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EDDDAEA-3EB8-0C57-06A9-EF34F17CBEC7}"/>
                </a:ext>
              </a:extLst>
            </p:cNvPr>
            <p:cNvSpPr>
              <a:spLocks noChangeAspect="1"/>
            </p:cNvSpPr>
            <p:nvPr/>
          </p:nvSpPr>
          <p:spPr>
            <a:xfrm>
              <a:off x="1338026" y="2131311"/>
              <a:ext cx="712800" cy="712800"/>
            </a:xfrm>
            <a:prstGeom prst="ellipse">
              <a:avLst/>
            </a:prstGeom>
            <a:solidFill>
              <a:srgbClr val="FFE7B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EDB7F16-37E7-67B2-EC3C-9393A80259A2}"/>
                </a:ext>
              </a:extLst>
            </p:cNvPr>
            <p:cNvSpPr/>
            <p:nvPr/>
          </p:nvSpPr>
          <p:spPr>
            <a:xfrm>
              <a:off x="1406426" y="2199701"/>
              <a:ext cx="576000" cy="5760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FF431F64-94CC-6977-BB7F-D7B8A4288D6A}"/>
              </a:ext>
            </a:extLst>
          </p:cNvPr>
          <p:cNvGrpSpPr/>
          <p:nvPr/>
        </p:nvGrpSpPr>
        <p:grpSpPr>
          <a:xfrm>
            <a:off x="7885130" y="1558287"/>
            <a:ext cx="712800" cy="904444"/>
            <a:chOff x="1338026" y="2131311"/>
            <a:chExt cx="712800" cy="904444"/>
          </a:xfrm>
        </p:grpSpPr>
        <p:sp>
          <p:nvSpPr>
            <p:cNvPr id="30" name="Triangle 29">
              <a:extLst>
                <a:ext uri="{FF2B5EF4-FFF2-40B4-BE49-F238E27FC236}">
                  <a16:creationId xmlns:a16="http://schemas.microsoft.com/office/drawing/2014/main" id="{97E47A6E-3AFC-66BB-BA3C-3A425989A55E}"/>
                </a:ext>
              </a:extLst>
            </p:cNvPr>
            <p:cNvSpPr/>
            <p:nvPr/>
          </p:nvSpPr>
          <p:spPr>
            <a:xfrm rot="10800000">
              <a:off x="1538978" y="2788867"/>
              <a:ext cx="310896" cy="246888"/>
            </a:xfrm>
            <a:prstGeom prst="triangle">
              <a:avLst/>
            </a:prstGeom>
            <a:solidFill>
              <a:srgbClr val="BCD8F0"/>
            </a:solidFill>
            <a:ln>
              <a:solidFill>
                <a:schemeClr val="accent1"/>
              </a:solidFill>
              <a:prstDash val="sysDo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655F7AB-88EF-2698-56D2-C12810B1E788}"/>
                </a:ext>
              </a:extLst>
            </p:cNvPr>
            <p:cNvSpPr>
              <a:spLocks noChangeAspect="1"/>
            </p:cNvSpPr>
            <p:nvPr/>
          </p:nvSpPr>
          <p:spPr>
            <a:xfrm>
              <a:off x="1338026" y="2131311"/>
              <a:ext cx="712800" cy="712800"/>
            </a:xfrm>
            <a:prstGeom prst="ellipse">
              <a:avLst/>
            </a:prstGeom>
            <a:solidFill>
              <a:srgbClr val="BCD8F0"/>
            </a:solidFill>
            <a:ln>
              <a:solidFill>
                <a:schemeClr val="accent1"/>
              </a:solidFill>
              <a:prstDash val="sysDo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5BF6D18-C1F8-DD1F-4552-C6F431DEF402}"/>
                </a:ext>
              </a:extLst>
            </p:cNvPr>
            <p:cNvSpPr/>
            <p:nvPr/>
          </p:nvSpPr>
          <p:spPr>
            <a:xfrm>
              <a:off x="1406426" y="2199701"/>
              <a:ext cx="576000" cy="5760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Picture 4" descr="Nova Escola - Current Openings">
            <a:extLst>
              <a:ext uri="{FF2B5EF4-FFF2-40B4-BE49-F238E27FC236}">
                <a16:creationId xmlns:a16="http://schemas.microsoft.com/office/drawing/2014/main" id="{2EF8D636-A1B1-5BBB-49DA-94EFAA917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9349" y="1776235"/>
            <a:ext cx="435718" cy="24796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Insper - Wikipedia">
            <a:extLst>
              <a:ext uri="{FF2B5EF4-FFF2-40B4-BE49-F238E27FC236}">
                <a16:creationId xmlns:a16="http://schemas.microsoft.com/office/drawing/2014/main" id="{5189DDD7-0629-5CC2-5A8C-D29E067C07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6709" y="1813773"/>
            <a:ext cx="520167" cy="201825"/>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Our Founder - Fundação Lemann">
            <a:extLst>
              <a:ext uri="{FF2B5EF4-FFF2-40B4-BE49-F238E27FC236}">
                <a16:creationId xmlns:a16="http://schemas.microsoft.com/office/drawing/2014/main" id="{E462A6DF-975E-1F0F-6F1B-9FA2CBC448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2152" y="1813773"/>
            <a:ext cx="522531" cy="155018"/>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InternetLab, Brazil | Al Sur">
            <a:extLst>
              <a:ext uri="{FF2B5EF4-FFF2-40B4-BE49-F238E27FC236}">
                <a16:creationId xmlns:a16="http://schemas.microsoft.com/office/drawing/2014/main" id="{1B1343BD-1066-4B36-6C63-A754A6B1C4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0509" y="1671834"/>
            <a:ext cx="539126" cy="431300"/>
          </a:xfrm>
          <a:prstGeom prst="rect">
            <a:avLst/>
          </a:prstGeom>
          <a:noFill/>
          <a:extLst>
            <a:ext uri="{909E8E84-426E-40DD-AFC4-6F175D3DCCD1}">
              <a14:hiddenFill xmlns:a14="http://schemas.microsoft.com/office/drawing/2010/main">
                <a:solidFill>
                  <a:srgbClr val="FFFFFF"/>
                </a:solidFill>
              </a14:hiddenFill>
            </a:ext>
          </a:extLst>
        </p:spPr>
      </p:pic>
      <p:sp>
        <p:nvSpPr>
          <p:cNvPr id="36" name="Round Same-side Corner of Rectangle 35">
            <a:extLst>
              <a:ext uri="{FF2B5EF4-FFF2-40B4-BE49-F238E27FC236}">
                <a16:creationId xmlns:a16="http://schemas.microsoft.com/office/drawing/2014/main" id="{905B0908-4963-CE74-D667-5F2DAE2019AC}"/>
              </a:ext>
            </a:extLst>
          </p:cNvPr>
          <p:cNvSpPr/>
          <p:nvPr/>
        </p:nvSpPr>
        <p:spPr>
          <a:xfrm>
            <a:off x="755380" y="2556344"/>
            <a:ext cx="1878092" cy="288235"/>
          </a:xfrm>
          <a:prstGeom prst="round2Same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600">
                <a:solidFill>
                  <a:schemeClr val="tx1"/>
                </a:solidFill>
                <a:latin typeface="Times New Roman" panose="02020603050405020304" pitchFamily="18" charset="0"/>
                <a:cs typeface="Times New Roman" panose="02020603050405020304" pitchFamily="18" charset="0"/>
              </a:rPr>
              <a:t>Nova Escola</a:t>
            </a:r>
          </a:p>
        </p:txBody>
      </p:sp>
      <p:sp>
        <p:nvSpPr>
          <p:cNvPr id="37" name="Round Same-side Corner of Rectangle 36">
            <a:extLst>
              <a:ext uri="{FF2B5EF4-FFF2-40B4-BE49-F238E27FC236}">
                <a16:creationId xmlns:a16="http://schemas.microsoft.com/office/drawing/2014/main" id="{EB502AFD-BD44-9C92-21A1-B29AB719DAAF}"/>
              </a:ext>
            </a:extLst>
          </p:cNvPr>
          <p:cNvSpPr/>
          <p:nvPr/>
        </p:nvSpPr>
        <p:spPr>
          <a:xfrm>
            <a:off x="2937746" y="2573405"/>
            <a:ext cx="1878092" cy="288235"/>
          </a:xfrm>
          <a:prstGeom prst="round2SameRect">
            <a:avLst/>
          </a:prstGeom>
          <a:solidFill>
            <a:srgbClr val="FFD8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600" err="1">
                <a:solidFill>
                  <a:schemeClr val="tx1"/>
                </a:solidFill>
                <a:latin typeface="Times New Roman" panose="02020603050405020304" pitchFamily="18" charset="0"/>
                <a:cs typeface="Times New Roman" panose="02020603050405020304" pitchFamily="18" charset="0"/>
              </a:rPr>
              <a:t>Insper</a:t>
            </a:r>
            <a:endParaRPr lang="en-US" sz="1600">
              <a:solidFill>
                <a:schemeClr val="tx1"/>
              </a:solidFill>
              <a:latin typeface="Times New Roman" panose="02020603050405020304" pitchFamily="18" charset="0"/>
              <a:cs typeface="Times New Roman" panose="02020603050405020304" pitchFamily="18" charset="0"/>
            </a:endParaRPr>
          </a:p>
        </p:txBody>
      </p:sp>
      <p:sp>
        <p:nvSpPr>
          <p:cNvPr id="38" name="Round Same-side Corner of Rectangle 37">
            <a:extLst>
              <a:ext uri="{FF2B5EF4-FFF2-40B4-BE49-F238E27FC236}">
                <a16:creationId xmlns:a16="http://schemas.microsoft.com/office/drawing/2014/main" id="{3821511A-6281-4CAB-737C-A6D96816D937}"/>
              </a:ext>
            </a:extLst>
          </p:cNvPr>
          <p:cNvSpPr/>
          <p:nvPr/>
        </p:nvSpPr>
        <p:spPr>
          <a:xfrm>
            <a:off x="5120112" y="2590466"/>
            <a:ext cx="1878092" cy="288235"/>
          </a:xfrm>
          <a:prstGeom prst="round2SameRect">
            <a:avLst/>
          </a:prstGeom>
          <a:solidFill>
            <a:srgbClr val="FFE7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600">
                <a:solidFill>
                  <a:schemeClr val="tx1"/>
                </a:solidFill>
                <a:latin typeface="Times New Roman" panose="02020603050405020304" pitchFamily="18" charset="0"/>
                <a:cs typeface="Times New Roman" panose="02020603050405020304" pitchFamily="18" charset="0"/>
              </a:rPr>
              <a:t>Lemann Foundation</a:t>
            </a:r>
          </a:p>
        </p:txBody>
      </p:sp>
      <p:sp>
        <p:nvSpPr>
          <p:cNvPr id="39" name="Round Same-side Corner of Rectangle 38">
            <a:extLst>
              <a:ext uri="{FF2B5EF4-FFF2-40B4-BE49-F238E27FC236}">
                <a16:creationId xmlns:a16="http://schemas.microsoft.com/office/drawing/2014/main" id="{B0D22D10-80DF-64D6-9821-C5AF9B102958}"/>
              </a:ext>
            </a:extLst>
          </p:cNvPr>
          <p:cNvSpPr/>
          <p:nvPr/>
        </p:nvSpPr>
        <p:spPr>
          <a:xfrm>
            <a:off x="7302478" y="2607527"/>
            <a:ext cx="1878092" cy="288235"/>
          </a:xfrm>
          <a:prstGeom prst="round2SameRect">
            <a:avLst/>
          </a:prstGeom>
          <a:solidFill>
            <a:srgbClr val="BCD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600" err="1">
                <a:solidFill>
                  <a:schemeClr val="tx1"/>
                </a:solidFill>
                <a:latin typeface="Times New Roman" panose="02020603050405020304" pitchFamily="18" charset="0"/>
                <a:cs typeface="Times New Roman" panose="02020603050405020304" pitchFamily="18" charset="0"/>
              </a:rPr>
              <a:t>InternetLab</a:t>
            </a:r>
            <a:endParaRPr lang="en-US" sz="1600">
              <a:solidFill>
                <a:schemeClr val="tx1"/>
              </a:solidFill>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B0443DBF-42BB-9C12-290F-C1446E05849B}"/>
              </a:ext>
            </a:extLst>
          </p:cNvPr>
          <p:cNvSpPr/>
          <p:nvPr/>
        </p:nvSpPr>
        <p:spPr>
          <a:xfrm>
            <a:off x="863468" y="5643258"/>
            <a:ext cx="1671010" cy="26300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00" b="1" i="1">
                <a:solidFill>
                  <a:schemeClr val="tx1"/>
                </a:solidFill>
                <a:latin typeface="Times New Roman" panose="02020603050405020304" pitchFamily="18" charset="0"/>
                <a:cs typeface="Times New Roman" panose="02020603050405020304" pitchFamily="18" charset="0"/>
              </a:rPr>
              <a:t>Score: 2.9</a:t>
            </a:r>
            <a:r>
              <a:rPr lang="en-US" sz="1000">
                <a:solidFill>
                  <a:schemeClr val="tx1"/>
                </a:solidFill>
                <a:latin typeface="Times New Roman" panose="02020603050405020304" pitchFamily="18" charset="0"/>
                <a:cs typeface="Times New Roman" panose="02020603050405020304" pitchFamily="18" charset="0"/>
              </a:rPr>
              <a:t> </a:t>
            </a:r>
          </a:p>
        </p:txBody>
      </p:sp>
      <p:sp>
        <p:nvSpPr>
          <p:cNvPr id="42" name="Rectangle 41">
            <a:extLst>
              <a:ext uri="{FF2B5EF4-FFF2-40B4-BE49-F238E27FC236}">
                <a16:creationId xmlns:a16="http://schemas.microsoft.com/office/drawing/2014/main" id="{0D29A14B-6A52-3567-737E-3999D7CF4FC5}"/>
              </a:ext>
            </a:extLst>
          </p:cNvPr>
          <p:cNvSpPr/>
          <p:nvPr/>
        </p:nvSpPr>
        <p:spPr>
          <a:xfrm>
            <a:off x="3041287" y="5665558"/>
            <a:ext cx="1671010" cy="263007"/>
          </a:xfrm>
          <a:prstGeom prst="rect">
            <a:avLst/>
          </a:prstGeom>
          <a:solidFill>
            <a:srgbClr val="FFD8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00" b="1" i="1">
                <a:solidFill>
                  <a:schemeClr val="tx1"/>
                </a:solidFill>
                <a:latin typeface="Times New Roman" panose="02020603050405020304" pitchFamily="18" charset="0"/>
                <a:cs typeface="Times New Roman" panose="02020603050405020304" pitchFamily="18" charset="0"/>
              </a:rPr>
              <a:t>Score: 2.8 </a:t>
            </a:r>
          </a:p>
        </p:txBody>
      </p:sp>
      <p:sp>
        <p:nvSpPr>
          <p:cNvPr id="43" name="Rectangle 42">
            <a:extLst>
              <a:ext uri="{FF2B5EF4-FFF2-40B4-BE49-F238E27FC236}">
                <a16:creationId xmlns:a16="http://schemas.microsoft.com/office/drawing/2014/main" id="{F6F0AC26-3055-3A14-1BFC-3D9B90395495}"/>
              </a:ext>
            </a:extLst>
          </p:cNvPr>
          <p:cNvSpPr/>
          <p:nvPr/>
        </p:nvSpPr>
        <p:spPr>
          <a:xfrm>
            <a:off x="5219106" y="5687858"/>
            <a:ext cx="1671010" cy="263007"/>
          </a:xfrm>
          <a:prstGeom prst="rect">
            <a:avLst/>
          </a:prstGeom>
          <a:solidFill>
            <a:srgbClr val="FFE7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00" b="1" i="1">
                <a:solidFill>
                  <a:schemeClr val="tx1"/>
                </a:solidFill>
                <a:latin typeface="Times New Roman" panose="02020603050405020304" pitchFamily="18" charset="0"/>
                <a:cs typeface="Times New Roman" panose="02020603050405020304" pitchFamily="18" charset="0"/>
              </a:rPr>
              <a:t>Score: 2.7</a:t>
            </a:r>
          </a:p>
        </p:txBody>
      </p:sp>
      <p:sp>
        <p:nvSpPr>
          <p:cNvPr id="44" name="Rectangle 43">
            <a:extLst>
              <a:ext uri="{FF2B5EF4-FFF2-40B4-BE49-F238E27FC236}">
                <a16:creationId xmlns:a16="http://schemas.microsoft.com/office/drawing/2014/main" id="{C4FB0B71-00C0-9112-FD93-260CA49721E8}"/>
              </a:ext>
            </a:extLst>
          </p:cNvPr>
          <p:cNvSpPr/>
          <p:nvPr/>
        </p:nvSpPr>
        <p:spPr>
          <a:xfrm>
            <a:off x="7396925" y="5710158"/>
            <a:ext cx="1671010" cy="263007"/>
          </a:xfrm>
          <a:prstGeom prst="rect">
            <a:avLst/>
          </a:prstGeom>
          <a:solidFill>
            <a:srgbClr val="BCD8F0"/>
          </a:solidFill>
          <a:ln>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00" b="1" i="1">
                <a:solidFill>
                  <a:schemeClr val="tx1"/>
                </a:solidFill>
                <a:latin typeface="Times New Roman" panose="02020603050405020304" pitchFamily="18" charset="0"/>
                <a:cs typeface="Times New Roman" panose="02020603050405020304" pitchFamily="18" charset="0"/>
              </a:rPr>
              <a:t>Score: 2.0</a:t>
            </a:r>
          </a:p>
        </p:txBody>
      </p:sp>
      <p:sp>
        <p:nvSpPr>
          <p:cNvPr id="45" name="Rectangle 44">
            <a:extLst>
              <a:ext uri="{FF2B5EF4-FFF2-40B4-BE49-F238E27FC236}">
                <a16:creationId xmlns:a16="http://schemas.microsoft.com/office/drawing/2014/main" id="{EE658421-144E-6A9F-1D36-0E5548C6CBBC}"/>
              </a:ext>
            </a:extLst>
          </p:cNvPr>
          <p:cNvSpPr/>
          <p:nvPr/>
        </p:nvSpPr>
        <p:spPr>
          <a:xfrm>
            <a:off x="756255" y="6371137"/>
            <a:ext cx="214426" cy="152400"/>
          </a:xfrm>
          <a:prstGeom prst="rect">
            <a:avLst/>
          </a:prstGeom>
          <a:solidFill>
            <a:schemeClr val="bg1">
              <a:lumMod val="95000"/>
            </a:schemeClr>
          </a:solidFill>
          <a:ln>
            <a:solidFill>
              <a:schemeClr val="tx1">
                <a:lumMod val="50000"/>
                <a:lumOff val="50000"/>
              </a:schemeClr>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E56AD669-E731-9D64-63B0-A17DDE2312BF}"/>
              </a:ext>
            </a:extLst>
          </p:cNvPr>
          <p:cNvSpPr txBox="1"/>
          <p:nvPr/>
        </p:nvSpPr>
        <p:spPr>
          <a:xfrm>
            <a:off x="970680" y="6295842"/>
            <a:ext cx="8421797" cy="338554"/>
          </a:xfrm>
          <a:prstGeom prst="rect">
            <a:avLst/>
          </a:prstGeom>
          <a:noFill/>
        </p:spPr>
        <p:txBody>
          <a:bodyPr wrap="square">
            <a:spAutoFit/>
          </a:bodyPr>
          <a:lstStyle/>
          <a:p>
            <a:pPr>
              <a:buNone/>
            </a:pPr>
            <a:r>
              <a:rPr lang="en-US" sz="800" i="1">
                <a:effectLst/>
                <a:latin typeface="Times New Roman" panose="02020603050405020304" pitchFamily="18" charset="0"/>
                <a:ea typeface="Times New Roman" panose="02020603050405020304" pitchFamily="18" charset="0"/>
                <a:cs typeface="Times New Roman" panose="02020603050405020304" pitchFamily="18" charset="0"/>
              </a:rPr>
              <a:t>Demonstrates SIPA team’s recommendation, outside of the scoring matrix. </a:t>
            </a:r>
            <a:r>
              <a:rPr lang="en-US" sz="800" i="1" err="1">
                <a:effectLst/>
                <a:latin typeface="Times New Roman" panose="02020603050405020304" pitchFamily="18" charset="0"/>
                <a:ea typeface="Times New Roman" panose="02020603050405020304" pitchFamily="18" charset="0"/>
                <a:cs typeface="Times New Roman" panose="02020603050405020304" pitchFamily="18" charset="0"/>
              </a:rPr>
              <a:t>InternetLab’s</a:t>
            </a:r>
            <a:r>
              <a:rPr lang="en-US" sz="800" i="1">
                <a:effectLst/>
                <a:latin typeface="Times New Roman" panose="02020603050405020304" pitchFamily="18" charset="0"/>
                <a:ea typeface="Times New Roman" panose="02020603050405020304" pitchFamily="18" charset="0"/>
                <a:cs typeface="Times New Roman" panose="02020603050405020304" pitchFamily="18" charset="0"/>
              </a:rPr>
              <a:t> programs demonstrate a strong alignment with BRAVA’s strategic priorities. </a:t>
            </a:r>
            <a:r>
              <a:rPr lang="en-US" sz="800" i="1" err="1">
                <a:effectLst/>
                <a:latin typeface="Times New Roman" panose="02020603050405020304" pitchFamily="18" charset="0"/>
                <a:ea typeface="Times New Roman" panose="02020603050405020304" pitchFamily="18" charset="0"/>
                <a:cs typeface="Times New Roman" panose="02020603050405020304" pitchFamily="18" charset="0"/>
              </a:rPr>
              <a:t>InternetLab</a:t>
            </a:r>
            <a:r>
              <a:rPr lang="en-US" sz="800" i="1">
                <a:effectLst/>
                <a:latin typeface="Times New Roman" panose="02020603050405020304" pitchFamily="18" charset="0"/>
                <a:ea typeface="Times New Roman" panose="02020603050405020304" pitchFamily="18" charset="0"/>
                <a:cs typeface="Times New Roman" panose="02020603050405020304" pitchFamily="18" charset="0"/>
              </a:rPr>
              <a:t> and its project received a lower score due to reliance on limited secondary research and the absence of an interview. </a:t>
            </a:r>
            <a:endParaRPr lang="en-IN" sz="800" i="1">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1BE78DD3-7348-0A08-D1C5-5D55035447B6}"/>
              </a:ext>
            </a:extLst>
          </p:cNvPr>
          <p:cNvSpPr txBox="1"/>
          <p:nvPr/>
        </p:nvSpPr>
        <p:spPr>
          <a:xfrm>
            <a:off x="7243754" y="2906039"/>
            <a:ext cx="2009398" cy="2725629"/>
          </a:xfrm>
          <a:prstGeom prst="rect">
            <a:avLst/>
          </a:prstGeom>
          <a:noFill/>
        </p:spPr>
        <p:txBody>
          <a:bodyPr wrap="square" rtlCol="0">
            <a:noAutofit/>
          </a:bodyPr>
          <a:lstStyle/>
          <a:p>
            <a:pPr marL="171450" indent="-171450">
              <a:spcBef>
                <a:spcPts val="400"/>
              </a:spcBef>
              <a:spcAft>
                <a:spcPts val="3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Project evaluates risks, justifications and policies of facial recognition and surveillance in public schools </a:t>
            </a:r>
          </a:p>
          <a:p>
            <a:pPr marL="171450" indent="-171450">
              <a:spcBef>
                <a:spcPts val="400"/>
              </a:spcBef>
              <a:spcAft>
                <a:spcPts val="3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Demonstrates a strong track record of work on technology and human rights, with a transparent methodology</a:t>
            </a:r>
          </a:p>
        </p:txBody>
      </p:sp>
      <p:sp>
        <p:nvSpPr>
          <p:cNvPr id="51" name="TextBox 50">
            <a:extLst>
              <a:ext uri="{FF2B5EF4-FFF2-40B4-BE49-F238E27FC236}">
                <a16:creationId xmlns:a16="http://schemas.microsoft.com/office/drawing/2014/main" id="{A5CA42A7-B3A6-BE22-8CC5-3E449C6E1A67}"/>
              </a:ext>
            </a:extLst>
          </p:cNvPr>
          <p:cNvSpPr txBox="1"/>
          <p:nvPr/>
        </p:nvSpPr>
        <p:spPr>
          <a:xfrm>
            <a:off x="5079847" y="2944524"/>
            <a:ext cx="1925501" cy="2863423"/>
          </a:xfrm>
          <a:prstGeom prst="rect">
            <a:avLst/>
          </a:prstGeom>
          <a:noFill/>
        </p:spPr>
        <p:txBody>
          <a:bodyPr wrap="square" rtlCol="0">
            <a:noAutofit/>
          </a:bodyPr>
          <a:lstStyle>
            <a:defPPr>
              <a:defRPr lang="en-US"/>
            </a:defPPr>
            <a:lvl1pPr marL="171450" indent="-171450">
              <a:spcBef>
                <a:spcPts val="400"/>
              </a:spcBef>
              <a:spcAft>
                <a:spcPts val="300"/>
              </a:spcAft>
              <a:buFont typeface="Arial" panose="020B0604020202020204" pitchFamily="34" charset="0"/>
              <a:buChar char="•"/>
              <a:defRPr sz="1200">
                <a:latin typeface="Times New Roman" panose="02020603050405020304" pitchFamily="18" charset="0"/>
                <a:cs typeface="Times New Roman" panose="02020603050405020304" pitchFamily="18" charset="0"/>
              </a:defRPr>
            </a:lvl1pPr>
          </a:lstStyle>
          <a:p>
            <a:r>
              <a:rPr lang="en-US" dirty="0"/>
              <a:t>A co-funding program that evaluates and funds AI solutions for public education in Brazil </a:t>
            </a:r>
          </a:p>
          <a:p>
            <a:r>
              <a:rPr lang="en-US" dirty="0"/>
              <a:t>Demonstrates a comprehensive approach to scale, designing sustainability frameworks from the beginning. </a:t>
            </a:r>
          </a:p>
        </p:txBody>
      </p:sp>
      <p:sp>
        <p:nvSpPr>
          <p:cNvPr id="52" name="TextBox 51">
            <a:extLst>
              <a:ext uri="{FF2B5EF4-FFF2-40B4-BE49-F238E27FC236}">
                <a16:creationId xmlns:a16="http://schemas.microsoft.com/office/drawing/2014/main" id="{5EC31834-DFF9-F59C-E4B1-DCBBBA1D337F}"/>
              </a:ext>
            </a:extLst>
          </p:cNvPr>
          <p:cNvSpPr txBox="1"/>
          <p:nvPr/>
        </p:nvSpPr>
        <p:spPr>
          <a:xfrm>
            <a:off x="2879018" y="2906039"/>
            <a:ext cx="1925460" cy="2752935"/>
          </a:xfrm>
          <a:prstGeom prst="rect">
            <a:avLst/>
          </a:prstGeom>
          <a:noFill/>
        </p:spPr>
        <p:txBody>
          <a:bodyPr wrap="square" rtlCol="0">
            <a:noAutofit/>
          </a:bodyPr>
          <a:lstStyle>
            <a:defPPr>
              <a:defRPr lang="en-US"/>
            </a:defPPr>
            <a:lvl1pPr marL="171450" indent="-171450">
              <a:spcBef>
                <a:spcPts val="400"/>
              </a:spcBef>
              <a:spcAft>
                <a:spcPts val="300"/>
              </a:spcAft>
              <a:buFont typeface="Arial" panose="020B0604020202020204" pitchFamily="34" charset="0"/>
              <a:buChar char="•"/>
              <a:defRPr sz="1200">
                <a:latin typeface="Times New Roman" panose="02020603050405020304" pitchFamily="18" charset="0"/>
                <a:cs typeface="Times New Roman" panose="02020603050405020304" pitchFamily="18" charset="0"/>
              </a:defRPr>
            </a:lvl1pPr>
          </a:lstStyle>
          <a:p>
            <a:r>
              <a:rPr lang="en-US" dirty="0"/>
              <a:t>Program places students in structured sprints with partners to develop applied AI solutions for real-world problems</a:t>
            </a:r>
          </a:p>
          <a:p>
            <a:r>
              <a:rPr lang="en-US" dirty="0"/>
              <a:t>Demonstrates strong co-funding potential, with support from the Becker-Friedman Institute and investment from TCS</a:t>
            </a:r>
          </a:p>
        </p:txBody>
      </p:sp>
      <p:sp>
        <p:nvSpPr>
          <p:cNvPr id="53" name="TextBox 52">
            <a:extLst>
              <a:ext uri="{FF2B5EF4-FFF2-40B4-BE49-F238E27FC236}">
                <a16:creationId xmlns:a16="http://schemas.microsoft.com/office/drawing/2014/main" id="{AC18DD05-7601-1717-C21D-758B3DDDF3ED}"/>
              </a:ext>
            </a:extLst>
          </p:cNvPr>
          <p:cNvSpPr txBox="1"/>
          <p:nvPr/>
        </p:nvSpPr>
        <p:spPr>
          <a:xfrm>
            <a:off x="725424" y="2895762"/>
            <a:ext cx="1905983" cy="2694821"/>
          </a:xfrm>
          <a:prstGeom prst="rect">
            <a:avLst/>
          </a:prstGeom>
          <a:noFill/>
        </p:spPr>
        <p:txBody>
          <a:bodyPr wrap="square" rtlCol="0">
            <a:noAutofit/>
          </a:bodyPr>
          <a:lstStyle>
            <a:defPPr>
              <a:defRPr lang="en-US"/>
            </a:defPPr>
            <a:lvl1pPr marL="171450" indent="-171450">
              <a:spcBef>
                <a:spcPts val="400"/>
              </a:spcBef>
              <a:spcAft>
                <a:spcPts val="300"/>
              </a:spcAft>
              <a:buFont typeface="Arial" panose="020B0604020202020204" pitchFamily="34" charset="0"/>
              <a:buChar char="•"/>
              <a:defRPr sz="1200">
                <a:latin typeface="Times New Roman" panose="02020603050405020304" pitchFamily="18" charset="0"/>
                <a:cs typeface="Times New Roman" panose="02020603050405020304" pitchFamily="18" charset="0"/>
              </a:defRPr>
            </a:lvl1pPr>
          </a:lstStyle>
          <a:p>
            <a:r>
              <a:rPr lang="en-US" dirty="0"/>
              <a:t>Program supports public education by leveraging AI to provide lesson planning support in public schools </a:t>
            </a:r>
          </a:p>
          <a:p>
            <a:r>
              <a:rPr lang="en-US" dirty="0"/>
              <a:t>Ensures transparency and accountability by employing an LLM-as-a-judge system to evaluate AI generated content </a:t>
            </a:r>
          </a:p>
        </p:txBody>
      </p:sp>
      <p:sp>
        <p:nvSpPr>
          <p:cNvPr id="3" name="TextBox 2">
            <a:extLst>
              <a:ext uri="{FF2B5EF4-FFF2-40B4-BE49-F238E27FC236}">
                <a16:creationId xmlns:a16="http://schemas.microsoft.com/office/drawing/2014/main" id="{4424C907-3718-91C7-03CE-E5CBDA574DD0}"/>
              </a:ext>
            </a:extLst>
          </p:cNvPr>
          <p:cNvSpPr txBox="1"/>
          <p:nvPr/>
        </p:nvSpPr>
        <p:spPr>
          <a:xfrm>
            <a:off x="305572" y="874642"/>
            <a:ext cx="8616644" cy="420756"/>
          </a:xfrm>
          <a:prstGeom prst="rect">
            <a:avLst/>
          </a:prstGeom>
        </p:spPr>
        <p:txBody>
          <a:bodyPr wrap="square" lIns="0" tIns="0" rIns="0" bIns="0" rtlCol="0" anchor="t">
            <a:spAutoFit/>
          </a:bodyPr>
          <a:lstStyle/>
          <a:p>
            <a:pPr>
              <a:lnSpc>
                <a:spcPts val="3479"/>
              </a:lnSpc>
            </a:pPr>
            <a:r>
              <a:rPr lang="en-US" sz="28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Partnership Recommendations: Deep Dive - (2/2)</a:t>
            </a:r>
          </a:p>
        </p:txBody>
      </p:sp>
    </p:spTree>
    <p:extLst>
      <p:ext uri="{BB962C8B-B14F-4D97-AF65-F5344CB8AC3E}">
        <p14:creationId xmlns:p14="http://schemas.microsoft.com/office/powerpoint/2010/main" val="28050184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B0A04-4E8B-4D4E-6182-FD2AB4453A4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7B72BE0-C2F8-7F16-50CF-70E37B39A1E7}"/>
              </a:ext>
            </a:extLst>
          </p:cNvPr>
          <p:cNvPicPr>
            <a:picLocks noChangeAspect="1"/>
          </p:cNvPicPr>
          <p:nvPr/>
        </p:nvPicPr>
        <p:blipFill>
          <a:blip r:embed="rId2"/>
          <a:srcRect t="9366" b="3242"/>
          <a:stretch>
            <a:fillRect/>
          </a:stretch>
        </p:blipFill>
        <p:spPr>
          <a:xfrm>
            <a:off x="552108" y="1354046"/>
            <a:ext cx="8801784" cy="4849830"/>
          </a:xfrm>
          <a:prstGeom prst="rect">
            <a:avLst/>
          </a:prstGeom>
        </p:spPr>
      </p:pic>
      <p:sp>
        <p:nvSpPr>
          <p:cNvPr id="2" name="TextBox 1">
            <a:extLst>
              <a:ext uri="{FF2B5EF4-FFF2-40B4-BE49-F238E27FC236}">
                <a16:creationId xmlns:a16="http://schemas.microsoft.com/office/drawing/2014/main" id="{C276CC61-4C1B-4767-0D68-B2BF0DDC3D8A}"/>
              </a:ext>
            </a:extLst>
          </p:cNvPr>
          <p:cNvSpPr txBox="1"/>
          <p:nvPr/>
        </p:nvSpPr>
        <p:spPr>
          <a:xfrm>
            <a:off x="305572" y="865215"/>
            <a:ext cx="8616644" cy="420756"/>
          </a:xfrm>
          <a:prstGeom prst="rect">
            <a:avLst/>
          </a:prstGeom>
        </p:spPr>
        <p:txBody>
          <a:bodyPr wrap="square" lIns="0" tIns="0" rIns="0" bIns="0" rtlCol="0" anchor="t">
            <a:spAutoFit/>
          </a:bodyPr>
          <a:lstStyle/>
          <a:p>
            <a:pPr>
              <a:lnSpc>
                <a:spcPts val="3479"/>
              </a:lnSpc>
            </a:pPr>
            <a:r>
              <a:rPr lang="en-US" sz="28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Key Considerations for Engagement</a:t>
            </a:r>
          </a:p>
        </p:txBody>
      </p:sp>
    </p:spTree>
    <p:extLst>
      <p:ext uri="{BB962C8B-B14F-4D97-AF65-F5344CB8AC3E}">
        <p14:creationId xmlns:p14="http://schemas.microsoft.com/office/powerpoint/2010/main" val="1079657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E2177-DF9A-C854-45F0-56BE64E4871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B1A88DC-E1BA-059D-AE32-ABF39DFBE52D}"/>
              </a:ext>
            </a:extLst>
          </p:cNvPr>
          <p:cNvSpPr/>
          <p:nvPr/>
        </p:nvSpPr>
        <p:spPr>
          <a:xfrm>
            <a:off x="430370" y="2224652"/>
            <a:ext cx="9099397" cy="1761562"/>
          </a:xfrm>
          <a:prstGeom prst="rect">
            <a:avLst/>
          </a:prstGeom>
          <a:solidFill>
            <a:srgbClr val="DAF2D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A645362-D297-59D1-6C9B-428FFA50D236}"/>
              </a:ext>
            </a:extLst>
          </p:cNvPr>
          <p:cNvSpPr txBox="1"/>
          <p:nvPr/>
        </p:nvSpPr>
        <p:spPr>
          <a:xfrm>
            <a:off x="365154" y="1372381"/>
            <a:ext cx="9164613" cy="738664"/>
          </a:xfrm>
          <a:prstGeom prst="rect">
            <a:avLst/>
          </a:prstGeom>
          <a:solidFill>
            <a:schemeClr val="bg1">
              <a:alpha val="71000"/>
            </a:schemeClr>
          </a:solidFill>
          <a:ln>
            <a:noFill/>
          </a:ln>
          <a:effectLst>
            <a:glow rad="852637">
              <a:schemeClr val="bg1">
                <a:alpha val="0"/>
              </a:schemeClr>
            </a:glow>
            <a:softEdge rad="205856"/>
          </a:effectLst>
        </p:spPr>
        <p:txBody>
          <a:bodyPr wrap="square" lIns="91440" tIns="45720" rIns="91440" bIns="45720" anchor="t">
            <a:spAutoFit/>
          </a:bodyPr>
          <a:lstStyle/>
          <a:p>
            <a:r>
              <a:rPr lang="en-US" sz="1400" dirty="0">
                <a:latin typeface="Times New Roman" panose="02020603050405020304" pitchFamily="18" charset="0"/>
                <a:cs typeface="Times New Roman" panose="02020603050405020304" pitchFamily="18" charset="0"/>
              </a:rPr>
              <a:t>This study was made possible through the contributions of the practitioners, researchers, and institutional leaders who gave their time, shared their expertise, and trusted our team with their candid views on Brazil's AI landscape. We would like to directly thank the following interviewees for their time and insights: </a:t>
            </a:r>
          </a:p>
        </p:txBody>
      </p:sp>
      <p:sp>
        <p:nvSpPr>
          <p:cNvPr id="5" name="TextBox 4">
            <a:extLst>
              <a:ext uri="{FF2B5EF4-FFF2-40B4-BE49-F238E27FC236}">
                <a16:creationId xmlns:a16="http://schemas.microsoft.com/office/drawing/2014/main" id="{69671D69-972E-9808-C1C5-A2A1AFB4521C}"/>
              </a:ext>
            </a:extLst>
          </p:cNvPr>
          <p:cNvSpPr txBox="1"/>
          <p:nvPr/>
        </p:nvSpPr>
        <p:spPr>
          <a:xfrm>
            <a:off x="501810" y="2325748"/>
            <a:ext cx="9369425" cy="3108543"/>
          </a:xfrm>
          <a:prstGeom prst="rect">
            <a:avLst/>
          </a:prstGeom>
          <a:noFill/>
        </p:spPr>
        <p:txBody>
          <a:bodyPr wrap="square" numCol="2" rtlCol="0">
            <a:spAutoFit/>
          </a:bodyPr>
          <a:lstStyle/>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Manuel Bonduki</a:t>
            </a:r>
            <a:r>
              <a:rPr lang="en-US" sz="1400" dirty="0">
                <a:solidFill>
                  <a:schemeClr val="accent3"/>
                </a:solidFill>
                <a:latin typeface="Times New Roman" panose="02020603050405020304" pitchFamily="18" charset="0"/>
                <a:cs typeface="Times New Roman" panose="02020603050405020304" pitchFamily="18" charset="0"/>
              </a:rPr>
              <a:t>, Ministry of Education (MEC)</a:t>
            </a:r>
          </a:p>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Guilherme Cintra &amp; Tiago Maluta</a:t>
            </a:r>
            <a:r>
              <a:rPr lang="en-US" sz="1400" dirty="0">
                <a:solidFill>
                  <a:schemeClr val="accent3"/>
                </a:solidFill>
                <a:latin typeface="Times New Roman" panose="02020603050405020304" pitchFamily="18" charset="0"/>
                <a:cs typeface="Times New Roman" panose="02020603050405020304" pitchFamily="18" charset="0"/>
              </a:rPr>
              <a:t> </a:t>
            </a:r>
            <a:r>
              <a:rPr lang="en-US" sz="1400" dirty="0" err="1">
                <a:solidFill>
                  <a:schemeClr val="accent3"/>
                </a:solidFill>
                <a:latin typeface="Times New Roman" panose="02020603050405020304" pitchFamily="18" charset="0"/>
                <a:cs typeface="Times New Roman" panose="02020603050405020304" pitchFamily="18" charset="0"/>
              </a:rPr>
              <a:t>Fundação</a:t>
            </a:r>
            <a:r>
              <a:rPr lang="en-US" sz="1400" dirty="0">
                <a:solidFill>
                  <a:schemeClr val="accent3"/>
                </a:solidFill>
                <a:latin typeface="Times New Roman" panose="02020603050405020304" pitchFamily="18" charset="0"/>
                <a:cs typeface="Times New Roman" panose="02020603050405020304" pitchFamily="18" charset="0"/>
              </a:rPr>
              <a:t> Lemann</a:t>
            </a:r>
          </a:p>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Manuella Maia Ribeiro</a:t>
            </a:r>
            <a:r>
              <a:rPr lang="en-US" sz="1400" dirty="0">
                <a:solidFill>
                  <a:schemeClr val="accent3"/>
                </a:solidFill>
                <a:latin typeface="Times New Roman" panose="02020603050405020304" pitchFamily="18" charset="0"/>
                <a:cs typeface="Times New Roman" panose="02020603050405020304" pitchFamily="18" charset="0"/>
              </a:rPr>
              <a:t>, </a:t>
            </a:r>
            <a:r>
              <a:rPr lang="en-US" sz="1400" dirty="0" err="1">
                <a:solidFill>
                  <a:schemeClr val="accent3"/>
                </a:solidFill>
                <a:latin typeface="Times New Roman" panose="02020603050405020304" pitchFamily="18" charset="0"/>
                <a:cs typeface="Times New Roman" panose="02020603050405020304" pitchFamily="18" charset="0"/>
              </a:rPr>
              <a:t>NIC.br</a:t>
            </a:r>
            <a:endParaRPr lang="en-US" sz="1400"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Fabio Roberto de Miranda </a:t>
            </a:r>
            <a:r>
              <a:rPr lang="en-US" sz="1400" dirty="0">
                <a:solidFill>
                  <a:schemeClr val="accent3"/>
                </a:solidFill>
                <a:latin typeface="Times New Roman" panose="02020603050405020304" pitchFamily="18" charset="0"/>
                <a:cs typeface="Times New Roman" panose="02020603050405020304" pitchFamily="18" charset="0"/>
              </a:rPr>
              <a:t>&amp; </a:t>
            </a:r>
            <a:r>
              <a:rPr lang="en-US" sz="1400" b="1" dirty="0">
                <a:solidFill>
                  <a:schemeClr val="accent3"/>
                </a:solidFill>
                <a:latin typeface="Times New Roman" panose="02020603050405020304" pitchFamily="18" charset="0"/>
                <a:cs typeface="Times New Roman" panose="02020603050405020304" pitchFamily="18" charset="0"/>
              </a:rPr>
              <a:t>Gustavo Macedo</a:t>
            </a:r>
            <a:r>
              <a:rPr lang="en-US" sz="1400" dirty="0">
                <a:solidFill>
                  <a:schemeClr val="accent3"/>
                </a:solidFill>
                <a:latin typeface="Times New Roman" panose="02020603050405020304" pitchFamily="18" charset="0"/>
                <a:cs typeface="Times New Roman" panose="02020603050405020304" pitchFamily="18" charset="0"/>
              </a:rPr>
              <a:t>, </a:t>
            </a:r>
            <a:r>
              <a:rPr lang="en-US" sz="1400" dirty="0" err="1">
                <a:solidFill>
                  <a:schemeClr val="accent3"/>
                </a:solidFill>
                <a:latin typeface="Times New Roman" panose="02020603050405020304" pitchFamily="18" charset="0"/>
                <a:cs typeface="Times New Roman" panose="02020603050405020304" pitchFamily="18" charset="0"/>
              </a:rPr>
              <a:t>Insper</a:t>
            </a:r>
            <a:endParaRPr lang="en-US" sz="1400"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Laryssa Nunes </a:t>
            </a:r>
            <a:r>
              <a:rPr lang="en-US" sz="1400" dirty="0">
                <a:solidFill>
                  <a:schemeClr val="accent3"/>
                </a:solidFill>
                <a:latin typeface="Times New Roman" panose="02020603050405020304" pitchFamily="18" charset="0"/>
                <a:cs typeface="Times New Roman" panose="02020603050405020304" pitchFamily="18" charset="0"/>
              </a:rPr>
              <a:t>&amp; </a:t>
            </a:r>
            <a:r>
              <a:rPr lang="en-US" sz="1400" b="1" dirty="0">
                <a:solidFill>
                  <a:schemeClr val="accent3"/>
                </a:solidFill>
                <a:latin typeface="Times New Roman" panose="02020603050405020304" pitchFamily="18" charset="0"/>
                <a:cs typeface="Times New Roman" panose="02020603050405020304" pitchFamily="18" charset="0"/>
              </a:rPr>
              <a:t>Claudio Mendes</a:t>
            </a:r>
            <a:r>
              <a:rPr lang="en-US" sz="1400" dirty="0">
                <a:solidFill>
                  <a:schemeClr val="accent3"/>
                </a:solidFill>
                <a:latin typeface="Times New Roman" panose="02020603050405020304" pitchFamily="18" charset="0"/>
                <a:cs typeface="Times New Roman" panose="02020603050405020304" pitchFamily="18" charset="0"/>
              </a:rPr>
              <a:t>, Instituto </a:t>
            </a:r>
            <a:r>
              <a:rPr lang="en-US" sz="1400" dirty="0" err="1">
                <a:solidFill>
                  <a:schemeClr val="accent3"/>
                </a:solidFill>
                <a:latin typeface="Times New Roman" panose="02020603050405020304" pitchFamily="18" charset="0"/>
                <a:cs typeface="Times New Roman" panose="02020603050405020304" pitchFamily="18" charset="0"/>
              </a:rPr>
              <a:t>Decodifica</a:t>
            </a:r>
            <a:endParaRPr lang="en-US" sz="1400"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Ana Ligia Scachetti</a:t>
            </a:r>
            <a:r>
              <a:rPr lang="en-US" sz="1400" dirty="0">
                <a:solidFill>
                  <a:schemeClr val="accent3"/>
                </a:solidFill>
                <a:latin typeface="Times New Roman" panose="02020603050405020304" pitchFamily="18" charset="0"/>
                <a:cs typeface="Times New Roman" panose="02020603050405020304" pitchFamily="18" charset="0"/>
              </a:rPr>
              <a:t>, Nova Escola</a:t>
            </a:r>
          </a:p>
          <a:p>
            <a:pPr marL="285750" indent="-285750">
              <a:buFont typeface="Arial" panose="020B0604020202020204" pitchFamily="34" charset="0"/>
              <a:buChar char="•"/>
            </a:pPr>
            <a:endParaRPr lang="en-US" sz="1400" b="1"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Thomaz Galvão</a:t>
            </a:r>
            <a:r>
              <a:rPr lang="en-US" sz="1400" dirty="0">
                <a:solidFill>
                  <a:schemeClr val="accent3"/>
                </a:solidFill>
                <a:latin typeface="Times New Roman" panose="02020603050405020304" pitchFamily="18" charset="0"/>
                <a:cs typeface="Times New Roman" panose="02020603050405020304" pitchFamily="18" charset="0"/>
              </a:rPr>
              <a:t>, </a:t>
            </a:r>
            <a:r>
              <a:rPr lang="en-US" sz="1400" dirty="0" err="1">
                <a:solidFill>
                  <a:schemeClr val="accent3"/>
                </a:solidFill>
                <a:latin typeface="Times New Roman" panose="02020603050405020304" pitchFamily="18" charset="0"/>
                <a:cs typeface="Times New Roman" panose="02020603050405020304" pitchFamily="18" charset="0"/>
              </a:rPr>
              <a:t>MegaEdu</a:t>
            </a:r>
            <a:endParaRPr lang="en-US" sz="1400"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Marianna Sampaio</a:t>
            </a:r>
            <a:r>
              <a:rPr lang="en-US" sz="1400" dirty="0">
                <a:solidFill>
                  <a:schemeClr val="accent3"/>
                </a:solidFill>
                <a:latin typeface="Times New Roman" panose="02020603050405020304" pitchFamily="18" charset="0"/>
                <a:cs typeface="Times New Roman" panose="02020603050405020304" pitchFamily="18" charset="0"/>
              </a:rPr>
              <a:t>, São Paulo Legislative Assembly</a:t>
            </a:r>
          </a:p>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London Swift</a:t>
            </a:r>
            <a:r>
              <a:rPr lang="en-US" sz="1400" dirty="0">
                <a:solidFill>
                  <a:schemeClr val="accent3"/>
                </a:solidFill>
                <a:latin typeface="Times New Roman" panose="02020603050405020304" pitchFamily="18" charset="0"/>
                <a:cs typeface="Times New Roman" panose="02020603050405020304" pitchFamily="18" charset="0"/>
              </a:rPr>
              <a:t>, Omidyar Network</a:t>
            </a:r>
          </a:p>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Julia Henriques</a:t>
            </a:r>
            <a:r>
              <a:rPr lang="en-US" sz="1400" dirty="0">
                <a:solidFill>
                  <a:schemeClr val="accent3"/>
                </a:solidFill>
                <a:latin typeface="Times New Roman" panose="02020603050405020304" pitchFamily="18" charset="0"/>
                <a:cs typeface="Times New Roman" panose="02020603050405020304" pitchFamily="18" charset="0"/>
              </a:rPr>
              <a:t>, </a:t>
            </a:r>
            <a:r>
              <a:rPr lang="en-US" sz="1400" dirty="0" err="1">
                <a:solidFill>
                  <a:schemeClr val="accent3"/>
                </a:solidFill>
                <a:latin typeface="Times New Roman" panose="02020603050405020304" pitchFamily="18" charset="0"/>
                <a:cs typeface="Times New Roman" panose="02020603050405020304" pitchFamily="18" charset="0"/>
              </a:rPr>
              <a:t>Alandar</a:t>
            </a:r>
            <a:endParaRPr lang="en-US" sz="1400" dirty="0">
              <a:solidFill>
                <a:schemeClr val="accent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Senior official, </a:t>
            </a:r>
            <a:r>
              <a:rPr lang="en-US" sz="1400" dirty="0">
                <a:solidFill>
                  <a:schemeClr val="accent3"/>
                </a:solidFill>
                <a:latin typeface="Times New Roman" panose="02020603050405020304" pitchFamily="18" charset="0"/>
                <a:cs typeface="Times New Roman" panose="02020603050405020304" pitchFamily="18" charset="0"/>
              </a:rPr>
              <a:t>ANPD (anonymous participation)</a:t>
            </a:r>
          </a:p>
          <a:p>
            <a:pPr marL="285750" indent="-285750">
              <a:buFont typeface="Arial" panose="020B0604020202020204" pitchFamily="34" charset="0"/>
              <a:buChar char="•"/>
            </a:pPr>
            <a:r>
              <a:rPr lang="en-US" sz="1400" b="1" dirty="0">
                <a:solidFill>
                  <a:schemeClr val="accent3"/>
                </a:solidFill>
                <a:latin typeface="Times New Roman" panose="02020603050405020304" pitchFamily="18" charset="0"/>
                <a:cs typeface="Times New Roman" panose="02020603050405020304" pitchFamily="18" charset="0"/>
              </a:rPr>
              <a:t>Maria Luiza Paranhos</a:t>
            </a:r>
            <a:r>
              <a:rPr lang="en-US" sz="1400" dirty="0">
                <a:solidFill>
                  <a:schemeClr val="accent3"/>
                </a:solidFill>
                <a:latin typeface="Times New Roman" panose="02020603050405020304" pitchFamily="18" charset="0"/>
                <a:cs typeface="Times New Roman" panose="02020603050405020304" pitchFamily="18" charset="0"/>
              </a:rPr>
              <a:t> &amp; the Columbia Global </a:t>
            </a:r>
            <a:r>
              <a:rPr lang="en-US" sz="1400">
                <a:solidFill>
                  <a:schemeClr val="accent3"/>
                </a:solidFill>
                <a:latin typeface="Times New Roman" panose="02020603050405020304" pitchFamily="18" charset="0"/>
                <a:cs typeface="Times New Roman" panose="02020603050405020304" pitchFamily="18" charset="0"/>
              </a:rPr>
              <a:t>Center     </a:t>
            </a:r>
            <a:r>
              <a:rPr lang="en-US" sz="1400" dirty="0">
                <a:solidFill>
                  <a:schemeClr val="accent3"/>
                </a:solidFill>
                <a:latin typeface="Times New Roman" panose="02020603050405020304" pitchFamily="18" charset="0"/>
                <a:cs typeface="Times New Roman" panose="02020603050405020304" pitchFamily="18" charset="0"/>
              </a:rPr>
              <a:t>Rio team</a:t>
            </a:r>
          </a:p>
          <a:p>
            <a:endParaRPr lang="en-US" sz="1400" dirty="0">
              <a:solidFill>
                <a:schemeClr val="accent3"/>
              </a:solidFill>
              <a:latin typeface="Times New Roman" panose="02020603050405020304" pitchFamily="18" charset="0"/>
              <a:cs typeface="Times New Roman" panose="02020603050405020304" pitchFamily="18" charset="0"/>
            </a:endParaRPr>
          </a:p>
          <a:p>
            <a:endParaRPr lang="en-US" dirty="0"/>
          </a:p>
        </p:txBody>
      </p:sp>
      <p:sp>
        <p:nvSpPr>
          <p:cNvPr id="6" name="TextBox 5">
            <a:extLst>
              <a:ext uri="{FF2B5EF4-FFF2-40B4-BE49-F238E27FC236}">
                <a16:creationId xmlns:a16="http://schemas.microsoft.com/office/drawing/2014/main" id="{00834CE4-61FF-28D0-E09A-0A419B228AFB}"/>
              </a:ext>
            </a:extLst>
          </p:cNvPr>
          <p:cNvSpPr txBox="1"/>
          <p:nvPr/>
        </p:nvSpPr>
        <p:spPr>
          <a:xfrm>
            <a:off x="430370" y="4200917"/>
            <a:ext cx="9099397" cy="2062103"/>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We are also grateful to:</a:t>
            </a: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Jen Weedon</a:t>
            </a:r>
            <a:r>
              <a:rPr lang="en-US" sz="1400" dirty="0">
                <a:latin typeface="Times New Roman" panose="02020603050405020304" pitchFamily="18" charset="0"/>
                <a:cs typeface="Times New Roman" panose="02020603050405020304" pitchFamily="18" charset="0"/>
              </a:rPr>
              <a:t>, our Faculty Advisor, for her steady guidance and support from start to finish.</a:t>
            </a: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Jenny McGill</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Vida Herling</a:t>
            </a:r>
            <a:r>
              <a:rPr lang="en-US" sz="1400" dirty="0">
                <a:latin typeface="Times New Roman" panose="02020603050405020304" pitchFamily="18" charset="0"/>
                <a:cs typeface="Times New Roman" panose="02020603050405020304" pitchFamily="18" charset="0"/>
              </a:rPr>
              <a:t>, for their logistical support throughout this project.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Finally, a special thank you to </a:t>
            </a:r>
            <a:r>
              <a:rPr lang="en-US" sz="1400" dirty="0" err="1">
                <a:latin typeface="Times New Roman" panose="02020603050405020304" pitchFamily="18" charset="0"/>
                <a:cs typeface="Times New Roman" panose="02020603050405020304" pitchFamily="18" charset="0"/>
              </a:rPr>
              <a:t>Fundação</a:t>
            </a:r>
            <a:r>
              <a:rPr lang="en-US" sz="1400" dirty="0">
                <a:latin typeface="Times New Roman" panose="02020603050405020304" pitchFamily="18" charset="0"/>
                <a:cs typeface="Times New Roman" panose="02020603050405020304" pitchFamily="18" charset="0"/>
              </a:rPr>
              <a:t> BRAVA: </a:t>
            </a:r>
            <a:r>
              <a:rPr lang="en-US" sz="1400" b="1" dirty="0">
                <a:latin typeface="Times New Roman" panose="02020603050405020304" pitchFamily="18" charset="0"/>
                <a:cs typeface="Times New Roman" panose="02020603050405020304" pitchFamily="18" charset="0"/>
              </a:rPr>
              <a:t>Letícia Piccolotto Ferriera</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Evelyn Hirose</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Mariana Soares</a:t>
            </a:r>
            <a:r>
              <a:rPr lang="en-US" sz="1400" dirty="0">
                <a:latin typeface="Times New Roman" panose="02020603050405020304" pitchFamily="18" charset="0"/>
                <a:cs typeface="Times New Roman" panose="02020603050405020304" pitchFamily="18" charset="0"/>
              </a:rPr>
              <a:t> – for their trust, engagement, and partnership throughout this study. Their openness in sharing BRAVA's mission, operating model, and strategic priorities made this work possible, and their commitment to evidence-based institutional change in Brazil is what motivated it.</a:t>
            </a:r>
          </a:p>
          <a:p>
            <a:endParaRPr lang="en-US" sz="1600" dirty="0"/>
          </a:p>
        </p:txBody>
      </p:sp>
      <p:sp>
        <p:nvSpPr>
          <p:cNvPr id="8" name="TextBox 7">
            <a:extLst>
              <a:ext uri="{FF2B5EF4-FFF2-40B4-BE49-F238E27FC236}">
                <a16:creationId xmlns:a16="http://schemas.microsoft.com/office/drawing/2014/main" id="{FF49CBF7-0725-B8D2-1EC2-97199F399BE6}"/>
              </a:ext>
            </a:extLst>
          </p:cNvPr>
          <p:cNvSpPr txBox="1"/>
          <p:nvPr/>
        </p:nvSpPr>
        <p:spPr>
          <a:xfrm>
            <a:off x="305572" y="865215"/>
            <a:ext cx="8616644" cy="420756"/>
          </a:xfrm>
          <a:prstGeom prst="rect">
            <a:avLst/>
          </a:prstGeom>
        </p:spPr>
        <p:txBody>
          <a:bodyPr wrap="square" lIns="0" tIns="0" rIns="0" bIns="0" rtlCol="0" anchor="t">
            <a:spAutoFit/>
          </a:bodyPr>
          <a:lstStyle/>
          <a:p>
            <a:pPr>
              <a:lnSpc>
                <a:spcPts val="3479"/>
              </a:lnSpc>
            </a:pPr>
            <a:r>
              <a:rPr lang="en-US" sz="2800" b="1" dirty="0">
                <a:solidFill>
                  <a:srgbClr val="1A6B25"/>
                </a:solidFill>
                <a:latin typeface="Times New Roman" panose="02020603050405020304" pitchFamily="18" charset="0"/>
                <a:ea typeface="Times New Roman MT Bold"/>
                <a:cs typeface="Times New Roman" panose="02020603050405020304" pitchFamily="18" charset="0"/>
                <a:sym typeface="Times New Roman MT Bold"/>
              </a:rPr>
              <a:t>Acknowledgements</a:t>
            </a:r>
          </a:p>
        </p:txBody>
      </p:sp>
    </p:spTree>
    <p:extLst>
      <p:ext uri="{BB962C8B-B14F-4D97-AF65-F5344CB8AC3E}">
        <p14:creationId xmlns:p14="http://schemas.microsoft.com/office/powerpoint/2010/main" val="9177147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196AD-CD22-149E-1511-9E906A210AE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B24E8FA-2E29-09EA-245A-7887F9BCCB1A}"/>
              </a:ext>
            </a:extLst>
          </p:cNvPr>
          <p:cNvSpPr/>
          <p:nvPr/>
        </p:nvSpPr>
        <p:spPr>
          <a:xfrm>
            <a:off x="0" y="661182"/>
            <a:ext cx="9906000" cy="5577572"/>
          </a:xfrm>
          <a:prstGeom prst="rect">
            <a:avLst/>
          </a:prstGeom>
          <a:blipFill dpi="0" rotWithShape="1">
            <a:blip r:embed="rId2">
              <a:alphaModFix amt="22977"/>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DEA3DB52-DAF2-F1ED-39D3-620CE35E5493}"/>
              </a:ext>
            </a:extLst>
          </p:cNvPr>
          <p:cNvSpPr txBox="1"/>
          <p:nvPr/>
        </p:nvSpPr>
        <p:spPr>
          <a:xfrm>
            <a:off x="419523" y="1208840"/>
            <a:ext cx="4533477" cy="2220160"/>
          </a:xfrm>
          <a:prstGeom prst="rect">
            <a:avLst/>
          </a:prstGeom>
        </p:spPr>
        <p:txBody>
          <a:bodyPr wrap="square" lIns="0" tIns="0" rIns="0" bIns="0" rtlCol="0" anchor="t">
            <a:spAutoFit/>
          </a:bodyPr>
          <a:lstStyle/>
          <a:p>
            <a:pPr>
              <a:lnSpc>
                <a:spcPts val="3479"/>
              </a:lnSpc>
              <a:spcAft>
                <a:spcPts val="3000"/>
              </a:spcAft>
            </a:pPr>
            <a:r>
              <a:rPr lang="en-US" sz="7200" b="1" dirty="0">
                <a:solidFill>
                  <a:srgbClr val="587C54"/>
                </a:solidFill>
                <a:latin typeface="Times New Roman" panose="02020603050405020304" pitchFamily="18" charset="0"/>
                <a:ea typeface="Times New Roman MT Bold"/>
                <a:cs typeface="Times New Roman" panose="02020603050405020304" pitchFamily="18" charset="0"/>
                <a:sym typeface="Times New Roman MT Bold"/>
              </a:rPr>
              <a:t>Q</a:t>
            </a:r>
            <a:r>
              <a:rPr lang="en-US" sz="4000" dirty="0">
                <a:solidFill>
                  <a:srgbClr val="E9B939"/>
                </a:solidFill>
                <a:latin typeface="Times New Roman" panose="02020603050405020304" pitchFamily="18" charset="0"/>
                <a:ea typeface="Times New Roman MT Bold"/>
                <a:cs typeface="Times New Roman" panose="02020603050405020304" pitchFamily="18" charset="0"/>
                <a:sym typeface="Times New Roman MT Bold"/>
              </a:rPr>
              <a:t>uestions</a:t>
            </a:r>
            <a:endParaRPr lang="en-US" sz="5400" dirty="0">
              <a:solidFill>
                <a:srgbClr val="E9B939"/>
              </a:solidFill>
              <a:latin typeface="Times New Roman" panose="02020603050405020304" pitchFamily="18" charset="0"/>
              <a:ea typeface="Times New Roman MT Bold"/>
              <a:cs typeface="Times New Roman" panose="02020603050405020304" pitchFamily="18" charset="0"/>
              <a:sym typeface="Times New Roman MT Bold"/>
            </a:endParaRPr>
          </a:p>
          <a:p>
            <a:pPr>
              <a:lnSpc>
                <a:spcPts val="3479"/>
              </a:lnSpc>
              <a:spcAft>
                <a:spcPts val="3000"/>
              </a:spcAft>
            </a:pPr>
            <a:r>
              <a:rPr lang="en-US" sz="7200" b="1" dirty="0">
                <a:solidFill>
                  <a:srgbClr val="2D5685"/>
                </a:solidFill>
                <a:latin typeface="Times New Roman" panose="02020603050405020304" pitchFamily="18" charset="0"/>
                <a:ea typeface="Times New Roman MT Bold"/>
                <a:cs typeface="Times New Roman" panose="02020603050405020304" pitchFamily="18" charset="0"/>
                <a:sym typeface="Times New Roman MT Bold"/>
              </a:rPr>
              <a:t>&amp;</a:t>
            </a:r>
          </a:p>
          <a:p>
            <a:pPr>
              <a:lnSpc>
                <a:spcPts val="3479"/>
              </a:lnSpc>
              <a:spcAft>
                <a:spcPts val="3000"/>
              </a:spcAft>
            </a:pPr>
            <a:r>
              <a:rPr lang="en-US" sz="7200" b="1" dirty="0">
                <a:solidFill>
                  <a:srgbClr val="587C54"/>
                </a:solidFill>
                <a:latin typeface="Times New Roman" panose="02020603050405020304" pitchFamily="18" charset="0"/>
                <a:ea typeface="Times New Roman MT Bold"/>
                <a:cs typeface="Times New Roman" panose="02020603050405020304" pitchFamily="18" charset="0"/>
                <a:sym typeface="Times New Roman MT Bold"/>
              </a:rPr>
              <a:t>A</a:t>
            </a:r>
            <a:r>
              <a:rPr lang="en-US" sz="4400" dirty="0">
                <a:solidFill>
                  <a:srgbClr val="E9B939"/>
                </a:solidFill>
                <a:latin typeface="Times New Roman" panose="02020603050405020304" pitchFamily="18" charset="0"/>
                <a:ea typeface="Times New Roman MT Bold"/>
                <a:cs typeface="Times New Roman" panose="02020603050405020304" pitchFamily="18" charset="0"/>
                <a:sym typeface="Times New Roman MT Bold"/>
              </a:rPr>
              <a:t>nswers</a:t>
            </a:r>
            <a:endParaRPr lang="en-US" sz="5400" dirty="0">
              <a:solidFill>
                <a:srgbClr val="E9B939"/>
              </a:solidFill>
              <a:latin typeface="Times New Roman" panose="02020603050405020304" pitchFamily="18" charset="0"/>
              <a:ea typeface="Times New Roman MT Bold"/>
              <a:cs typeface="Times New Roman" panose="02020603050405020304" pitchFamily="18" charset="0"/>
              <a:sym typeface="Times New Roman MT Bold"/>
            </a:endParaRPr>
          </a:p>
        </p:txBody>
      </p:sp>
    </p:spTree>
    <p:extLst>
      <p:ext uri="{BB962C8B-B14F-4D97-AF65-F5344CB8AC3E}">
        <p14:creationId xmlns:p14="http://schemas.microsoft.com/office/powerpoint/2010/main" val="2143979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6890cce-eb7d-42a3-85a1-053f93e30c8b}" enabled="0" method="" siteId="{d6890cce-eb7d-42a3-85a1-053f93e30c8b}" removed="1"/>
</clbl:labelList>
</file>

<file path=docProps/app.xml><?xml version="1.0" encoding="utf-8"?>
<Properties xmlns="http://schemas.openxmlformats.org/officeDocument/2006/extended-properties" xmlns:vt="http://schemas.openxmlformats.org/officeDocument/2006/docPropsVTypes">
  <Template>Office Theme</Template>
  <TotalTime>14</TotalTime>
  <Words>2257</Words>
  <Application>Microsoft Macintosh PowerPoint</Application>
  <PresentationFormat>A4 Paper (210x297 mm)</PresentationFormat>
  <Paragraphs>391</Paragraphs>
  <Slides>28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Times New Roman</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Study Recommendations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Anshima Varma</dc:creator>
  <cp:keywords/>
  <dc:description/>
  <cp:lastModifiedBy>Anshima Varma</cp:lastModifiedBy>
  <cp:revision>2</cp:revision>
  <dcterms:created xsi:type="dcterms:W3CDTF">2026-03-16T16:00:27Z</dcterms:created>
  <dcterms:modified xsi:type="dcterms:W3CDTF">2026-04-28T15:59:39Z</dcterms:modified>
  <cp:category/>
</cp:coreProperties>
</file>